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6" r:id="rId1"/>
  </p:sldMasterIdLst>
  <p:notesMasterIdLst>
    <p:notesMasterId r:id="rId27"/>
  </p:notesMasterIdLst>
  <p:sldIdLst>
    <p:sldId id="287" r:id="rId2"/>
    <p:sldId id="269" r:id="rId3"/>
    <p:sldId id="270" r:id="rId4"/>
    <p:sldId id="289" r:id="rId5"/>
    <p:sldId id="290" r:id="rId6"/>
    <p:sldId id="275" r:id="rId7"/>
    <p:sldId id="273" r:id="rId8"/>
    <p:sldId id="280" r:id="rId9"/>
    <p:sldId id="281" r:id="rId10"/>
    <p:sldId id="282" r:id="rId11"/>
    <p:sldId id="283" r:id="rId12"/>
    <p:sldId id="284" r:id="rId13"/>
    <p:sldId id="285" r:id="rId14"/>
    <p:sldId id="261" r:id="rId15"/>
    <p:sldId id="292" r:id="rId16"/>
    <p:sldId id="291" r:id="rId17"/>
    <p:sldId id="293" r:id="rId18"/>
    <p:sldId id="296" r:id="rId19"/>
    <p:sldId id="297" r:id="rId20"/>
    <p:sldId id="301" r:id="rId21"/>
    <p:sldId id="305" r:id="rId22"/>
    <p:sldId id="302" r:id="rId23"/>
    <p:sldId id="303" r:id="rId24"/>
    <p:sldId id="304" r:id="rId25"/>
    <p:sldId id="260" r:id="rId26"/>
  </p:sldIdLst>
  <p:sldSz cx="10080625" cy="7559675"/>
  <p:notesSz cx="7559675" cy="10691813"/>
  <p:defaultTextStyle>
    <a:defPPr>
      <a:defRPr lang="en-US"/>
    </a:defPPr>
    <a:lvl1pPr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2286000" algn="l" defTabSz="914400" rtl="0" eaLnBrk="1" latinLnBrk="0" hangingPunct="1">
      <a:defRPr kern="1200">
        <a:solidFill>
          <a:schemeClr val="tx1"/>
        </a:solidFill>
        <a:latin typeface="Trebuchet MS" panose="020B0603020202020204" pitchFamily="34" charset="0"/>
        <a:ea typeface="+mn-ea"/>
        <a:cs typeface="+mn-cs"/>
      </a:defRPr>
    </a:lvl6pPr>
    <a:lvl7pPr marL="2743200" algn="l" defTabSz="914400" rtl="0" eaLnBrk="1" latinLnBrk="0" hangingPunct="1">
      <a:defRPr kern="1200">
        <a:solidFill>
          <a:schemeClr val="tx1"/>
        </a:solidFill>
        <a:latin typeface="Trebuchet MS" panose="020B0603020202020204" pitchFamily="34" charset="0"/>
        <a:ea typeface="+mn-ea"/>
        <a:cs typeface="+mn-cs"/>
      </a:defRPr>
    </a:lvl7pPr>
    <a:lvl8pPr marL="3200400" algn="l" defTabSz="914400" rtl="0" eaLnBrk="1" latinLnBrk="0" hangingPunct="1">
      <a:defRPr kern="1200">
        <a:solidFill>
          <a:schemeClr val="tx1"/>
        </a:solidFill>
        <a:latin typeface="Trebuchet MS" panose="020B0603020202020204" pitchFamily="34" charset="0"/>
        <a:ea typeface="+mn-ea"/>
        <a:cs typeface="+mn-cs"/>
      </a:defRPr>
    </a:lvl8pPr>
    <a:lvl9pPr marL="3657600" algn="l" defTabSz="914400" rtl="0" eaLnBrk="1" latinLnBrk="0" hangingPunct="1">
      <a:defRPr kern="120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KIT PUROHIT"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99" autoAdjust="0"/>
    <p:restoredTop sz="94660"/>
  </p:normalViewPr>
  <p:slideViewPr>
    <p:cSldViewPr snapToGrid="0">
      <p:cViewPr varScale="1">
        <p:scale>
          <a:sx n="85" d="100"/>
          <a:sy n="85" d="100"/>
        </p:scale>
        <p:origin x="952" y="56"/>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IT PUROHIT" userId="9732f9d60ebdb425" providerId="LiveId" clId="{2EFC25A7-76FB-4514-91D5-912590DE347C}"/>
    <pc:docChg chg="modSld">
      <pc:chgData name="ANKIT PUROHIT" userId="9732f9d60ebdb425" providerId="LiveId" clId="{2EFC25A7-76FB-4514-91D5-912590DE347C}" dt="2024-09-22T14:34:34.322" v="9" actId="123"/>
      <pc:docMkLst>
        <pc:docMk/>
      </pc:docMkLst>
      <pc:sldChg chg="modSp mod">
        <pc:chgData name="ANKIT PUROHIT" userId="9732f9d60ebdb425" providerId="LiveId" clId="{2EFC25A7-76FB-4514-91D5-912590DE347C}" dt="2024-09-22T14:34:34.322" v="9" actId="123"/>
        <pc:sldMkLst>
          <pc:docMk/>
          <pc:sldMk cId="0" sldId="261"/>
        </pc:sldMkLst>
        <pc:spChg chg="mod">
          <ac:chgData name="ANKIT PUROHIT" userId="9732f9d60ebdb425" providerId="LiveId" clId="{2EFC25A7-76FB-4514-91D5-912590DE347C}" dt="2024-09-22T14:32:39.938" v="4" actId="20577"/>
          <ac:spMkLst>
            <pc:docMk/>
            <pc:sldMk cId="0" sldId="261"/>
            <ac:spMk id="8194" creationId="{C2A9FFC0-E268-7D87-ABF6-99C40AA18D08}"/>
          </ac:spMkLst>
        </pc:spChg>
        <pc:spChg chg="mod">
          <ac:chgData name="ANKIT PUROHIT" userId="9732f9d60ebdb425" providerId="LiveId" clId="{2EFC25A7-76FB-4514-91D5-912590DE347C}" dt="2024-09-22T14:34:34.322" v="9" actId="123"/>
          <ac:spMkLst>
            <pc:docMk/>
            <pc:sldMk cId="0" sldId="261"/>
            <ac:spMk id="26628" creationId="{28D2DFF6-8D3C-9AAC-C559-05A46324E9A7}"/>
          </ac:spMkLst>
        </pc:spChg>
      </pc:sldChg>
      <pc:sldChg chg="modSp mod">
        <pc:chgData name="ANKIT PUROHIT" userId="9732f9d60ebdb425" providerId="LiveId" clId="{2EFC25A7-76FB-4514-91D5-912590DE347C}" dt="2024-09-22T14:30:12.160" v="0" actId="123"/>
        <pc:sldMkLst>
          <pc:docMk/>
          <pc:sldMk cId="0" sldId="270"/>
        </pc:sldMkLst>
        <pc:spChg chg="mod">
          <ac:chgData name="ANKIT PUROHIT" userId="9732f9d60ebdb425" providerId="LiveId" clId="{2EFC25A7-76FB-4514-91D5-912590DE347C}" dt="2024-09-22T14:30:12.160" v="0" actId="123"/>
          <ac:spMkLst>
            <pc:docMk/>
            <pc:sldMk cId="0" sldId="270"/>
            <ac:spMk id="2" creationId="{311C7E2C-147D-069C-DBB9-23551E7EB4B2}"/>
          </ac:spMkLst>
        </pc:spChg>
      </pc:sldChg>
      <pc:sldChg chg="modSp mod">
        <pc:chgData name="ANKIT PUROHIT" userId="9732f9d60ebdb425" providerId="LiveId" clId="{2EFC25A7-76FB-4514-91D5-912590DE347C}" dt="2024-09-22T14:34:05.667" v="7" actId="123"/>
        <pc:sldMkLst>
          <pc:docMk/>
          <pc:sldMk cId="0" sldId="275"/>
        </pc:sldMkLst>
        <pc:spChg chg="mod">
          <ac:chgData name="ANKIT PUROHIT" userId="9732f9d60ebdb425" providerId="LiveId" clId="{2EFC25A7-76FB-4514-91D5-912590DE347C}" dt="2024-09-22T14:34:05.667" v="7" actId="123"/>
          <ac:spMkLst>
            <pc:docMk/>
            <pc:sldMk cId="0" sldId="275"/>
            <ac:spMk id="2" creationId="{1B85858B-0D92-F914-1041-B515F13D210E}"/>
          </ac:spMkLst>
        </pc:spChg>
      </pc:sldChg>
      <pc:sldChg chg="modSp mod">
        <pc:chgData name="ANKIT PUROHIT" userId="9732f9d60ebdb425" providerId="LiveId" clId="{2EFC25A7-76FB-4514-91D5-912590DE347C}" dt="2024-09-22T14:33:55.680" v="6" actId="123"/>
        <pc:sldMkLst>
          <pc:docMk/>
          <pc:sldMk cId="2211825785" sldId="289"/>
        </pc:sldMkLst>
        <pc:spChg chg="mod">
          <ac:chgData name="ANKIT PUROHIT" userId="9732f9d60ebdb425" providerId="LiveId" clId="{2EFC25A7-76FB-4514-91D5-912590DE347C}" dt="2024-09-22T14:33:55.680" v="6" actId="123"/>
          <ac:spMkLst>
            <pc:docMk/>
            <pc:sldMk cId="2211825785" sldId="289"/>
            <ac:spMk id="2" creationId="{C560C8BC-09C4-4A16-A21C-336CA61DF134}"/>
          </ac:spMkLst>
        </pc:spChg>
      </pc:sldChg>
      <pc:sldChg chg="modSp mod">
        <pc:chgData name="ANKIT PUROHIT" userId="9732f9d60ebdb425" providerId="LiveId" clId="{2EFC25A7-76FB-4514-91D5-912590DE347C}" dt="2024-09-22T14:32:48.519" v="5" actId="20577"/>
        <pc:sldMkLst>
          <pc:docMk/>
          <pc:sldMk cId="3890507395" sldId="292"/>
        </pc:sldMkLst>
        <pc:spChg chg="mod">
          <ac:chgData name="ANKIT PUROHIT" userId="9732f9d60ebdb425" providerId="LiveId" clId="{2EFC25A7-76FB-4514-91D5-912590DE347C}" dt="2024-09-22T14:32:48.519" v="5" actId="20577"/>
          <ac:spMkLst>
            <pc:docMk/>
            <pc:sldMk cId="3890507395" sldId="292"/>
            <ac:spMk id="8194" creationId="{C2A9FFC0-E268-7D87-ABF6-99C40AA18D0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98771802-5C9A-03E4-D083-426E4FFDC1E4}"/>
              </a:ext>
            </a:extLst>
          </p:cNvPr>
          <p:cNvSpPr>
            <a:spLocks noGrp="1" noRot="1" noChangeAspect="1" noChangeArrowheads="1"/>
          </p:cNvSpPr>
          <p:nvPr>
            <p:ph type="sldImg"/>
          </p:nvPr>
        </p:nvSpPr>
        <p:spPr bwMode="auto">
          <a:xfrm>
            <a:off x="215900" y="812800"/>
            <a:ext cx="7126288" cy="400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 name="Rectangle 2">
            <a:extLst>
              <a:ext uri="{FF2B5EF4-FFF2-40B4-BE49-F238E27FC236}">
                <a16:creationId xmlns:a16="http://schemas.microsoft.com/office/drawing/2014/main" id="{3D2B02B5-C9AA-7D39-5EC0-C4B52CD6B16A}"/>
              </a:ext>
            </a:extLst>
          </p:cNvPr>
          <p:cNvSpPr>
            <a:spLocks noGrp="1" noChangeArrowheads="1"/>
          </p:cNvSpPr>
          <p:nvPr>
            <p:ph type="body"/>
          </p:nvPr>
        </p:nvSpPr>
        <p:spPr bwMode="auto">
          <a:xfrm>
            <a:off x="755650" y="5078413"/>
            <a:ext cx="6046788" cy="4810125"/>
          </a:xfrm>
          <a:prstGeom prst="rect">
            <a:avLst/>
          </a:prstGeom>
          <a:noFill/>
          <a:ln>
            <a:noFill/>
          </a:ln>
          <a:effectLst/>
        </p:spPr>
        <p:txBody>
          <a:bodyPr vert="horz" wrap="square" lIns="0" tIns="0" rIns="0" bIns="0" numCol="1" anchor="t" anchorCtr="0" compatLnSpc="1">
            <a:prstTxWarp prst="textNoShape">
              <a:avLst/>
            </a:prstTxWarp>
          </a:bodyPr>
          <a:lstStyle/>
          <a:p>
            <a:pPr lvl="0"/>
            <a:endParaRPr lang="en-US" altLang="en-US" noProof="0"/>
          </a:p>
        </p:txBody>
      </p:sp>
      <p:sp>
        <p:nvSpPr>
          <p:cNvPr id="3075" name="Rectangle 3">
            <a:extLst>
              <a:ext uri="{FF2B5EF4-FFF2-40B4-BE49-F238E27FC236}">
                <a16:creationId xmlns:a16="http://schemas.microsoft.com/office/drawing/2014/main" id="{2A358E14-1025-CFF7-A58D-8E508133E41A}"/>
              </a:ext>
            </a:extLst>
          </p:cNvPr>
          <p:cNvSpPr>
            <a:spLocks noGrp="1" noChangeArrowheads="1"/>
          </p:cNvSpPr>
          <p:nvPr>
            <p:ph type="hdr"/>
          </p:nvPr>
        </p:nvSpPr>
        <p:spPr bwMode="auto">
          <a:xfrm>
            <a:off x="0"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6" name="Rectangle 4">
            <a:extLst>
              <a:ext uri="{FF2B5EF4-FFF2-40B4-BE49-F238E27FC236}">
                <a16:creationId xmlns:a16="http://schemas.microsoft.com/office/drawing/2014/main" id="{00A8BA25-FFF2-671A-D1C0-C4B73AA574D8}"/>
              </a:ext>
            </a:extLst>
          </p:cNvPr>
          <p:cNvSpPr>
            <a:spLocks noGrp="1" noChangeArrowheads="1"/>
          </p:cNvSpPr>
          <p:nvPr>
            <p:ph type="dt"/>
          </p:nvPr>
        </p:nvSpPr>
        <p:spPr bwMode="auto">
          <a:xfrm>
            <a:off x="4278313"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7" name="Rectangle 5">
            <a:extLst>
              <a:ext uri="{FF2B5EF4-FFF2-40B4-BE49-F238E27FC236}">
                <a16:creationId xmlns:a16="http://schemas.microsoft.com/office/drawing/2014/main" id="{3BED5382-4F45-BEDA-1B3F-062BF2308CDD}"/>
              </a:ext>
            </a:extLst>
          </p:cNvPr>
          <p:cNvSpPr>
            <a:spLocks noGrp="1" noChangeArrowheads="1"/>
          </p:cNvSpPr>
          <p:nvPr>
            <p:ph type="ftr"/>
          </p:nvPr>
        </p:nvSpPr>
        <p:spPr bwMode="auto">
          <a:xfrm>
            <a:off x="0"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8" name="Rectangle 6">
            <a:extLst>
              <a:ext uri="{FF2B5EF4-FFF2-40B4-BE49-F238E27FC236}">
                <a16:creationId xmlns:a16="http://schemas.microsoft.com/office/drawing/2014/main" id="{5A7D3BD8-CECD-8516-2954-F71F5221DF20}"/>
              </a:ext>
            </a:extLst>
          </p:cNvPr>
          <p:cNvSpPr>
            <a:spLocks noGrp="1" noChangeArrowheads="1"/>
          </p:cNvSpPr>
          <p:nvPr>
            <p:ph type="sldNum"/>
          </p:nvPr>
        </p:nvSpPr>
        <p:spPr bwMode="auto">
          <a:xfrm>
            <a:off x="4278313"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algn="r" eaLnBrk="1" hangingPunct="1">
              <a:lnSpc>
                <a:spcPct val="93000"/>
              </a:lnSpc>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smtClean="0">
                <a:solidFill>
                  <a:srgbClr val="000000"/>
                </a:solidFill>
                <a:latin typeface="Times New Roman" panose="02020603050405020304" pitchFamily="18" charset="0"/>
                <a:cs typeface="DejaVu Sans" panose="020B0603030804020204" pitchFamily="34" charset="0"/>
              </a:defRPr>
            </a:lvl1pPr>
          </a:lstStyle>
          <a:p>
            <a:pPr>
              <a:defRPr/>
            </a:pPr>
            <a:fld id="{90602E06-1754-4F03-8731-6106D1D03C9E}"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4C854C36-6057-27DA-6ABD-8AA714B0C3F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19B60B2C-FDBA-423D-8F70-D926FA7274D0}" type="slidenum">
              <a:rPr lang="en-IN" altLang="en-US" sz="1400"/>
              <a:pPr>
                <a:spcBef>
                  <a:spcPct val="0"/>
                </a:spcBef>
              </a:pPr>
              <a:t>1</a:t>
            </a:fld>
            <a:endParaRPr lang="en-IN" altLang="en-US" sz="1400"/>
          </a:p>
        </p:txBody>
      </p:sp>
      <p:sp>
        <p:nvSpPr>
          <p:cNvPr id="7171" name="Rectangle 1">
            <a:extLst>
              <a:ext uri="{FF2B5EF4-FFF2-40B4-BE49-F238E27FC236}">
                <a16:creationId xmlns:a16="http://schemas.microsoft.com/office/drawing/2014/main" id="{6A25FB43-8643-2138-4358-369C6E337C3C}"/>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72" name="Rectangle 2">
            <a:extLst>
              <a:ext uri="{FF2B5EF4-FFF2-40B4-BE49-F238E27FC236}">
                <a16:creationId xmlns:a16="http://schemas.microsoft.com/office/drawing/2014/main" id="{439FC37C-491E-F0D0-0EA2-910563677877}"/>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D427ECA3-A237-BBE7-AE96-7027C7248C2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sz="1200">
                <a:solidFill>
                  <a:srgbClr val="000000"/>
                </a:solidFill>
                <a:latin typeface="Times New Roman" panose="02020603050405020304" pitchFamily="18" charset="0"/>
              </a:defRPr>
            </a:lvl9pPr>
          </a:lstStyle>
          <a:p>
            <a:pPr>
              <a:spcBef>
                <a:spcPct val="0"/>
              </a:spcBef>
              <a:buClrTx/>
              <a:buFontTx/>
              <a:buNone/>
            </a:pPr>
            <a:fld id="{035FFFDF-9B2F-40CF-8A9B-DB381B86791A}" type="slidenum">
              <a:rPr lang="en-IN" altLang="en-US" sz="1400">
                <a:cs typeface="DejaVu Sans" charset="0"/>
              </a:rPr>
              <a:pPr>
                <a:spcBef>
                  <a:spcPct val="0"/>
                </a:spcBef>
                <a:buClrTx/>
                <a:buFontTx/>
                <a:buNone/>
              </a:pPr>
              <a:t>2</a:t>
            </a:fld>
            <a:endParaRPr lang="en-IN" altLang="en-US" sz="1400">
              <a:cs typeface="DejaVu Sans" charset="0"/>
            </a:endParaRPr>
          </a:p>
        </p:txBody>
      </p:sp>
      <p:sp>
        <p:nvSpPr>
          <p:cNvPr id="9219" name="Rectangle 1">
            <a:extLst>
              <a:ext uri="{FF2B5EF4-FFF2-40B4-BE49-F238E27FC236}">
                <a16:creationId xmlns:a16="http://schemas.microsoft.com/office/drawing/2014/main" id="{3C737BAA-4559-708C-FB69-16A37CFF1837}"/>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20" name="Rectangle 2">
            <a:extLst>
              <a:ext uri="{FF2B5EF4-FFF2-40B4-BE49-F238E27FC236}">
                <a16:creationId xmlns:a16="http://schemas.microsoft.com/office/drawing/2014/main" id="{B68734D8-AB18-874E-3A2B-916723506EEB}"/>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6">
            <a:extLst>
              <a:ext uri="{FF2B5EF4-FFF2-40B4-BE49-F238E27FC236}">
                <a16:creationId xmlns:a16="http://schemas.microsoft.com/office/drawing/2014/main" id="{36AD7CEC-4D81-8821-9A5C-18E88C72455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AD4FE05F-2BC1-4AF4-B285-ED9DFABB3341}" type="slidenum">
              <a:rPr lang="en-IN" altLang="en-US" sz="1400">
                <a:cs typeface="DejaVu Sans" charset="0"/>
              </a:rPr>
              <a:pPr>
                <a:spcBef>
                  <a:spcPct val="0"/>
                </a:spcBef>
              </a:pPr>
              <a:t>3</a:t>
            </a:fld>
            <a:endParaRPr lang="en-IN" altLang="en-US" sz="1400">
              <a:cs typeface="DejaVu Sans" charset="0"/>
            </a:endParaRPr>
          </a:p>
        </p:txBody>
      </p:sp>
      <p:sp>
        <p:nvSpPr>
          <p:cNvPr id="11267" name="Rectangle 1">
            <a:extLst>
              <a:ext uri="{FF2B5EF4-FFF2-40B4-BE49-F238E27FC236}">
                <a16:creationId xmlns:a16="http://schemas.microsoft.com/office/drawing/2014/main" id="{AA0AD549-C1D9-B3FF-35AD-7E3E34F36D75}"/>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8" name="Rectangle 2">
            <a:extLst>
              <a:ext uri="{FF2B5EF4-FFF2-40B4-BE49-F238E27FC236}">
                <a16:creationId xmlns:a16="http://schemas.microsoft.com/office/drawing/2014/main" id="{0C8B9E97-1F73-6F1C-07A4-2382D9CE8A28}"/>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6">
            <a:extLst>
              <a:ext uri="{FF2B5EF4-FFF2-40B4-BE49-F238E27FC236}">
                <a16:creationId xmlns:a16="http://schemas.microsoft.com/office/drawing/2014/main" id="{3BBFFB87-08E4-7BE1-5752-4C57EDE174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60A00319-5671-4841-B418-6775C6C06DCF}" type="slidenum">
              <a:rPr lang="en-IN" altLang="en-US" sz="1400"/>
              <a:pPr>
                <a:spcBef>
                  <a:spcPct val="0"/>
                </a:spcBef>
              </a:pPr>
              <a:t>4</a:t>
            </a:fld>
            <a:endParaRPr lang="en-IN" altLang="en-US" sz="1400"/>
          </a:p>
        </p:txBody>
      </p:sp>
      <p:sp>
        <p:nvSpPr>
          <p:cNvPr id="13315" name="Rectangle 1">
            <a:extLst>
              <a:ext uri="{FF2B5EF4-FFF2-40B4-BE49-F238E27FC236}">
                <a16:creationId xmlns:a16="http://schemas.microsoft.com/office/drawing/2014/main" id="{76A11BFE-B87E-1FB5-4F65-32E6BD44A71E}"/>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6" name="Rectangle 2">
            <a:extLst>
              <a:ext uri="{FF2B5EF4-FFF2-40B4-BE49-F238E27FC236}">
                <a16:creationId xmlns:a16="http://schemas.microsoft.com/office/drawing/2014/main" id="{D7E1FFA9-211E-8C99-6A13-CE7C1B6613A7}"/>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6">
            <a:extLst>
              <a:ext uri="{FF2B5EF4-FFF2-40B4-BE49-F238E27FC236}">
                <a16:creationId xmlns:a16="http://schemas.microsoft.com/office/drawing/2014/main" id="{3BBFFB87-08E4-7BE1-5752-4C57EDE174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60A00319-5671-4841-B418-6775C6C06DCF}" type="slidenum">
              <a:rPr lang="en-IN" altLang="en-US" sz="1400"/>
              <a:pPr>
                <a:spcBef>
                  <a:spcPct val="0"/>
                </a:spcBef>
              </a:pPr>
              <a:t>5</a:t>
            </a:fld>
            <a:endParaRPr lang="en-IN" altLang="en-US" sz="1400"/>
          </a:p>
        </p:txBody>
      </p:sp>
      <p:sp>
        <p:nvSpPr>
          <p:cNvPr id="13315" name="Rectangle 1">
            <a:extLst>
              <a:ext uri="{FF2B5EF4-FFF2-40B4-BE49-F238E27FC236}">
                <a16:creationId xmlns:a16="http://schemas.microsoft.com/office/drawing/2014/main" id="{76A11BFE-B87E-1FB5-4F65-32E6BD44A71E}"/>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6" name="Rectangle 2">
            <a:extLst>
              <a:ext uri="{FF2B5EF4-FFF2-40B4-BE49-F238E27FC236}">
                <a16:creationId xmlns:a16="http://schemas.microsoft.com/office/drawing/2014/main" id="{D7E1FFA9-211E-8C99-6A13-CE7C1B6613A7}"/>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322129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6">
            <a:extLst>
              <a:ext uri="{FF2B5EF4-FFF2-40B4-BE49-F238E27FC236}">
                <a16:creationId xmlns:a16="http://schemas.microsoft.com/office/drawing/2014/main" id="{E4B28AF7-9B7C-A95C-B69D-05E5AC87358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7CEB5385-3E06-4A59-A510-7CB3B48F6275}" type="slidenum">
              <a:rPr lang="en-IN" altLang="en-US" sz="1400">
                <a:cs typeface="DejaVu Sans" charset="0"/>
              </a:rPr>
              <a:pPr>
                <a:spcBef>
                  <a:spcPct val="0"/>
                </a:spcBef>
              </a:pPr>
              <a:t>6</a:t>
            </a:fld>
            <a:endParaRPr lang="en-IN" altLang="en-US" sz="1400">
              <a:cs typeface="DejaVu Sans" charset="0"/>
            </a:endParaRPr>
          </a:p>
        </p:txBody>
      </p:sp>
      <p:sp>
        <p:nvSpPr>
          <p:cNvPr id="15363" name="Rectangle 1">
            <a:extLst>
              <a:ext uri="{FF2B5EF4-FFF2-40B4-BE49-F238E27FC236}">
                <a16:creationId xmlns:a16="http://schemas.microsoft.com/office/drawing/2014/main" id="{D29FCB61-3B41-D656-C668-71D887137DF5}"/>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4" name="Rectangle 2">
            <a:extLst>
              <a:ext uri="{FF2B5EF4-FFF2-40B4-BE49-F238E27FC236}">
                <a16:creationId xmlns:a16="http://schemas.microsoft.com/office/drawing/2014/main" id="{EB84903D-6BE9-35B4-EBE6-555D93FB385A}"/>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52F1FD61-FE92-7EE9-1B05-548C3D9F78F8}"/>
              </a:ext>
            </a:extLst>
          </p:cNvPr>
          <p:cNvSpPr>
            <a:spLocks noGrp="1" noRot="1" noChangeAspect="1" noChangeArrowheads="1" noTextEdit="1"/>
          </p:cNvSpPr>
          <p:nvPr>
            <p:ph type="sldImg"/>
          </p:nvPr>
        </p:nvSpPr>
        <p:spPr>
          <a:xfrm>
            <a:off x="1108075" y="812800"/>
            <a:ext cx="5341938" cy="4006850"/>
          </a:xfrm>
        </p:spPr>
      </p:sp>
      <p:sp>
        <p:nvSpPr>
          <p:cNvPr id="19459" name="Notes Placeholder 2">
            <a:extLst>
              <a:ext uri="{FF2B5EF4-FFF2-40B4-BE49-F238E27FC236}">
                <a16:creationId xmlns:a16="http://schemas.microsoft.com/office/drawing/2014/main" id="{BD473CFB-8A7C-CE44-1165-D2F4E05F3DF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
        <p:nvSpPr>
          <p:cNvPr id="19460" name="Slide Number Placeholder 3">
            <a:extLst>
              <a:ext uri="{FF2B5EF4-FFF2-40B4-BE49-F238E27FC236}">
                <a16:creationId xmlns:a16="http://schemas.microsoft.com/office/drawing/2014/main" id="{2B35577E-EFEE-9A01-58A7-0DBE45B5001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Trebuchet MS" panose="020B0603020202020204" pitchFamily="34" charset="0"/>
              </a:defRPr>
            </a:lvl9pPr>
          </a:lstStyle>
          <a:p>
            <a:fld id="{7EED2BAA-EE8E-46FF-907C-C0BC97C18E75}" type="slidenum">
              <a:rPr lang="en-IN" altLang="en-US">
                <a:solidFill>
                  <a:srgbClr val="000000"/>
                </a:solidFill>
                <a:latin typeface="Times New Roman" panose="02020603050405020304" pitchFamily="18" charset="0"/>
                <a:cs typeface="DejaVu Sans" charset="0"/>
              </a:rPr>
              <a:pPr/>
              <a:t>7</a:t>
            </a:fld>
            <a:endParaRPr lang="en-IN" altLang="en-US">
              <a:solidFill>
                <a:srgbClr val="000000"/>
              </a:solidFill>
              <a:latin typeface="Times New Roman" panose="02020603050405020304" pitchFamily="18" charset="0"/>
              <a:cs typeface="DejaVu Sans"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6">
            <a:extLst>
              <a:ext uri="{FF2B5EF4-FFF2-40B4-BE49-F238E27FC236}">
                <a16:creationId xmlns:a16="http://schemas.microsoft.com/office/drawing/2014/main" id="{E85C076C-CB74-791A-19FE-AB0914F0CD2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7BEC795F-F650-424B-BAA0-2D91488E33B9}" type="slidenum">
              <a:rPr lang="en-IN" altLang="en-US" sz="1400">
                <a:cs typeface="DejaVu Sans" charset="0"/>
              </a:rPr>
              <a:pPr>
                <a:spcBef>
                  <a:spcPct val="0"/>
                </a:spcBef>
              </a:pPr>
              <a:t>14</a:t>
            </a:fld>
            <a:endParaRPr lang="en-IN" altLang="en-US" sz="1400">
              <a:cs typeface="DejaVu Sans" charset="0"/>
            </a:endParaRPr>
          </a:p>
        </p:txBody>
      </p:sp>
      <p:sp>
        <p:nvSpPr>
          <p:cNvPr id="27651" name="Rectangle 1">
            <a:extLst>
              <a:ext uri="{FF2B5EF4-FFF2-40B4-BE49-F238E27FC236}">
                <a16:creationId xmlns:a16="http://schemas.microsoft.com/office/drawing/2014/main" id="{01F33ADB-2A29-7D9B-FF5F-EE11058ABB7F}"/>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2" name="Rectangle 2">
            <a:extLst>
              <a:ext uri="{FF2B5EF4-FFF2-40B4-BE49-F238E27FC236}">
                <a16:creationId xmlns:a16="http://schemas.microsoft.com/office/drawing/2014/main" id="{DCE1270A-CA1F-D77A-302A-7DCE1788FC1D}"/>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6">
            <a:extLst>
              <a:ext uri="{FF2B5EF4-FFF2-40B4-BE49-F238E27FC236}">
                <a16:creationId xmlns:a16="http://schemas.microsoft.com/office/drawing/2014/main" id="{E85C076C-CB74-791A-19FE-AB0914F0CD2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7BEC795F-F650-424B-BAA0-2D91488E33B9}" type="slidenum">
              <a:rPr lang="en-IN" altLang="en-US" sz="1400">
                <a:cs typeface="DejaVu Sans" charset="0"/>
              </a:rPr>
              <a:pPr>
                <a:spcBef>
                  <a:spcPct val="0"/>
                </a:spcBef>
              </a:pPr>
              <a:t>15</a:t>
            </a:fld>
            <a:endParaRPr lang="en-IN" altLang="en-US" sz="1400">
              <a:cs typeface="DejaVu Sans" charset="0"/>
            </a:endParaRPr>
          </a:p>
        </p:txBody>
      </p:sp>
      <p:sp>
        <p:nvSpPr>
          <p:cNvPr id="27651" name="Rectangle 1">
            <a:extLst>
              <a:ext uri="{FF2B5EF4-FFF2-40B4-BE49-F238E27FC236}">
                <a16:creationId xmlns:a16="http://schemas.microsoft.com/office/drawing/2014/main" id="{01F33ADB-2A29-7D9B-FF5F-EE11058ABB7F}"/>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2" name="Rectangle 2">
            <a:extLst>
              <a:ext uri="{FF2B5EF4-FFF2-40B4-BE49-F238E27FC236}">
                <a16:creationId xmlns:a16="http://schemas.microsoft.com/office/drawing/2014/main" id="{DCE1270A-CA1F-D77A-302A-7DCE1788FC1D}"/>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41230625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6">
            <a:extLst>
              <a:ext uri="{FF2B5EF4-FFF2-40B4-BE49-F238E27FC236}">
                <a16:creationId xmlns:a16="http://schemas.microsoft.com/office/drawing/2014/main" id="{E85C076C-CB74-791A-19FE-AB0914F0CD2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7BEC795F-F650-424B-BAA0-2D91488E33B9}" type="slidenum">
              <a:rPr lang="en-IN" altLang="en-US" sz="1400">
                <a:cs typeface="DejaVu Sans" charset="0"/>
              </a:rPr>
              <a:pPr>
                <a:spcBef>
                  <a:spcPct val="0"/>
                </a:spcBef>
              </a:pPr>
              <a:t>16</a:t>
            </a:fld>
            <a:endParaRPr lang="en-IN" altLang="en-US" sz="1400">
              <a:cs typeface="DejaVu Sans" charset="0"/>
            </a:endParaRPr>
          </a:p>
        </p:txBody>
      </p:sp>
      <p:sp>
        <p:nvSpPr>
          <p:cNvPr id="27651" name="Rectangle 1">
            <a:extLst>
              <a:ext uri="{FF2B5EF4-FFF2-40B4-BE49-F238E27FC236}">
                <a16:creationId xmlns:a16="http://schemas.microsoft.com/office/drawing/2014/main" id="{01F33ADB-2A29-7D9B-FF5F-EE11058ABB7F}"/>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2" name="Rectangle 2">
            <a:extLst>
              <a:ext uri="{FF2B5EF4-FFF2-40B4-BE49-F238E27FC236}">
                <a16:creationId xmlns:a16="http://schemas.microsoft.com/office/drawing/2014/main" id="{DCE1270A-CA1F-D77A-302A-7DCE1788FC1D}"/>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1667249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6">
            <a:extLst>
              <a:ext uri="{FF2B5EF4-FFF2-40B4-BE49-F238E27FC236}">
                <a16:creationId xmlns:a16="http://schemas.microsoft.com/office/drawing/2014/main" id="{E85C076C-CB74-791A-19FE-AB0914F0CD2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7BEC795F-F650-424B-BAA0-2D91488E33B9}" type="slidenum">
              <a:rPr lang="en-IN" altLang="en-US" sz="1400">
                <a:cs typeface="DejaVu Sans" charset="0"/>
              </a:rPr>
              <a:pPr>
                <a:spcBef>
                  <a:spcPct val="0"/>
                </a:spcBef>
              </a:pPr>
              <a:t>17</a:t>
            </a:fld>
            <a:endParaRPr lang="en-IN" altLang="en-US" sz="1400">
              <a:cs typeface="DejaVu Sans" charset="0"/>
            </a:endParaRPr>
          </a:p>
        </p:txBody>
      </p:sp>
      <p:sp>
        <p:nvSpPr>
          <p:cNvPr id="27651" name="Rectangle 1">
            <a:extLst>
              <a:ext uri="{FF2B5EF4-FFF2-40B4-BE49-F238E27FC236}">
                <a16:creationId xmlns:a16="http://schemas.microsoft.com/office/drawing/2014/main" id="{01F33ADB-2A29-7D9B-FF5F-EE11058ABB7F}"/>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2" name="Rectangle 2">
            <a:extLst>
              <a:ext uri="{FF2B5EF4-FFF2-40B4-BE49-F238E27FC236}">
                <a16:creationId xmlns:a16="http://schemas.microsoft.com/office/drawing/2014/main" id="{DCE1270A-CA1F-D77A-302A-7DCE1788FC1D}"/>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4247360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6">
            <a:extLst>
              <a:ext uri="{FF2B5EF4-FFF2-40B4-BE49-F238E27FC236}">
                <a16:creationId xmlns:a16="http://schemas.microsoft.com/office/drawing/2014/main" id="{E85C076C-CB74-791A-19FE-AB0914F0CD2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7BEC795F-F650-424B-BAA0-2D91488E33B9}" type="slidenum">
              <a:rPr lang="en-IN" altLang="en-US" sz="1400">
                <a:cs typeface="DejaVu Sans" charset="0"/>
              </a:rPr>
              <a:pPr>
                <a:spcBef>
                  <a:spcPct val="0"/>
                </a:spcBef>
              </a:pPr>
              <a:t>18</a:t>
            </a:fld>
            <a:endParaRPr lang="en-IN" altLang="en-US" sz="1400">
              <a:cs typeface="DejaVu Sans" charset="0"/>
            </a:endParaRPr>
          </a:p>
        </p:txBody>
      </p:sp>
      <p:sp>
        <p:nvSpPr>
          <p:cNvPr id="27651" name="Rectangle 1">
            <a:extLst>
              <a:ext uri="{FF2B5EF4-FFF2-40B4-BE49-F238E27FC236}">
                <a16:creationId xmlns:a16="http://schemas.microsoft.com/office/drawing/2014/main" id="{01F33ADB-2A29-7D9B-FF5F-EE11058ABB7F}"/>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2" name="Rectangle 2">
            <a:extLst>
              <a:ext uri="{FF2B5EF4-FFF2-40B4-BE49-F238E27FC236}">
                <a16:creationId xmlns:a16="http://schemas.microsoft.com/office/drawing/2014/main" id="{DCE1270A-CA1F-D77A-302A-7DCE1788FC1D}"/>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1403872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6">
            <a:extLst>
              <a:ext uri="{FF2B5EF4-FFF2-40B4-BE49-F238E27FC236}">
                <a16:creationId xmlns:a16="http://schemas.microsoft.com/office/drawing/2014/main" id="{547034FC-CC6E-F41C-9B2D-6CD1594944A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8305AC36-985A-4145-95FA-3EF29FEA2794}" type="slidenum">
              <a:rPr lang="en-IN" altLang="en-US" sz="1400">
                <a:cs typeface="DejaVu Sans" charset="0"/>
              </a:rPr>
              <a:pPr>
                <a:spcBef>
                  <a:spcPct val="0"/>
                </a:spcBef>
              </a:pPr>
              <a:t>19</a:t>
            </a:fld>
            <a:endParaRPr lang="en-IN" altLang="en-US" sz="1400">
              <a:cs typeface="DejaVu Sans" charset="0"/>
            </a:endParaRPr>
          </a:p>
        </p:txBody>
      </p:sp>
      <p:sp>
        <p:nvSpPr>
          <p:cNvPr id="33795" name="Rectangle 1">
            <a:extLst>
              <a:ext uri="{FF2B5EF4-FFF2-40B4-BE49-F238E27FC236}">
                <a16:creationId xmlns:a16="http://schemas.microsoft.com/office/drawing/2014/main" id="{7C3A7554-AED1-F83B-DED0-AAA602454032}"/>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6" name="Rectangle 2">
            <a:extLst>
              <a:ext uri="{FF2B5EF4-FFF2-40B4-BE49-F238E27FC236}">
                <a16:creationId xmlns:a16="http://schemas.microsoft.com/office/drawing/2014/main" id="{85CFFDFD-FF14-C363-36F2-1C9BDDA18758}"/>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2432549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6">
            <a:extLst>
              <a:ext uri="{FF2B5EF4-FFF2-40B4-BE49-F238E27FC236}">
                <a16:creationId xmlns:a16="http://schemas.microsoft.com/office/drawing/2014/main" id="{E85C076C-CB74-791A-19FE-AB0914F0CD2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7BEC795F-F650-424B-BAA0-2D91488E33B9}" type="slidenum">
              <a:rPr lang="en-IN" altLang="en-US" sz="1400">
                <a:cs typeface="DejaVu Sans" charset="0"/>
              </a:rPr>
              <a:pPr>
                <a:spcBef>
                  <a:spcPct val="0"/>
                </a:spcBef>
              </a:pPr>
              <a:t>20</a:t>
            </a:fld>
            <a:endParaRPr lang="en-IN" altLang="en-US" sz="1400">
              <a:cs typeface="DejaVu Sans" charset="0"/>
            </a:endParaRPr>
          </a:p>
        </p:txBody>
      </p:sp>
      <p:sp>
        <p:nvSpPr>
          <p:cNvPr id="27651" name="Rectangle 1">
            <a:extLst>
              <a:ext uri="{FF2B5EF4-FFF2-40B4-BE49-F238E27FC236}">
                <a16:creationId xmlns:a16="http://schemas.microsoft.com/office/drawing/2014/main" id="{01F33ADB-2A29-7D9B-FF5F-EE11058ABB7F}"/>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2" name="Rectangle 2">
            <a:extLst>
              <a:ext uri="{FF2B5EF4-FFF2-40B4-BE49-F238E27FC236}">
                <a16:creationId xmlns:a16="http://schemas.microsoft.com/office/drawing/2014/main" id="{DCE1270A-CA1F-D77A-302A-7DCE1788FC1D}"/>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1979140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6">
            <a:extLst>
              <a:ext uri="{FF2B5EF4-FFF2-40B4-BE49-F238E27FC236}">
                <a16:creationId xmlns:a16="http://schemas.microsoft.com/office/drawing/2014/main" id="{E85C076C-CB74-791A-19FE-AB0914F0CD2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7BEC795F-F650-424B-BAA0-2D91488E33B9}" type="slidenum">
              <a:rPr lang="en-IN" altLang="en-US" sz="1400">
                <a:cs typeface="DejaVu Sans" charset="0"/>
              </a:rPr>
              <a:pPr>
                <a:spcBef>
                  <a:spcPct val="0"/>
                </a:spcBef>
              </a:pPr>
              <a:t>21</a:t>
            </a:fld>
            <a:endParaRPr lang="en-IN" altLang="en-US" sz="1400">
              <a:cs typeface="DejaVu Sans" charset="0"/>
            </a:endParaRPr>
          </a:p>
        </p:txBody>
      </p:sp>
      <p:sp>
        <p:nvSpPr>
          <p:cNvPr id="27651" name="Rectangle 1">
            <a:extLst>
              <a:ext uri="{FF2B5EF4-FFF2-40B4-BE49-F238E27FC236}">
                <a16:creationId xmlns:a16="http://schemas.microsoft.com/office/drawing/2014/main" id="{01F33ADB-2A29-7D9B-FF5F-EE11058ABB7F}"/>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2" name="Rectangle 2">
            <a:extLst>
              <a:ext uri="{FF2B5EF4-FFF2-40B4-BE49-F238E27FC236}">
                <a16:creationId xmlns:a16="http://schemas.microsoft.com/office/drawing/2014/main" id="{DCE1270A-CA1F-D77A-302A-7DCE1788FC1D}"/>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1650969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6">
            <a:extLst>
              <a:ext uri="{FF2B5EF4-FFF2-40B4-BE49-F238E27FC236}">
                <a16:creationId xmlns:a16="http://schemas.microsoft.com/office/drawing/2014/main" id="{E85C076C-CB74-791A-19FE-AB0914F0CD2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7BEC795F-F650-424B-BAA0-2D91488E33B9}" type="slidenum">
              <a:rPr lang="en-IN" altLang="en-US" sz="1400">
                <a:cs typeface="DejaVu Sans" charset="0"/>
              </a:rPr>
              <a:pPr>
                <a:spcBef>
                  <a:spcPct val="0"/>
                </a:spcBef>
              </a:pPr>
              <a:t>22</a:t>
            </a:fld>
            <a:endParaRPr lang="en-IN" altLang="en-US" sz="1400">
              <a:cs typeface="DejaVu Sans" charset="0"/>
            </a:endParaRPr>
          </a:p>
        </p:txBody>
      </p:sp>
      <p:sp>
        <p:nvSpPr>
          <p:cNvPr id="27651" name="Rectangle 1">
            <a:extLst>
              <a:ext uri="{FF2B5EF4-FFF2-40B4-BE49-F238E27FC236}">
                <a16:creationId xmlns:a16="http://schemas.microsoft.com/office/drawing/2014/main" id="{01F33ADB-2A29-7D9B-FF5F-EE11058ABB7F}"/>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2" name="Rectangle 2">
            <a:extLst>
              <a:ext uri="{FF2B5EF4-FFF2-40B4-BE49-F238E27FC236}">
                <a16:creationId xmlns:a16="http://schemas.microsoft.com/office/drawing/2014/main" id="{DCE1270A-CA1F-D77A-302A-7DCE1788FC1D}"/>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9205263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6">
            <a:extLst>
              <a:ext uri="{FF2B5EF4-FFF2-40B4-BE49-F238E27FC236}">
                <a16:creationId xmlns:a16="http://schemas.microsoft.com/office/drawing/2014/main" id="{E85C076C-CB74-791A-19FE-AB0914F0CD2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7BEC795F-F650-424B-BAA0-2D91488E33B9}" type="slidenum">
              <a:rPr lang="en-IN" altLang="en-US" sz="1400">
                <a:cs typeface="DejaVu Sans" charset="0"/>
              </a:rPr>
              <a:pPr>
                <a:spcBef>
                  <a:spcPct val="0"/>
                </a:spcBef>
              </a:pPr>
              <a:t>23</a:t>
            </a:fld>
            <a:endParaRPr lang="en-IN" altLang="en-US" sz="1400">
              <a:cs typeface="DejaVu Sans" charset="0"/>
            </a:endParaRPr>
          </a:p>
        </p:txBody>
      </p:sp>
      <p:sp>
        <p:nvSpPr>
          <p:cNvPr id="27651" name="Rectangle 1">
            <a:extLst>
              <a:ext uri="{FF2B5EF4-FFF2-40B4-BE49-F238E27FC236}">
                <a16:creationId xmlns:a16="http://schemas.microsoft.com/office/drawing/2014/main" id="{01F33ADB-2A29-7D9B-FF5F-EE11058ABB7F}"/>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2" name="Rectangle 2">
            <a:extLst>
              <a:ext uri="{FF2B5EF4-FFF2-40B4-BE49-F238E27FC236}">
                <a16:creationId xmlns:a16="http://schemas.microsoft.com/office/drawing/2014/main" id="{DCE1270A-CA1F-D77A-302A-7DCE1788FC1D}"/>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0570482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6">
            <a:extLst>
              <a:ext uri="{FF2B5EF4-FFF2-40B4-BE49-F238E27FC236}">
                <a16:creationId xmlns:a16="http://schemas.microsoft.com/office/drawing/2014/main" id="{E85C076C-CB74-791A-19FE-AB0914F0CD2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7BEC795F-F650-424B-BAA0-2D91488E33B9}" type="slidenum">
              <a:rPr lang="en-IN" altLang="en-US" sz="1400">
                <a:cs typeface="DejaVu Sans" charset="0"/>
              </a:rPr>
              <a:pPr>
                <a:spcBef>
                  <a:spcPct val="0"/>
                </a:spcBef>
              </a:pPr>
              <a:t>24</a:t>
            </a:fld>
            <a:endParaRPr lang="en-IN" altLang="en-US" sz="1400">
              <a:cs typeface="DejaVu Sans" charset="0"/>
            </a:endParaRPr>
          </a:p>
        </p:txBody>
      </p:sp>
      <p:sp>
        <p:nvSpPr>
          <p:cNvPr id="27651" name="Rectangle 1">
            <a:extLst>
              <a:ext uri="{FF2B5EF4-FFF2-40B4-BE49-F238E27FC236}">
                <a16:creationId xmlns:a16="http://schemas.microsoft.com/office/drawing/2014/main" id="{01F33ADB-2A29-7D9B-FF5F-EE11058ABB7F}"/>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2" name="Rectangle 2">
            <a:extLst>
              <a:ext uri="{FF2B5EF4-FFF2-40B4-BE49-F238E27FC236}">
                <a16:creationId xmlns:a16="http://schemas.microsoft.com/office/drawing/2014/main" id="{DCE1270A-CA1F-D77A-302A-7DCE1788FC1D}"/>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2767227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6">
            <a:extLst>
              <a:ext uri="{FF2B5EF4-FFF2-40B4-BE49-F238E27FC236}">
                <a16:creationId xmlns:a16="http://schemas.microsoft.com/office/drawing/2014/main" id="{E10CF06F-0A04-CB36-D991-41754FA19B5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9C5EC023-9091-4F42-9987-1BB3B20F6B85}" type="slidenum">
              <a:rPr lang="en-IN" altLang="en-US" sz="1400">
                <a:cs typeface="DejaVu Sans" charset="0"/>
              </a:rPr>
              <a:pPr>
                <a:spcBef>
                  <a:spcPct val="0"/>
                </a:spcBef>
              </a:pPr>
              <a:t>25</a:t>
            </a:fld>
            <a:endParaRPr lang="en-IN" altLang="en-US" sz="1400">
              <a:cs typeface="DejaVu Sans" charset="0"/>
            </a:endParaRPr>
          </a:p>
        </p:txBody>
      </p:sp>
      <p:sp>
        <p:nvSpPr>
          <p:cNvPr id="40963" name="Rectangle 1">
            <a:extLst>
              <a:ext uri="{FF2B5EF4-FFF2-40B4-BE49-F238E27FC236}">
                <a16:creationId xmlns:a16="http://schemas.microsoft.com/office/drawing/2014/main" id="{71BFDA56-B5EB-08A4-3509-3A509ACFB1DE}"/>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0964" name="Rectangle 2">
            <a:extLst>
              <a:ext uri="{FF2B5EF4-FFF2-40B4-BE49-F238E27FC236}">
                <a16:creationId xmlns:a16="http://schemas.microsoft.com/office/drawing/2014/main" id="{5F5F6AC4-CDDB-B162-0712-2ECC728869E7}"/>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7">
            <a:extLst>
              <a:ext uri="{FF2B5EF4-FFF2-40B4-BE49-F238E27FC236}">
                <a16:creationId xmlns:a16="http://schemas.microsoft.com/office/drawing/2014/main" id="{7C3A103B-2302-B3B1-75DD-9614ED5302AA}"/>
              </a:ext>
            </a:extLst>
          </p:cNvPr>
          <p:cNvGrpSpPr>
            <a:grpSpLocks/>
          </p:cNvGrpSpPr>
          <p:nvPr/>
        </p:nvGrpSpPr>
        <p:grpSpPr bwMode="auto">
          <a:xfrm>
            <a:off x="-9525" y="-9525"/>
            <a:ext cx="10110788" cy="7578725"/>
            <a:chOff x="-8466" y="-8468"/>
            <a:chExt cx="9171316" cy="6874935"/>
          </a:xfrm>
        </p:grpSpPr>
        <p:cxnSp>
          <p:nvCxnSpPr>
            <p:cNvPr id="5" name="Straight Connector 4">
              <a:extLst>
                <a:ext uri="{FF2B5EF4-FFF2-40B4-BE49-F238E27FC236}">
                  <a16:creationId xmlns:a16="http://schemas.microsoft.com/office/drawing/2014/main" id="{A5DC80F9-3D58-F6DA-B1EC-6687A2095E6B}"/>
                </a:ext>
              </a:extLst>
            </p:cNvPr>
            <p:cNvCxnSpPr/>
            <p:nvPr/>
          </p:nvCxnSpPr>
          <p:spPr>
            <a:xfrm flipV="1">
              <a:off x="5130870"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02A6D82D-FD32-4792-A234-D1F8254DA9CA}"/>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7" name="Freeform 29">
              <a:extLst>
                <a:ext uri="{FF2B5EF4-FFF2-40B4-BE49-F238E27FC236}">
                  <a16:creationId xmlns:a16="http://schemas.microsoft.com/office/drawing/2014/main" id="{3670178C-89BD-3B00-2435-92DF50070529}"/>
                </a:ext>
              </a:extLst>
            </p:cNvPr>
            <p:cNvSpPr/>
            <p:nvPr/>
          </p:nvSpPr>
          <p:spPr>
            <a:xfrm>
              <a:off x="6891981"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Freeform 30">
              <a:extLst>
                <a:ext uri="{FF2B5EF4-FFF2-40B4-BE49-F238E27FC236}">
                  <a16:creationId xmlns:a16="http://schemas.microsoft.com/office/drawing/2014/main" id="{53D6C8B8-9437-858F-02F3-B96F5243D946}"/>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Freeform 31">
              <a:extLst>
                <a:ext uri="{FF2B5EF4-FFF2-40B4-BE49-F238E27FC236}">
                  <a16:creationId xmlns:a16="http://schemas.microsoft.com/office/drawing/2014/main" id="{C5A7BF21-3E4F-64BE-F830-69086724EBEA}"/>
                </a:ext>
              </a:extLst>
            </p:cNvPr>
            <p:cNvSpPr/>
            <p:nvPr/>
          </p:nvSpPr>
          <p:spPr>
            <a:xfrm>
              <a:off x="6638542" y="3920066"/>
              <a:ext cx="2512788"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32">
              <a:extLst>
                <a:ext uri="{FF2B5EF4-FFF2-40B4-BE49-F238E27FC236}">
                  <a16:creationId xmlns:a16="http://schemas.microsoft.com/office/drawing/2014/main" id="{1637FD68-C66C-6720-1B20-DAF4FE3B5297}"/>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33">
              <a:extLst>
                <a:ext uri="{FF2B5EF4-FFF2-40B4-BE49-F238E27FC236}">
                  <a16:creationId xmlns:a16="http://schemas.microsoft.com/office/drawing/2014/main" id="{2DAAFCD6-60B3-7FD0-3CCF-535907D11576}"/>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34">
              <a:extLst>
                <a:ext uri="{FF2B5EF4-FFF2-40B4-BE49-F238E27FC236}">
                  <a16:creationId xmlns:a16="http://schemas.microsoft.com/office/drawing/2014/main" id="{0A2B82FF-4E67-82F3-5937-BC7B990CEF0E}"/>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35">
              <a:extLst>
                <a:ext uri="{FF2B5EF4-FFF2-40B4-BE49-F238E27FC236}">
                  <a16:creationId xmlns:a16="http://schemas.microsoft.com/office/drawing/2014/main" id="{17CCC5F4-0A00-F261-F132-5B063C37EDD7}"/>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7">
              <a:extLst>
                <a:ext uri="{FF2B5EF4-FFF2-40B4-BE49-F238E27FC236}">
                  <a16:creationId xmlns:a16="http://schemas.microsoft.com/office/drawing/2014/main" id="{EBDE7206-1C0E-100D-2FA3-DFA59F2EF1C3}"/>
                </a:ext>
              </a:extLst>
            </p:cNvPr>
            <p:cNvSpPr/>
            <p:nvPr/>
          </p:nvSpPr>
          <p:spPr>
            <a:xfrm>
              <a:off x="-8466" y="-8468"/>
              <a:ext cx="863996" cy="5698391"/>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403" y="2650553"/>
            <a:ext cx="6423553" cy="1814743"/>
          </a:xfrm>
        </p:spPr>
        <p:txBody>
          <a:bodyPr anchor="b">
            <a:noAutofit/>
          </a:bodyPr>
          <a:lstStyle>
            <a:lvl1pPr algn="r">
              <a:defRPr sz="5952">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246403" y="4465295"/>
            <a:ext cx="6423553" cy="1209128"/>
          </a:xfrm>
        </p:spPr>
        <p:txBody>
          <a:bodyP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en-US"/>
              <a:t>Click to edit Master subtitle style</a:t>
            </a:r>
          </a:p>
        </p:txBody>
      </p:sp>
      <p:sp>
        <p:nvSpPr>
          <p:cNvPr id="15" name="Date Placeholder 3">
            <a:extLst>
              <a:ext uri="{FF2B5EF4-FFF2-40B4-BE49-F238E27FC236}">
                <a16:creationId xmlns:a16="http://schemas.microsoft.com/office/drawing/2014/main" id="{0D802E28-4633-3CCF-3764-02E0C85190F8}"/>
              </a:ext>
            </a:extLst>
          </p:cNvPr>
          <p:cNvSpPr>
            <a:spLocks noGrp="1"/>
          </p:cNvSpPr>
          <p:nvPr>
            <p:ph type="dt" sz="half" idx="10"/>
          </p:nvPr>
        </p:nvSpPr>
        <p:spPr/>
        <p:txBody>
          <a:bodyPr/>
          <a:lstStyle>
            <a:lvl1pPr>
              <a:defRPr/>
            </a:lvl1pPr>
          </a:lstStyle>
          <a:p>
            <a:pPr>
              <a:defRPr/>
            </a:pPr>
            <a:fld id="{C6E5502C-1C69-4561-A59F-0471C66AC5BF}" type="datetimeFigureOut">
              <a:rPr lang="en-US"/>
              <a:pPr>
                <a:defRPr/>
              </a:pPr>
              <a:t>9/22/2024</a:t>
            </a:fld>
            <a:endParaRPr lang="en-US"/>
          </a:p>
        </p:txBody>
      </p:sp>
      <p:sp>
        <p:nvSpPr>
          <p:cNvPr id="16" name="Footer Placeholder 4">
            <a:extLst>
              <a:ext uri="{FF2B5EF4-FFF2-40B4-BE49-F238E27FC236}">
                <a16:creationId xmlns:a16="http://schemas.microsoft.com/office/drawing/2014/main" id="{357B7B68-21E6-2EA8-154A-C58FD2CE0370}"/>
              </a:ext>
            </a:extLst>
          </p:cNvPr>
          <p:cNvSpPr>
            <a:spLocks noGrp="1"/>
          </p:cNvSpPr>
          <p:nvPr>
            <p:ph type="ftr" sz="quarter" idx="11"/>
          </p:nvPr>
        </p:nvSpPr>
        <p:spPr/>
        <p:txBody>
          <a:bodyPr/>
          <a:lstStyle>
            <a:lvl1pPr>
              <a:defRPr/>
            </a:lvl1pPr>
          </a:lstStyle>
          <a:p>
            <a:pPr>
              <a:defRPr/>
            </a:pPr>
            <a:endParaRPr lang="en-US"/>
          </a:p>
        </p:txBody>
      </p:sp>
      <p:sp>
        <p:nvSpPr>
          <p:cNvPr id="17" name="Slide Number Placeholder 5">
            <a:extLst>
              <a:ext uri="{FF2B5EF4-FFF2-40B4-BE49-F238E27FC236}">
                <a16:creationId xmlns:a16="http://schemas.microsoft.com/office/drawing/2014/main" id="{880551BA-73D7-C874-F49C-08D6799AFA9D}"/>
              </a:ext>
            </a:extLst>
          </p:cNvPr>
          <p:cNvSpPr>
            <a:spLocks noGrp="1"/>
          </p:cNvSpPr>
          <p:nvPr>
            <p:ph type="sldNum" sz="quarter" idx="12"/>
          </p:nvPr>
        </p:nvSpPr>
        <p:spPr/>
        <p:txBody>
          <a:bodyPr/>
          <a:lstStyle>
            <a:lvl1pPr>
              <a:defRPr smtClean="0"/>
            </a:lvl1pPr>
          </a:lstStyle>
          <a:p>
            <a:pPr>
              <a:defRPr/>
            </a:pPr>
            <a:fld id="{A477196B-225C-4DC5-93A8-3731C4CD2A2F}" type="slidenum">
              <a:rPr lang="en-US" altLang="en-US"/>
              <a:pPr>
                <a:defRPr/>
              </a:pPr>
              <a:t>‹#›</a:t>
            </a:fld>
            <a:endParaRPr lang="en-US" altLang="en-US"/>
          </a:p>
        </p:txBody>
      </p:sp>
    </p:spTree>
    <p:extLst>
      <p:ext uri="{BB962C8B-B14F-4D97-AF65-F5344CB8AC3E}">
        <p14:creationId xmlns:p14="http://schemas.microsoft.com/office/powerpoint/2010/main" val="152382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B2DF31-D1A4-C497-0EA9-2B6BA240B1CB}"/>
              </a:ext>
            </a:extLst>
          </p:cNvPr>
          <p:cNvSpPr>
            <a:spLocks noGrp="1"/>
          </p:cNvSpPr>
          <p:nvPr>
            <p:ph type="dt" sz="half" idx="10"/>
          </p:nvPr>
        </p:nvSpPr>
        <p:spPr/>
        <p:txBody>
          <a:bodyPr/>
          <a:lstStyle>
            <a:lvl1pPr>
              <a:defRPr/>
            </a:lvl1pPr>
          </a:lstStyle>
          <a:p>
            <a:pPr>
              <a:defRPr/>
            </a:pPr>
            <a:fld id="{B327D9B4-F1AF-4BAF-A507-03B440612C03}" type="datetimeFigureOut">
              <a:rPr lang="en-US"/>
              <a:pPr>
                <a:defRPr/>
              </a:pPr>
              <a:t>9/22/2024</a:t>
            </a:fld>
            <a:endParaRPr lang="en-US"/>
          </a:p>
        </p:txBody>
      </p:sp>
      <p:sp>
        <p:nvSpPr>
          <p:cNvPr id="5" name="Footer Placeholder 4">
            <a:extLst>
              <a:ext uri="{FF2B5EF4-FFF2-40B4-BE49-F238E27FC236}">
                <a16:creationId xmlns:a16="http://schemas.microsoft.com/office/drawing/2014/main" id="{7376FA58-2E81-86FA-D28F-398335F721A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A2B68DB-BA3C-2F7F-CA38-988079DF8242}"/>
              </a:ext>
            </a:extLst>
          </p:cNvPr>
          <p:cNvSpPr>
            <a:spLocks noGrp="1"/>
          </p:cNvSpPr>
          <p:nvPr>
            <p:ph type="sldNum" sz="quarter" idx="12"/>
          </p:nvPr>
        </p:nvSpPr>
        <p:spPr/>
        <p:txBody>
          <a:bodyPr/>
          <a:lstStyle>
            <a:lvl1pPr>
              <a:defRPr/>
            </a:lvl1pPr>
          </a:lstStyle>
          <a:p>
            <a:pPr>
              <a:defRPr/>
            </a:pPr>
            <a:fld id="{8ECF1A73-821F-4CE6-8DE5-FF41B321C402}" type="slidenum">
              <a:rPr lang="en-US" altLang="en-US"/>
              <a:pPr>
                <a:defRPr/>
              </a:pPr>
              <a:t>‹#›</a:t>
            </a:fld>
            <a:endParaRPr lang="en-US" altLang="en-US"/>
          </a:p>
        </p:txBody>
      </p:sp>
    </p:spTree>
    <p:extLst>
      <p:ext uri="{BB962C8B-B14F-4D97-AF65-F5344CB8AC3E}">
        <p14:creationId xmlns:p14="http://schemas.microsoft.com/office/powerpoint/2010/main" val="2934282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2040" y="2977208"/>
            <a:ext cx="6997915" cy="2013467"/>
          </a:xfrm>
        </p:spPr>
        <p:txBody>
          <a:bodyPr anchor="b"/>
          <a:lstStyle>
            <a:lvl1pPr algn="l">
              <a:defRPr sz="4409" b="0" cap="none"/>
            </a:lvl1pPr>
          </a:lstStyle>
          <a:p>
            <a:r>
              <a:rPr lang="en-US"/>
              <a:t>Click to edit Master title style</a:t>
            </a:r>
          </a:p>
        </p:txBody>
      </p:sp>
      <p:sp>
        <p:nvSpPr>
          <p:cNvPr id="3" name="Text Placeholder 2"/>
          <p:cNvSpPr>
            <a:spLocks noGrp="1"/>
          </p:cNvSpPr>
          <p:nvPr>
            <p:ph type="body" idx="1"/>
          </p:nvPr>
        </p:nvSpPr>
        <p:spPr>
          <a:xfrm>
            <a:off x="672040" y="4990673"/>
            <a:ext cx="6997915" cy="948432"/>
          </a:xfrm>
        </p:spPr>
        <p:txBody>
          <a:bodyP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6EF3F5-5D42-AAF5-356D-B213C8E30B98}"/>
              </a:ext>
            </a:extLst>
          </p:cNvPr>
          <p:cNvSpPr>
            <a:spLocks noGrp="1"/>
          </p:cNvSpPr>
          <p:nvPr>
            <p:ph type="dt" sz="half" idx="10"/>
          </p:nvPr>
        </p:nvSpPr>
        <p:spPr/>
        <p:txBody>
          <a:bodyPr/>
          <a:lstStyle>
            <a:lvl1pPr>
              <a:defRPr/>
            </a:lvl1pPr>
          </a:lstStyle>
          <a:p>
            <a:pPr>
              <a:defRPr/>
            </a:pPr>
            <a:fld id="{02A6B9BB-8879-4CC2-9333-E0C3FE5014B8}" type="datetimeFigureOut">
              <a:rPr lang="en-US"/>
              <a:pPr>
                <a:defRPr/>
              </a:pPr>
              <a:t>9/22/2024</a:t>
            </a:fld>
            <a:endParaRPr lang="en-US"/>
          </a:p>
        </p:txBody>
      </p:sp>
      <p:sp>
        <p:nvSpPr>
          <p:cNvPr id="5" name="Footer Placeholder 4">
            <a:extLst>
              <a:ext uri="{FF2B5EF4-FFF2-40B4-BE49-F238E27FC236}">
                <a16:creationId xmlns:a16="http://schemas.microsoft.com/office/drawing/2014/main" id="{15AEDEA6-6FD9-32DC-B4A6-765F9185F92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476524B-7F45-42D5-9C94-89417C4C19A3}"/>
              </a:ext>
            </a:extLst>
          </p:cNvPr>
          <p:cNvSpPr>
            <a:spLocks noGrp="1"/>
          </p:cNvSpPr>
          <p:nvPr>
            <p:ph type="sldNum" sz="quarter" idx="12"/>
          </p:nvPr>
        </p:nvSpPr>
        <p:spPr/>
        <p:txBody>
          <a:bodyPr/>
          <a:lstStyle>
            <a:lvl1pPr>
              <a:defRPr/>
            </a:lvl1pPr>
          </a:lstStyle>
          <a:p>
            <a:pPr>
              <a:defRPr/>
            </a:pPr>
            <a:fld id="{6B15B6FD-0E06-425C-866E-FE7A37183D30}" type="slidenum">
              <a:rPr lang="en-US" altLang="en-US"/>
              <a:pPr>
                <a:defRPr/>
              </a:pPr>
              <a:t>‹#›</a:t>
            </a:fld>
            <a:endParaRPr lang="en-US" altLang="en-US"/>
          </a:p>
        </p:txBody>
      </p:sp>
    </p:spTree>
    <p:extLst>
      <p:ext uri="{BB962C8B-B14F-4D97-AF65-F5344CB8AC3E}">
        <p14:creationId xmlns:p14="http://schemas.microsoft.com/office/powerpoint/2010/main" val="3965675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1455937"/>
          </a:xfrm>
        </p:spPr>
        <p:txBody>
          <a:bodyPr/>
          <a:lstStyle/>
          <a:p>
            <a:r>
              <a:rPr lang="en-US"/>
              <a:t>Click to edit Master title style</a:t>
            </a:r>
          </a:p>
        </p:txBody>
      </p:sp>
      <p:sp>
        <p:nvSpPr>
          <p:cNvPr id="3" name="Content Placeholder 2"/>
          <p:cNvSpPr>
            <a:spLocks noGrp="1"/>
          </p:cNvSpPr>
          <p:nvPr>
            <p:ph sz="half" idx="1"/>
          </p:nvPr>
        </p:nvSpPr>
        <p:spPr>
          <a:xfrm>
            <a:off x="672042" y="2381649"/>
            <a:ext cx="3404426" cy="4277832"/>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65529" y="2381651"/>
            <a:ext cx="3404427" cy="4277834"/>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E11FBDD9-22DD-9721-EAF2-25988EC806EC}"/>
              </a:ext>
            </a:extLst>
          </p:cNvPr>
          <p:cNvSpPr>
            <a:spLocks noGrp="1"/>
          </p:cNvSpPr>
          <p:nvPr>
            <p:ph type="dt" sz="half" idx="10"/>
          </p:nvPr>
        </p:nvSpPr>
        <p:spPr/>
        <p:txBody>
          <a:bodyPr/>
          <a:lstStyle>
            <a:lvl1pPr>
              <a:defRPr/>
            </a:lvl1pPr>
          </a:lstStyle>
          <a:p>
            <a:pPr>
              <a:defRPr/>
            </a:pPr>
            <a:fld id="{8B5AFED6-9BE0-4D72-988F-65A58D2265BF}" type="datetimeFigureOut">
              <a:rPr lang="en-US"/>
              <a:pPr>
                <a:defRPr/>
              </a:pPr>
              <a:t>9/22/2024</a:t>
            </a:fld>
            <a:endParaRPr lang="en-US"/>
          </a:p>
        </p:txBody>
      </p:sp>
      <p:sp>
        <p:nvSpPr>
          <p:cNvPr id="6" name="Footer Placeholder 4">
            <a:extLst>
              <a:ext uri="{FF2B5EF4-FFF2-40B4-BE49-F238E27FC236}">
                <a16:creationId xmlns:a16="http://schemas.microsoft.com/office/drawing/2014/main" id="{0A32D444-56EA-B031-7DF8-1080BE38DFA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D684D95-1D4D-0D04-02BD-62306A0F4327}"/>
              </a:ext>
            </a:extLst>
          </p:cNvPr>
          <p:cNvSpPr>
            <a:spLocks noGrp="1"/>
          </p:cNvSpPr>
          <p:nvPr>
            <p:ph type="sldNum" sz="quarter" idx="12"/>
          </p:nvPr>
        </p:nvSpPr>
        <p:spPr/>
        <p:txBody>
          <a:bodyPr/>
          <a:lstStyle>
            <a:lvl1pPr>
              <a:defRPr/>
            </a:lvl1pPr>
          </a:lstStyle>
          <a:p>
            <a:pPr>
              <a:defRPr/>
            </a:pPr>
            <a:fld id="{9ECAD557-B9EE-4DCF-9788-3AEB3FB2AB88}" type="slidenum">
              <a:rPr lang="en-US" altLang="en-US"/>
              <a:pPr>
                <a:defRPr/>
              </a:pPr>
              <a:t>‹#›</a:t>
            </a:fld>
            <a:endParaRPr lang="en-US" altLang="en-US"/>
          </a:p>
        </p:txBody>
      </p:sp>
    </p:spTree>
    <p:extLst>
      <p:ext uri="{BB962C8B-B14F-4D97-AF65-F5344CB8AC3E}">
        <p14:creationId xmlns:p14="http://schemas.microsoft.com/office/powerpoint/2010/main" val="281273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3" cy="1455937"/>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2041"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4" name="Content Placeholder 3"/>
          <p:cNvSpPr>
            <a:spLocks noGrp="1"/>
          </p:cNvSpPr>
          <p:nvPr>
            <p:ph sz="half" idx="2"/>
          </p:nvPr>
        </p:nvSpPr>
        <p:spPr>
          <a:xfrm>
            <a:off x="672041"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262702"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6" name="Content Placeholder 5"/>
          <p:cNvSpPr>
            <a:spLocks noGrp="1"/>
          </p:cNvSpPr>
          <p:nvPr>
            <p:ph sz="quarter" idx="4"/>
          </p:nvPr>
        </p:nvSpPr>
        <p:spPr>
          <a:xfrm>
            <a:off x="4262702"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68F003A1-2D28-705F-8FC9-E2A555643795}"/>
              </a:ext>
            </a:extLst>
          </p:cNvPr>
          <p:cNvSpPr>
            <a:spLocks noGrp="1"/>
          </p:cNvSpPr>
          <p:nvPr>
            <p:ph type="dt" sz="half" idx="10"/>
          </p:nvPr>
        </p:nvSpPr>
        <p:spPr/>
        <p:txBody>
          <a:bodyPr/>
          <a:lstStyle>
            <a:lvl1pPr>
              <a:defRPr/>
            </a:lvl1pPr>
          </a:lstStyle>
          <a:p>
            <a:pPr>
              <a:defRPr/>
            </a:pPr>
            <a:fld id="{FD747A7F-615E-4EB8-A999-9FD408C83D7F}" type="datetimeFigureOut">
              <a:rPr lang="en-US"/>
              <a:pPr>
                <a:defRPr/>
              </a:pPr>
              <a:t>9/22/2024</a:t>
            </a:fld>
            <a:endParaRPr lang="en-US"/>
          </a:p>
        </p:txBody>
      </p:sp>
      <p:sp>
        <p:nvSpPr>
          <p:cNvPr id="8" name="Footer Placeholder 4">
            <a:extLst>
              <a:ext uri="{FF2B5EF4-FFF2-40B4-BE49-F238E27FC236}">
                <a16:creationId xmlns:a16="http://schemas.microsoft.com/office/drawing/2014/main" id="{2AB155B2-851E-7F1A-8721-FD85261596F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175E05F9-25D5-890A-3393-8B641A05136E}"/>
              </a:ext>
            </a:extLst>
          </p:cNvPr>
          <p:cNvSpPr>
            <a:spLocks noGrp="1"/>
          </p:cNvSpPr>
          <p:nvPr>
            <p:ph type="sldNum" sz="quarter" idx="12"/>
          </p:nvPr>
        </p:nvSpPr>
        <p:spPr/>
        <p:txBody>
          <a:bodyPr/>
          <a:lstStyle>
            <a:lvl1pPr>
              <a:defRPr/>
            </a:lvl1pPr>
          </a:lstStyle>
          <a:p>
            <a:pPr>
              <a:defRPr/>
            </a:pPr>
            <a:fld id="{85CF5F7E-37FC-44FB-A58F-7B3BE498FB52}" type="slidenum">
              <a:rPr lang="en-US" altLang="en-US"/>
              <a:pPr>
                <a:defRPr/>
              </a:pPr>
              <a:t>‹#›</a:t>
            </a:fld>
            <a:endParaRPr lang="en-US" altLang="en-US"/>
          </a:p>
        </p:txBody>
      </p:sp>
    </p:spTree>
    <p:extLst>
      <p:ext uri="{BB962C8B-B14F-4D97-AF65-F5344CB8AC3E}">
        <p14:creationId xmlns:p14="http://schemas.microsoft.com/office/powerpoint/2010/main" val="270735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4" cy="1455937"/>
          </a:xfrm>
        </p:spPr>
        <p:txBody>
          <a:bodyPr/>
          <a:lstStyle/>
          <a:p>
            <a:r>
              <a:rPr lang="en-US"/>
              <a:t>Click to edit Master title style</a:t>
            </a:r>
          </a:p>
        </p:txBody>
      </p:sp>
      <p:sp>
        <p:nvSpPr>
          <p:cNvPr id="3" name="Date Placeholder 3">
            <a:extLst>
              <a:ext uri="{FF2B5EF4-FFF2-40B4-BE49-F238E27FC236}">
                <a16:creationId xmlns:a16="http://schemas.microsoft.com/office/drawing/2014/main" id="{6565BCE1-43D7-9096-E068-FF32E2EABBD9}"/>
              </a:ext>
            </a:extLst>
          </p:cNvPr>
          <p:cNvSpPr>
            <a:spLocks noGrp="1"/>
          </p:cNvSpPr>
          <p:nvPr>
            <p:ph type="dt" sz="half" idx="10"/>
          </p:nvPr>
        </p:nvSpPr>
        <p:spPr/>
        <p:txBody>
          <a:bodyPr/>
          <a:lstStyle>
            <a:lvl1pPr>
              <a:defRPr/>
            </a:lvl1pPr>
          </a:lstStyle>
          <a:p>
            <a:pPr>
              <a:defRPr/>
            </a:pPr>
            <a:fld id="{50603CE3-6ECC-4C6F-AEF6-06597F4AC2D4}" type="datetimeFigureOut">
              <a:rPr lang="en-US"/>
              <a:pPr>
                <a:defRPr/>
              </a:pPr>
              <a:t>9/22/2024</a:t>
            </a:fld>
            <a:endParaRPr lang="en-US"/>
          </a:p>
        </p:txBody>
      </p:sp>
      <p:sp>
        <p:nvSpPr>
          <p:cNvPr id="4" name="Footer Placeholder 4">
            <a:extLst>
              <a:ext uri="{FF2B5EF4-FFF2-40B4-BE49-F238E27FC236}">
                <a16:creationId xmlns:a16="http://schemas.microsoft.com/office/drawing/2014/main" id="{C319020C-CC84-01DD-CB37-D0AF68A5250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D7C99BFE-9460-3C53-179A-55DC83883856}"/>
              </a:ext>
            </a:extLst>
          </p:cNvPr>
          <p:cNvSpPr>
            <a:spLocks noGrp="1"/>
          </p:cNvSpPr>
          <p:nvPr>
            <p:ph type="sldNum" sz="quarter" idx="12"/>
          </p:nvPr>
        </p:nvSpPr>
        <p:spPr/>
        <p:txBody>
          <a:bodyPr/>
          <a:lstStyle>
            <a:lvl1pPr>
              <a:defRPr/>
            </a:lvl1pPr>
          </a:lstStyle>
          <a:p>
            <a:pPr>
              <a:defRPr/>
            </a:pPr>
            <a:fld id="{9EABCE9A-FAA2-4F04-8FDF-1BEF2FCE083D}" type="slidenum">
              <a:rPr lang="en-US" altLang="en-US"/>
              <a:pPr>
                <a:defRPr/>
              </a:pPr>
              <a:t>‹#›</a:t>
            </a:fld>
            <a:endParaRPr lang="en-US" altLang="en-US"/>
          </a:p>
        </p:txBody>
      </p:sp>
    </p:spTree>
    <p:extLst>
      <p:ext uri="{BB962C8B-B14F-4D97-AF65-F5344CB8AC3E}">
        <p14:creationId xmlns:p14="http://schemas.microsoft.com/office/powerpoint/2010/main" val="641957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B5EFF4A-07D0-A3CE-F03F-7862880FB29C}"/>
              </a:ext>
            </a:extLst>
          </p:cNvPr>
          <p:cNvSpPr>
            <a:spLocks noGrp="1"/>
          </p:cNvSpPr>
          <p:nvPr>
            <p:ph type="dt" sz="half" idx="10"/>
          </p:nvPr>
        </p:nvSpPr>
        <p:spPr/>
        <p:txBody>
          <a:bodyPr/>
          <a:lstStyle>
            <a:lvl1pPr>
              <a:defRPr/>
            </a:lvl1pPr>
          </a:lstStyle>
          <a:p>
            <a:pPr>
              <a:defRPr/>
            </a:pPr>
            <a:fld id="{E85FDB11-4788-4310-A2C2-82E21CB7FC13}" type="datetimeFigureOut">
              <a:rPr lang="en-US"/>
              <a:pPr>
                <a:defRPr/>
              </a:pPr>
              <a:t>9/22/2024</a:t>
            </a:fld>
            <a:endParaRPr lang="en-US"/>
          </a:p>
        </p:txBody>
      </p:sp>
      <p:sp>
        <p:nvSpPr>
          <p:cNvPr id="3" name="Footer Placeholder 4">
            <a:extLst>
              <a:ext uri="{FF2B5EF4-FFF2-40B4-BE49-F238E27FC236}">
                <a16:creationId xmlns:a16="http://schemas.microsoft.com/office/drawing/2014/main" id="{54251785-11A4-1602-8F99-443F9141F957}"/>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EA336D61-4072-2CEA-B56A-368128CA4FE1}"/>
              </a:ext>
            </a:extLst>
          </p:cNvPr>
          <p:cNvSpPr>
            <a:spLocks noGrp="1"/>
          </p:cNvSpPr>
          <p:nvPr>
            <p:ph type="sldNum" sz="quarter" idx="12"/>
          </p:nvPr>
        </p:nvSpPr>
        <p:spPr/>
        <p:txBody>
          <a:bodyPr/>
          <a:lstStyle>
            <a:lvl1pPr>
              <a:defRPr/>
            </a:lvl1pPr>
          </a:lstStyle>
          <a:p>
            <a:pPr>
              <a:defRPr/>
            </a:pPr>
            <a:fld id="{4ACBC308-CF5D-4BB8-8B9A-4A29CF35C29F}" type="slidenum">
              <a:rPr lang="en-US" altLang="en-US"/>
              <a:pPr>
                <a:defRPr/>
              </a:pPr>
              <a:t>‹#›</a:t>
            </a:fld>
            <a:endParaRPr lang="en-US" altLang="en-US"/>
          </a:p>
        </p:txBody>
      </p:sp>
    </p:spTree>
    <p:extLst>
      <p:ext uri="{BB962C8B-B14F-4D97-AF65-F5344CB8AC3E}">
        <p14:creationId xmlns:p14="http://schemas.microsoft.com/office/powerpoint/2010/main" val="3717707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1651933"/>
            <a:ext cx="3075982" cy="1409272"/>
          </a:xfrm>
        </p:spPr>
        <p:txBody>
          <a:bodyPr anchor="b"/>
          <a:lstStyle>
            <a:lvl1pPr>
              <a:defRPr sz="2205"/>
            </a:lvl1pPr>
          </a:lstStyle>
          <a:p>
            <a:r>
              <a:rPr lang="en-US"/>
              <a:t>Click to edit Master title style</a:t>
            </a:r>
          </a:p>
        </p:txBody>
      </p:sp>
      <p:sp>
        <p:nvSpPr>
          <p:cNvPr id="3" name="Content Placeholder 2"/>
          <p:cNvSpPr>
            <a:spLocks noGrp="1"/>
          </p:cNvSpPr>
          <p:nvPr>
            <p:ph idx="1"/>
          </p:nvPr>
        </p:nvSpPr>
        <p:spPr>
          <a:xfrm>
            <a:off x="3937083" y="567610"/>
            <a:ext cx="3732871" cy="60918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2041" y="3061205"/>
            <a:ext cx="3075982" cy="2848876"/>
          </a:xfrm>
        </p:spPr>
        <p:txBody>
          <a:bodyPr/>
          <a:lstStyle>
            <a:lvl1pPr marL="0" indent="0">
              <a:buNone/>
              <a:defRPr sz="1543"/>
            </a:lvl1pPr>
            <a:lvl2pPr marL="377979" indent="0">
              <a:buNone/>
              <a:defRPr sz="1157"/>
            </a:lvl2pPr>
            <a:lvl3pPr marL="755957" indent="0">
              <a:buNone/>
              <a:defRPr sz="992"/>
            </a:lvl3pPr>
            <a:lvl4pPr marL="1133936" indent="0">
              <a:buNone/>
              <a:defRPr sz="827"/>
            </a:lvl4pPr>
            <a:lvl5pPr marL="1511915" indent="0">
              <a:buNone/>
              <a:defRPr sz="827"/>
            </a:lvl5pPr>
            <a:lvl6pPr marL="1889893" indent="0">
              <a:buNone/>
              <a:defRPr sz="827"/>
            </a:lvl6pPr>
            <a:lvl7pPr marL="2267872" indent="0">
              <a:buNone/>
              <a:defRPr sz="827"/>
            </a:lvl7pPr>
            <a:lvl8pPr marL="2645851" indent="0">
              <a:buNone/>
              <a:defRPr sz="827"/>
            </a:lvl8pPr>
            <a:lvl9pPr marL="3023829" indent="0">
              <a:buNone/>
              <a:defRPr sz="827"/>
            </a:lvl9pPr>
          </a:lstStyle>
          <a:p>
            <a:pPr lvl="0"/>
            <a:r>
              <a:rPr lang="en-US"/>
              <a:t>Click to edit Master text styles</a:t>
            </a:r>
          </a:p>
        </p:txBody>
      </p:sp>
      <p:sp>
        <p:nvSpPr>
          <p:cNvPr id="5" name="Date Placeholder 3">
            <a:extLst>
              <a:ext uri="{FF2B5EF4-FFF2-40B4-BE49-F238E27FC236}">
                <a16:creationId xmlns:a16="http://schemas.microsoft.com/office/drawing/2014/main" id="{2B0A9205-2195-D386-611F-0A8DCA8F6233}"/>
              </a:ext>
            </a:extLst>
          </p:cNvPr>
          <p:cNvSpPr>
            <a:spLocks noGrp="1"/>
          </p:cNvSpPr>
          <p:nvPr>
            <p:ph type="dt" sz="half" idx="10"/>
          </p:nvPr>
        </p:nvSpPr>
        <p:spPr/>
        <p:txBody>
          <a:bodyPr/>
          <a:lstStyle>
            <a:lvl1pPr>
              <a:defRPr/>
            </a:lvl1pPr>
          </a:lstStyle>
          <a:p>
            <a:pPr>
              <a:defRPr/>
            </a:pPr>
            <a:fld id="{AC452F04-8A97-4B2E-B123-7C7F3BC4784C}" type="datetimeFigureOut">
              <a:rPr lang="en-US"/>
              <a:pPr>
                <a:defRPr/>
              </a:pPr>
              <a:t>9/22/2024</a:t>
            </a:fld>
            <a:endParaRPr lang="en-US"/>
          </a:p>
        </p:txBody>
      </p:sp>
      <p:sp>
        <p:nvSpPr>
          <p:cNvPr id="6" name="Footer Placeholder 4">
            <a:extLst>
              <a:ext uri="{FF2B5EF4-FFF2-40B4-BE49-F238E27FC236}">
                <a16:creationId xmlns:a16="http://schemas.microsoft.com/office/drawing/2014/main" id="{70CFA7BC-7D57-7CFB-092D-245FFBCDD63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8A320C8-5330-E51E-547E-CC2C03227419}"/>
              </a:ext>
            </a:extLst>
          </p:cNvPr>
          <p:cNvSpPr>
            <a:spLocks noGrp="1"/>
          </p:cNvSpPr>
          <p:nvPr>
            <p:ph type="sldNum" sz="quarter" idx="12"/>
          </p:nvPr>
        </p:nvSpPr>
        <p:spPr/>
        <p:txBody>
          <a:bodyPr/>
          <a:lstStyle>
            <a:lvl1pPr>
              <a:defRPr/>
            </a:lvl1pPr>
          </a:lstStyle>
          <a:p>
            <a:pPr>
              <a:defRPr/>
            </a:pPr>
            <a:fld id="{8EAB3A6B-A832-46B4-8D86-F9554FBD4AA6}" type="slidenum">
              <a:rPr lang="en-US" altLang="en-US"/>
              <a:pPr>
                <a:defRPr/>
              </a:pPr>
              <a:t>‹#›</a:t>
            </a:fld>
            <a:endParaRPr lang="en-US" altLang="en-US"/>
          </a:p>
        </p:txBody>
      </p:sp>
    </p:spTree>
    <p:extLst>
      <p:ext uri="{BB962C8B-B14F-4D97-AF65-F5344CB8AC3E}">
        <p14:creationId xmlns:p14="http://schemas.microsoft.com/office/powerpoint/2010/main" val="2808510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5291772"/>
            <a:ext cx="6997914" cy="624724"/>
          </a:xfrm>
        </p:spPr>
        <p:txBody>
          <a:bodyPr anchor="b"/>
          <a:lstStyle>
            <a:lvl1pPr algn="l">
              <a:defRPr sz="2646" b="0"/>
            </a:lvl1pPr>
          </a:lstStyle>
          <a:p>
            <a:r>
              <a:rPr lang="en-US"/>
              <a:t>Click to edit Master title style</a:t>
            </a:r>
          </a:p>
        </p:txBody>
      </p:sp>
      <p:sp>
        <p:nvSpPr>
          <p:cNvPr id="3" name="Picture Placeholder 2"/>
          <p:cNvSpPr>
            <a:spLocks noGrp="1" noChangeAspect="1"/>
          </p:cNvSpPr>
          <p:nvPr>
            <p:ph type="pic" idx="1"/>
          </p:nvPr>
        </p:nvSpPr>
        <p:spPr>
          <a:xfrm>
            <a:off x="672041" y="671971"/>
            <a:ext cx="6997914"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en-US" noProof="0"/>
              <a:t>Click icon to add picture</a:t>
            </a:r>
          </a:p>
        </p:txBody>
      </p:sp>
      <p:sp>
        <p:nvSpPr>
          <p:cNvPr id="4" name="Text Placeholder 3"/>
          <p:cNvSpPr>
            <a:spLocks noGrp="1"/>
          </p:cNvSpPr>
          <p:nvPr>
            <p:ph type="body" sz="half" idx="2"/>
          </p:nvPr>
        </p:nvSpPr>
        <p:spPr>
          <a:xfrm>
            <a:off x="672041" y="5916496"/>
            <a:ext cx="6997914"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5" name="Date Placeholder 3">
            <a:extLst>
              <a:ext uri="{FF2B5EF4-FFF2-40B4-BE49-F238E27FC236}">
                <a16:creationId xmlns:a16="http://schemas.microsoft.com/office/drawing/2014/main" id="{E0085565-07B1-8A29-E8C2-3345B7B00571}"/>
              </a:ext>
            </a:extLst>
          </p:cNvPr>
          <p:cNvSpPr>
            <a:spLocks noGrp="1"/>
          </p:cNvSpPr>
          <p:nvPr>
            <p:ph type="dt" sz="half" idx="10"/>
          </p:nvPr>
        </p:nvSpPr>
        <p:spPr/>
        <p:txBody>
          <a:bodyPr/>
          <a:lstStyle>
            <a:lvl1pPr>
              <a:defRPr/>
            </a:lvl1pPr>
          </a:lstStyle>
          <a:p>
            <a:pPr>
              <a:defRPr/>
            </a:pPr>
            <a:fld id="{F3FC9FBF-5C19-4BC0-8A67-BBE4BF535398}" type="datetimeFigureOut">
              <a:rPr lang="en-US"/>
              <a:pPr>
                <a:defRPr/>
              </a:pPr>
              <a:t>9/22/2024</a:t>
            </a:fld>
            <a:endParaRPr lang="en-US"/>
          </a:p>
        </p:txBody>
      </p:sp>
      <p:sp>
        <p:nvSpPr>
          <p:cNvPr id="6" name="Footer Placeholder 4">
            <a:extLst>
              <a:ext uri="{FF2B5EF4-FFF2-40B4-BE49-F238E27FC236}">
                <a16:creationId xmlns:a16="http://schemas.microsoft.com/office/drawing/2014/main" id="{884522F5-E3E8-8C36-D3F7-184B959C2E1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AE2CDFF-6D5A-E9F8-4922-B602DEA0A49D}"/>
              </a:ext>
            </a:extLst>
          </p:cNvPr>
          <p:cNvSpPr>
            <a:spLocks noGrp="1"/>
          </p:cNvSpPr>
          <p:nvPr>
            <p:ph type="sldNum" sz="quarter" idx="12"/>
          </p:nvPr>
        </p:nvSpPr>
        <p:spPr/>
        <p:txBody>
          <a:bodyPr/>
          <a:lstStyle>
            <a:lvl1pPr>
              <a:defRPr/>
            </a:lvl1pPr>
          </a:lstStyle>
          <a:p>
            <a:pPr>
              <a:defRPr/>
            </a:pPr>
            <a:fld id="{1C7A6D83-A077-4B6F-9D66-3BA2367B0FC4}" type="slidenum">
              <a:rPr lang="en-US" altLang="en-US"/>
              <a:pPr>
                <a:defRPr/>
              </a:pPr>
              <a:t>‹#›</a:t>
            </a:fld>
            <a:endParaRPr lang="en-US" altLang="en-US"/>
          </a:p>
        </p:txBody>
      </p:sp>
    </p:spTree>
    <p:extLst>
      <p:ext uri="{BB962C8B-B14F-4D97-AF65-F5344CB8AC3E}">
        <p14:creationId xmlns:p14="http://schemas.microsoft.com/office/powerpoint/2010/main" val="1818786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3751839"/>
          </a:xfrm>
        </p:spPr>
        <p:txBody>
          <a:bodyPr anchor="ctr"/>
          <a:lstStyle>
            <a:lvl1pPr algn="l">
              <a:defRPr sz="4850" b="0" cap="none"/>
            </a:lvl1pPr>
          </a:lstStyle>
          <a:p>
            <a:r>
              <a:rPr lang="en-US"/>
              <a:t>Click to edit Master title style</a:t>
            </a:r>
          </a:p>
        </p:txBody>
      </p:sp>
      <p:sp>
        <p:nvSpPr>
          <p:cNvPr id="3" name="Text Placeholder 2"/>
          <p:cNvSpPr>
            <a:spLocks noGrp="1"/>
          </p:cNvSpPr>
          <p:nvPr>
            <p:ph type="body" idx="1"/>
          </p:nvPr>
        </p:nvSpPr>
        <p:spPr>
          <a:xfrm>
            <a:off x="672042" y="4927788"/>
            <a:ext cx="6997914"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AD3CA6-73F7-C3A2-7902-603714AF2CC4}"/>
              </a:ext>
            </a:extLst>
          </p:cNvPr>
          <p:cNvSpPr>
            <a:spLocks noGrp="1"/>
          </p:cNvSpPr>
          <p:nvPr>
            <p:ph type="dt" sz="half" idx="10"/>
          </p:nvPr>
        </p:nvSpPr>
        <p:spPr/>
        <p:txBody>
          <a:bodyPr/>
          <a:lstStyle>
            <a:lvl1pPr>
              <a:defRPr/>
            </a:lvl1pPr>
          </a:lstStyle>
          <a:p>
            <a:pPr>
              <a:defRPr/>
            </a:pPr>
            <a:fld id="{DDB7A02F-1AAF-407B-9E4A-42C8CA718242}" type="datetimeFigureOut">
              <a:rPr lang="en-US"/>
              <a:pPr>
                <a:defRPr/>
              </a:pPr>
              <a:t>9/22/2024</a:t>
            </a:fld>
            <a:endParaRPr lang="en-US"/>
          </a:p>
        </p:txBody>
      </p:sp>
      <p:sp>
        <p:nvSpPr>
          <p:cNvPr id="5" name="Footer Placeholder 4">
            <a:extLst>
              <a:ext uri="{FF2B5EF4-FFF2-40B4-BE49-F238E27FC236}">
                <a16:creationId xmlns:a16="http://schemas.microsoft.com/office/drawing/2014/main" id="{5AE022A7-2BAD-C40B-DE94-336CDDC3D75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A0C1C1E-CCF2-671A-BFE2-57EAC229BC8F}"/>
              </a:ext>
            </a:extLst>
          </p:cNvPr>
          <p:cNvSpPr>
            <a:spLocks noGrp="1"/>
          </p:cNvSpPr>
          <p:nvPr>
            <p:ph type="sldNum" sz="quarter" idx="12"/>
          </p:nvPr>
        </p:nvSpPr>
        <p:spPr/>
        <p:txBody>
          <a:bodyPr/>
          <a:lstStyle>
            <a:lvl1pPr>
              <a:defRPr/>
            </a:lvl1pPr>
          </a:lstStyle>
          <a:p>
            <a:pPr>
              <a:defRPr/>
            </a:pPr>
            <a:fld id="{BDAB09FD-58AB-4075-B21A-53E90949555E}" type="slidenum">
              <a:rPr lang="en-US" altLang="en-US"/>
              <a:pPr>
                <a:defRPr/>
              </a:pPr>
              <a:t>‹#›</a:t>
            </a:fld>
            <a:endParaRPr lang="en-US" altLang="en-US"/>
          </a:p>
        </p:txBody>
      </p:sp>
    </p:spTree>
    <p:extLst>
      <p:ext uri="{BB962C8B-B14F-4D97-AF65-F5344CB8AC3E}">
        <p14:creationId xmlns:p14="http://schemas.microsoft.com/office/powerpoint/2010/main" val="4230523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546BA46-089B-3880-93DB-1EAC9F0FA720}"/>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a:ln w="3175" cmpd="sng">
                  <a:noFill/>
                </a:ln>
                <a:solidFill>
                  <a:schemeClr val="accent1">
                    <a:lumMod val="60000"/>
                    <a:lumOff val="40000"/>
                  </a:schemeClr>
                </a:solidFill>
                <a:latin typeface="Arial"/>
              </a:rPr>
              <a:t>“</a:t>
            </a:r>
          </a:p>
        </p:txBody>
      </p:sp>
      <p:sp>
        <p:nvSpPr>
          <p:cNvPr id="5" name="TextBox 4">
            <a:extLst>
              <a:ext uri="{FF2B5EF4-FFF2-40B4-BE49-F238E27FC236}">
                <a16:creationId xmlns:a16="http://schemas.microsoft.com/office/drawing/2014/main" id="{23B39FE9-E124-5B6F-D04B-D75BE7552A45}"/>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p>
        </p:txBody>
      </p:sp>
      <p:sp>
        <p:nvSpPr>
          <p:cNvPr id="23" name="Text Placeholder 9"/>
          <p:cNvSpPr>
            <a:spLocks noGrp="1"/>
          </p:cNvSpPr>
          <p:nvPr>
            <p:ph type="body" sz="quarter" idx="13"/>
          </p:nvPr>
        </p:nvSpPr>
        <p:spPr>
          <a:xfrm>
            <a:off x="1213857" y="4003828"/>
            <a:ext cx="5974958"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27788"/>
            <a:ext cx="6997915"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B9895267-B344-9337-A35E-70554F60E9F1}"/>
              </a:ext>
            </a:extLst>
          </p:cNvPr>
          <p:cNvSpPr>
            <a:spLocks noGrp="1"/>
          </p:cNvSpPr>
          <p:nvPr>
            <p:ph type="dt" sz="half" idx="14"/>
          </p:nvPr>
        </p:nvSpPr>
        <p:spPr/>
        <p:txBody>
          <a:bodyPr/>
          <a:lstStyle>
            <a:lvl1pPr>
              <a:defRPr/>
            </a:lvl1pPr>
          </a:lstStyle>
          <a:p>
            <a:pPr>
              <a:defRPr/>
            </a:pPr>
            <a:fld id="{9CDD3916-68E8-4929-9EF5-123A20201549}" type="datetimeFigureOut">
              <a:rPr lang="en-US"/>
              <a:pPr>
                <a:defRPr/>
              </a:pPr>
              <a:t>9/22/2024</a:t>
            </a:fld>
            <a:endParaRPr lang="en-US"/>
          </a:p>
        </p:txBody>
      </p:sp>
      <p:sp>
        <p:nvSpPr>
          <p:cNvPr id="7" name="Footer Placeholder 4">
            <a:extLst>
              <a:ext uri="{FF2B5EF4-FFF2-40B4-BE49-F238E27FC236}">
                <a16:creationId xmlns:a16="http://schemas.microsoft.com/office/drawing/2014/main" id="{6ADA50C4-7062-0B47-89EA-7BC7ECF57AFE}"/>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BFF8A169-D87A-8FA2-FA4C-551D37E22705}"/>
              </a:ext>
            </a:extLst>
          </p:cNvPr>
          <p:cNvSpPr>
            <a:spLocks noGrp="1"/>
          </p:cNvSpPr>
          <p:nvPr>
            <p:ph type="sldNum" sz="quarter" idx="16"/>
          </p:nvPr>
        </p:nvSpPr>
        <p:spPr/>
        <p:txBody>
          <a:bodyPr/>
          <a:lstStyle>
            <a:lvl1pPr>
              <a:defRPr smtClean="0"/>
            </a:lvl1pPr>
          </a:lstStyle>
          <a:p>
            <a:pPr>
              <a:defRPr/>
            </a:pPr>
            <a:fld id="{2E07553E-D4E6-4B20-94B3-CA85694CA3DA}" type="slidenum">
              <a:rPr lang="en-US" altLang="en-US"/>
              <a:pPr>
                <a:defRPr/>
              </a:pPr>
              <a:t>‹#›</a:t>
            </a:fld>
            <a:endParaRPr lang="en-US" altLang="en-US"/>
          </a:p>
        </p:txBody>
      </p:sp>
    </p:spTree>
    <p:extLst>
      <p:ext uri="{BB962C8B-B14F-4D97-AF65-F5344CB8AC3E}">
        <p14:creationId xmlns:p14="http://schemas.microsoft.com/office/powerpoint/2010/main" val="15163445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2040" y="2129659"/>
            <a:ext cx="6997915" cy="2861014"/>
          </a:xfrm>
        </p:spPr>
        <p:txBody>
          <a:bodyPr anchor="b"/>
          <a:lstStyle>
            <a:lvl1pPr algn="l">
              <a:defRPr sz="4850" b="0" cap="none"/>
            </a:lvl1pPr>
          </a:lstStyle>
          <a:p>
            <a:r>
              <a:rPr lang="en-US"/>
              <a:t>Click to edit Master title style</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4FFD77-16C2-C618-37D5-FD61A92D3BB4}"/>
              </a:ext>
            </a:extLst>
          </p:cNvPr>
          <p:cNvSpPr>
            <a:spLocks noGrp="1"/>
          </p:cNvSpPr>
          <p:nvPr>
            <p:ph type="dt" sz="half" idx="10"/>
          </p:nvPr>
        </p:nvSpPr>
        <p:spPr/>
        <p:txBody>
          <a:bodyPr/>
          <a:lstStyle>
            <a:lvl1pPr>
              <a:defRPr/>
            </a:lvl1pPr>
          </a:lstStyle>
          <a:p>
            <a:pPr>
              <a:defRPr/>
            </a:pPr>
            <a:fld id="{0E1661D7-E5FC-4102-A342-BEF90F30A98E}" type="datetimeFigureOut">
              <a:rPr lang="en-US"/>
              <a:pPr>
                <a:defRPr/>
              </a:pPr>
              <a:t>9/22/2024</a:t>
            </a:fld>
            <a:endParaRPr lang="en-US"/>
          </a:p>
        </p:txBody>
      </p:sp>
      <p:sp>
        <p:nvSpPr>
          <p:cNvPr id="5" name="Footer Placeholder 4">
            <a:extLst>
              <a:ext uri="{FF2B5EF4-FFF2-40B4-BE49-F238E27FC236}">
                <a16:creationId xmlns:a16="http://schemas.microsoft.com/office/drawing/2014/main" id="{A794AFB8-3DB7-6E5A-2115-D83A311D878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732779C-C8AD-8CD2-495F-4ED77EEE71B2}"/>
              </a:ext>
            </a:extLst>
          </p:cNvPr>
          <p:cNvSpPr>
            <a:spLocks noGrp="1"/>
          </p:cNvSpPr>
          <p:nvPr>
            <p:ph type="sldNum" sz="quarter" idx="12"/>
          </p:nvPr>
        </p:nvSpPr>
        <p:spPr/>
        <p:txBody>
          <a:bodyPr/>
          <a:lstStyle>
            <a:lvl1pPr>
              <a:defRPr/>
            </a:lvl1pPr>
          </a:lstStyle>
          <a:p>
            <a:pPr>
              <a:defRPr/>
            </a:pPr>
            <a:fld id="{7679DDE6-6477-44CD-B977-75FBFA2CF5B6}" type="slidenum">
              <a:rPr lang="en-US" altLang="en-US"/>
              <a:pPr>
                <a:defRPr/>
              </a:pPr>
              <a:t>‹#›</a:t>
            </a:fld>
            <a:endParaRPr lang="en-US" altLang="en-US"/>
          </a:p>
        </p:txBody>
      </p:sp>
    </p:spTree>
    <p:extLst>
      <p:ext uri="{BB962C8B-B14F-4D97-AF65-F5344CB8AC3E}">
        <p14:creationId xmlns:p14="http://schemas.microsoft.com/office/powerpoint/2010/main" val="24741269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F78705-F4E0-80DC-892C-53B188143031}"/>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a:ln w="3175" cmpd="sng">
                  <a:noFill/>
                </a:ln>
                <a:solidFill>
                  <a:schemeClr val="accent1">
                    <a:lumMod val="60000"/>
                    <a:lumOff val="40000"/>
                  </a:schemeClr>
                </a:solidFill>
                <a:latin typeface="Arial"/>
              </a:rPr>
              <a:t>“</a:t>
            </a:r>
          </a:p>
        </p:txBody>
      </p:sp>
      <p:sp>
        <p:nvSpPr>
          <p:cNvPr id="5" name="TextBox 4">
            <a:extLst>
              <a:ext uri="{FF2B5EF4-FFF2-40B4-BE49-F238E27FC236}">
                <a16:creationId xmlns:a16="http://schemas.microsoft.com/office/drawing/2014/main" id="{DCB84DA9-C6EA-D705-9440-F671C9663668}"/>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B69270EC-5DB5-1354-20B1-16125262C324}"/>
              </a:ext>
            </a:extLst>
          </p:cNvPr>
          <p:cNvSpPr>
            <a:spLocks noGrp="1"/>
          </p:cNvSpPr>
          <p:nvPr>
            <p:ph type="dt" sz="half" idx="14"/>
          </p:nvPr>
        </p:nvSpPr>
        <p:spPr/>
        <p:txBody>
          <a:bodyPr/>
          <a:lstStyle>
            <a:lvl1pPr>
              <a:defRPr/>
            </a:lvl1pPr>
          </a:lstStyle>
          <a:p>
            <a:pPr>
              <a:defRPr/>
            </a:pPr>
            <a:fld id="{9FF555C2-2994-47CB-AA6A-EFDE45503458}" type="datetimeFigureOut">
              <a:rPr lang="en-US"/>
              <a:pPr>
                <a:defRPr/>
              </a:pPr>
              <a:t>9/22/2024</a:t>
            </a:fld>
            <a:endParaRPr lang="en-US"/>
          </a:p>
        </p:txBody>
      </p:sp>
      <p:sp>
        <p:nvSpPr>
          <p:cNvPr id="7" name="Footer Placeholder 4">
            <a:extLst>
              <a:ext uri="{FF2B5EF4-FFF2-40B4-BE49-F238E27FC236}">
                <a16:creationId xmlns:a16="http://schemas.microsoft.com/office/drawing/2014/main" id="{D0BEA2ED-E437-74B4-3674-3A89BD21125E}"/>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3F987ED3-0C89-45CC-40F0-AD142584B53A}"/>
              </a:ext>
            </a:extLst>
          </p:cNvPr>
          <p:cNvSpPr>
            <a:spLocks noGrp="1"/>
          </p:cNvSpPr>
          <p:nvPr>
            <p:ph type="sldNum" sz="quarter" idx="16"/>
          </p:nvPr>
        </p:nvSpPr>
        <p:spPr/>
        <p:txBody>
          <a:bodyPr/>
          <a:lstStyle>
            <a:lvl1pPr>
              <a:defRPr smtClean="0"/>
            </a:lvl1pPr>
          </a:lstStyle>
          <a:p>
            <a:pPr>
              <a:defRPr/>
            </a:pPr>
            <a:fld id="{E9BFEC9C-0DE5-4573-8AAA-C2C4DCCF71FB}" type="slidenum">
              <a:rPr lang="en-US" altLang="en-US"/>
              <a:pPr>
                <a:defRPr/>
              </a:pPr>
              <a:t>‹#›</a:t>
            </a:fld>
            <a:endParaRPr lang="en-US" altLang="en-US"/>
          </a:p>
        </p:txBody>
      </p:sp>
    </p:spTree>
    <p:extLst>
      <p:ext uri="{BB962C8B-B14F-4D97-AF65-F5344CB8AC3E}">
        <p14:creationId xmlns:p14="http://schemas.microsoft.com/office/powerpoint/2010/main" val="18296190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78930" y="671971"/>
            <a:ext cx="6991025" cy="3331857"/>
          </a:xfrm>
        </p:spPr>
        <p:txBody>
          <a:bodyPr anchor="ctr"/>
          <a:lstStyle>
            <a:lvl1pPr algn="l">
              <a:defRPr sz="4850" b="0" cap="none"/>
            </a:lvl1pPr>
          </a:lstStyle>
          <a:p>
            <a:r>
              <a:rPr lang="en-US"/>
              <a:t>Click to edit Master title style</a:t>
            </a:r>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E468F1-5969-8018-8A9B-AC95BE08B57F}"/>
              </a:ext>
            </a:extLst>
          </p:cNvPr>
          <p:cNvSpPr>
            <a:spLocks noGrp="1"/>
          </p:cNvSpPr>
          <p:nvPr>
            <p:ph type="dt" sz="half" idx="14"/>
          </p:nvPr>
        </p:nvSpPr>
        <p:spPr/>
        <p:txBody>
          <a:bodyPr/>
          <a:lstStyle>
            <a:lvl1pPr>
              <a:defRPr/>
            </a:lvl1pPr>
          </a:lstStyle>
          <a:p>
            <a:pPr>
              <a:defRPr/>
            </a:pPr>
            <a:fld id="{1C723F6C-2B62-4E4F-AC7F-0F8368CC1497}" type="datetimeFigureOut">
              <a:rPr lang="en-US"/>
              <a:pPr>
                <a:defRPr/>
              </a:pPr>
              <a:t>9/22/2024</a:t>
            </a:fld>
            <a:endParaRPr lang="en-US"/>
          </a:p>
        </p:txBody>
      </p:sp>
      <p:sp>
        <p:nvSpPr>
          <p:cNvPr id="5" name="Footer Placeholder 4">
            <a:extLst>
              <a:ext uri="{FF2B5EF4-FFF2-40B4-BE49-F238E27FC236}">
                <a16:creationId xmlns:a16="http://schemas.microsoft.com/office/drawing/2014/main" id="{1C94B4EE-5689-75F2-38DD-849AB0F56995}"/>
              </a:ext>
            </a:extLst>
          </p:cNvPr>
          <p:cNvSpPr>
            <a:spLocks noGrp="1"/>
          </p:cNvSpPr>
          <p:nvPr>
            <p:ph type="ftr" sz="quarter" idx="15"/>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56ACF02-2975-FF5A-ABB3-E97B0F1DBC20}"/>
              </a:ext>
            </a:extLst>
          </p:cNvPr>
          <p:cNvSpPr>
            <a:spLocks noGrp="1"/>
          </p:cNvSpPr>
          <p:nvPr>
            <p:ph type="sldNum" sz="quarter" idx="16"/>
          </p:nvPr>
        </p:nvSpPr>
        <p:spPr/>
        <p:txBody>
          <a:bodyPr/>
          <a:lstStyle>
            <a:lvl1pPr>
              <a:defRPr/>
            </a:lvl1pPr>
          </a:lstStyle>
          <a:p>
            <a:pPr>
              <a:defRPr/>
            </a:pPr>
            <a:fld id="{0CF69A59-C775-44D3-8808-E0640D7B919A}" type="slidenum">
              <a:rPr lang="en-US" altLang="en-US"/>
              <a:pPr>
                <a:defRPr/>
              </a:pPr>
              <a:t>‹#›</a:t>
            </a:fld>
            <a:endParaRPr lang="en-US" altLang="en-US"/>
          </a:p>
        </p:txBody>
      </p:sp>
    </p:spTree>
    <p:extLst>
      <p:ext uri="{BB962C8B-B14F-4D97-AF65-F5344CB8AC3E}">
        <p14:creationId xmlns:p14="http://schemas.microsoft.com/office/powerpoint/2010/main" val="11896422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877A1A-7B3B-011E-FD22-F5D013AA93EF}"/>
              </a:ext>
            </a:extLst>
          </p:cNvPr>
          <p:cNvSpPr>
            <a:spLocks noGrp="1"/>
          </p:cNvSpPr>
          <p:nvPr>
            <p:ph type="dt" sz="half" idx="10"/>
          </p:nvPr>
        </p:nvSpPr>
        <p:spPr/>
        <p:txBody>
          <a:bodyPr/>
          <a:lstStyle>
            <a:lvl1pPr>
              <a:defRPr/>
            </a:lvl1pPr>
          </a:lstStyle>
          <a:p>
            <a:pPr>
              <a:defRPr/>
            </a:pPr>
            <a:fld id="{47F0F9CB-FEB0-4E77-BF75-8E1A5B099E26}" type="datetimeFigureOut">
              <a:rPr lang="en-US"/>
              <a:pPr>
                <a:defRPr/>
              </a:pPr>
              <a:t>9/22/2024</a:t>
            </a:fld>
            <a:endParaRPr lang="en-US"/>
          </a:p>
        </p:txBody>
      </p:sp>
      <p:sp>
        <p:nvSpPr>
          <p:cNvPr id="5" name="Footer Placeholder 4">
            <a:extLst>
              <a:ext uri="{FF2B5EF4-FFF2-40B4-BE49-F238E27FC236}">
                <a16:creationId xmlns:a16="http://schemas.microsoft.com/office/drawing/2014/main" id="{C7EA8426-9FA1-1189-F2F1-84EF1CD2D24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47E2822-2F52-7734-39DC-62D630E8F4DF}"/>
              </a:ext>
            </a:extLst>
          </p:cNvPr>
          <p:cNvSpPr>
            <a:spLocks noGrp="1"/>
          </p:cNvSpPr>
          <p:nvPr>
            <p:ph type="sldNum" sz="quarter" idx="12"/>
          </p:nvPr>
        </p:nvSpPr>
        <p:spPr/>
        <p:txBody>
          <a:bodyPr/>
          <a:lstStyle>
            <a:lvl1pPr>
              <a:defRPr/>
            </a:lvl1pPr>
          </a:lstStyle>
          <a:p>
            <a:pPr>
              <a:defRPr/>
            </a:pPr>
            <a:fld id="{559528D9-9082-425B-9270-9ECEB239551B}" type="slidenum">
              <a:rPr lang="en-US" altLang="en-US"/>
              <a:pPr>
                <a:defRPr/>
              </a:pPr>
              <a:t>‹#›</a:t>
            </a:fld>
            <a:endParaRPr lang="en-US" altLang="en-US"/>
          </a:p>
        </p:txBody>
      </p:sp>
    </p:spTree>
    <p:extLst>
      <p:ext uri="{BB962C8B-B14F-4D97-AF65-F5344CB8AC3E}">
        <p14:creationId xmlns:p14="http://schemas.microsoft.com/office/powerpoint/2010/main" val="37216340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572" y="671972"/>
            <a:ext cx="1079072" cy="5788752"/>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2041" y="671972"/>
            <a:ext cx="5727155" cy="57887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4BF616-17AD-5B4D-FD18-B5EA394BD2D9}"/>
              </a:ext>
            </a:extLst>
          </p:cNvPr>
          <p:cNvSpPr>
            <a:spLocks noGrp="1"/>
          </p:cNvSpPr>
          <p:nvPr>
            <p:ph type="dt" sz="half" idx="10"/>
          </p:nvPr>
        </p:nvSpPr>
        <p:spPr/>
        <p:txBody>
          <a:bodyPr/>
          <a:lstStyle>
            <a:lvl1pPr>
              <a:defRPr/>
            </a:lvl1pPr>
          </a:lstStyle>
          <a:p>
            <a:pPr>
              <a:defRPr/>
            </a:pPr>
            <a:fld id="{F78255B7-33B9-4347-9121-69221A4637F9}" type="datetimeFigureOut">
              <a:rPr lang="en-US"/>
              <a:pPr>
                <a:defRPr/>
              </a:pPr>
              <a:t>9/22/2024</a:t>
            </a:fld>
            <a:endParaRPr lang="en-US"/>
          </a:p>
        </p:txBody>
      </p:sp>
      <p:sp>
        <p:nvSpPr>
          <p:cNvPr id="5" name="Footer Placeholder 4">
            <a:extLst>
              <a:ext uri="{FF2B5EF4-FFF2-40B4-BE49-F238E27FC236}">
                <a16:creationId xmlns:a16="http://schemas.microsoft.com/office/drawing/2014/main" id="{2DAEF674-B079-D9A5-99E4-99F1F4F525B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E4D825E-EDA7-41BE-BE57-66BCCD2A6B59}"/>
              </a:ext>
            </a:extLst>
          </p:cNvPr>
          <p:cNvSpPr>
            <a:spLocks noGrp="1"/>
          </p:cNvSpPr>
          <p:nvPr>
            <p:ph type="sldNum" sz="quarter" idx="12"/>
          </p:nvPr>
        </p:nvSpPr>
        <p:spPr/>
        <p:txBody>
          <a:bodyPr/>
          <a:lstStyle>
            <a:lvl1pPr>
              <a:defRPr/>
            </a:lvl1pPr>
          </a:lstStyle>
          <a:p>
            <a:pPr>
              <a:defRPr/>
            </a:pPr>
            <a:fld id="{62B84F5C-1ADD-47F5-96DA-76102E265F5F}" type="slidenum">
              <a:rPr lang="en-US" altLang="en-US"/>
              <a:pPr>
                <a:defRPr/>
              </a:pPr>
              <a:t>‹#›</a:t>
            </a:fld>
            <a:endParaRPr lang="en-US" altLang="en-US"/>
          </a:p>
        </p:txBody>
      </p:sp>
    </p:spTree>
    <p:extLst>
      <p:ext uri="{BB962C8B-B14F-4D97-AF65-F5344CB8AC3E}">
        <p14:creationId xmlns:p14="http://schemas.microsoft.com/office/powerpoint/2010/main" val="1753519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6">
            <a:extLst>
              <a:ext uri="{FF2B5EF4-FFF2-40B4-BE49-F238E27FC236}">
                <a16:creationId xmlns:a16="http://schemas.microsoft.com/office/drawing/2014/main" id="{B5A28688-3E47-4637-D00B-58F5C99E874A}"/>
              </a:ext>
            </a:extLst>
          </p:cNvPr>
          <p:cNvGrpSpPr>
            <a:grpSpLocks/>
          </p:cNvGrpSpPr>
          <p:nvPr/>
        </p:nvGrpSpPr>
        <p:grpSpPr bwMode="auto">
          <a:xfrm>
            <a:off x="-9525" y="-9525"/>
            <a:ext cx="10110788" cy="7578725"/>
            <a:chOff x="-8467" y="-8468"/>
            <a:chExt cx="9171317" cy="6874935"/>
          </a:xfrm>
        </p:grpSpPr>
        <p:sp>
          <p:nvSpPr>
            <p:cNvPr id="7" name="Freeform 6">
              <a:extLst>
                <a:ext uri="{FF2B5EF4-FFF2-40B4-BE49-F238E27FC236}">
                  <a16:creationId xmlns:a16="http://schemas.microsoft.com/office/drawing/2014/main" id="{D540E1E2-EE74-FDFE-89BD-FC0FE8D92B35}"/>
                </a:ext>
              </a:extLst>
            </p:cNvPr>
            <p:cNvSpPr/>
            <p:nvPr/>
          </p:nvSpPr>
          <p:spPr>
            <a:xfrm>
              <a:off x="-8467" y="4013672"/>
              <a:ext cx="457918" cy="2852795"/>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a:extLst>
                <a:ext uri="{FF2B5EF4-FFF2-40B4-BE49-F238E27FC236}">
                  <a16:creationId xmlns:a16="http://schemas.microsoft.com/office/drawing/2014/main" id="{6D3ED13A-CE4E-EBBA-005B-C14149941C6B}"/>
                </a:ext>
              </a:extLst>
            </p:cNvPr>
            <p:cNvCxnSpPr/>
            <p:nvPr/>
          </p:nvCxnSpPr>
          <p:spPr>
            <a:xfrm flipV="1">
              <a:off x="5130869"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C3E2F81-92DD-14C0-099E-7726C2DCAA96}"/>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79628424-67A5-8824-A40D-E4D22020E3F3}"/>
                </a:ext>
              </a:extLst>
            </p:cNvPr>
            <p:cNvSpPr/>
            <p:nvPr/>
          </p:nvSpPr>
          <p:spPr>
            <a:xfrm>
              <a:off x="6891980"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a:extLst>
                <a:ext uri="{FF2B5EF4-FFF2-40B4-BE49-F238E27FC236}">
                  <a16:creationId xmlns:a16="http://schemas.microsoft.com/office/drawing/2014/main" id="{735E300B-A2FC-447C-466D-DAAA7E635F03}"/>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a:extLst>
                <a:ext uri="{FF2B5EF4-FFF2-40B4-BE49-F238E27FC236}">
                  <a16:creationId xmlns:a16="http://schemas.microsoft.com/office/drawing/2014/main" id="{079002E1-D33C-7446-1305-5892D2317774}"/>
                </a:ext>
              </a:extLst>
            </p:cNvPr>
            <p:cNvSpPr/>
            <p:nvPr/>
          </p:nvSpPr>
          <p:spPr>
            <a:xfrm>
              <a:off x="6638542" y="3920066"/>
              <a:ext cx="2512789"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a:extLst>
                <a:ext uri="{FF2B5EF4-FFF2-40B4-BE49-F238E27FC236}">
                  <a16:creationId xmlns:a16="http://schemas.microsoft.com/office/drawing/2014/main" id="{EF80F614-84D2-938C-D635-74B5E547B8D5}"/>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a:extLst>
                <a:ext uri="{FF2B5EF4-FFF2-40B4-BE49-F238E27FC236}">
                  <a16:creationId xmlns:a16="http://schemas.microsoft.com/office/drawing/2014/main" id="{1226C5BD-A09E-D82D-DAD3-01867F26FF06}"/>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a:extLst>
                <a:ext uri="{FF2B5EF4-FFF2-40B4-BE49-F238E27FC236}">
                  <a16:creationId xmlns:a16="http://schemas.microsoft.com/office/drawing/2014/main" id="{25A4A945-A18F-028B-63FF-E94FB6521ED5}"/>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a:extLst>
                <a:ext uri="{FF2B5EF4-FFF2-40B4-BE49-F238E27FC236}">
                  <a16:creationId xmlns:a16="http://schemas.microsoft.com/office/drawing/2014/main" id="{AE57F174-ED23-EBC7-0F34-8C7F456EBE16}"/>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27" name="Title Placeholder 1">
            <a:extLst>
              <a:ext uri="{FF2B5EF4-FFF2-40B4-BE49-F238E27FC236}">
                <a16:creationId xmlns:a16="http://schemas.microsoft.com/office/drawing/2014/main" id="{B914E873-4BE4-38C0-B4C8-F95F241DB3AF}"/>
              </a:ext>
            </a:extLst>
          </p:cNvPr>
          <p:cNvSpPr>
            <a:spLocks noGrp="1" noChangeArrowheads="1"/>
          </p:cNvSpPr>
          <p:nvPr>
            <p:ph type="title"/>
          </p:nvPr>
        </p:nvSpPr>
        <p:spPr bwMode="auto">
          <a:xfrm>
            <a:off x="671513" y="671513"/>
            <a:ext cx="6997700"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525A1264-4C8B-D6D6-53CA-1184E24CAEDF}"/>
              </a:ext>
            </a:extLst>
          </p:cNvPr>
          <p:cNvSpPr>
            <a:spLocks noGrp="1" noChangeArrowheads="1"/>
          </p:cNvSpPr>
          <p:nvPr>
            <p:ph type="body" idx="1"/>
          </p:nvPr>
        </p:nvSpPr>
        <p:spPr bwMode="auto">
          <a:xfrm>
            <a:off x="671513" y="2381250"/>
            <a:ext cx="69977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E05D3EF0-AB24-027B-D1BD-968AE539BF97}"/>
              </a:ext>
            </a:extLst>
          </p:cNvPr>
          <p:cNvSpPr>
            <a:spLocks noGrp="1"/>
          </p:cNvSpPr>
          <p:nvPr>
            <p:ph type="dt" sz="half" idx="2"/>
          </p:nvPr>
        </p:nvSpPr>
        <p:spPr>
          <a:xfrm>
            <a:off x="5959475" y="6659563"/>
            <a:ext cx="754063" cy="401637"/>
          </a:xfrm>
          <a:prstGeom prst="rect">
            <a:avLst/>
          </a:prstGeom>
        </p:spPr>
        <p:txBody>
          <a:bodyPr vert="horz" lIns="91440" tIns="45720" rIns="91440" bIns="45720" rtlCol="0" anchor="ctr"/>
          <a:lstStyle>
            <a:lvl1pPr algn="r" eaLnBrk="1" fontAlgn="auto" hangingPunct="1">
              <a:spcBef>
                <a:spcPts val="0"/>
              </a:spcBef>
              <a:spcAft>
                <a:spcPts val="0"/>
              </a:spcAft>
              <a:defRPr sz="992">
                <a:solidFill>
                  <a:schemeClr val="tx1">
                    <a:tint val="75000"/>
                  </a:schemeClr>
                </a:solidFill>
                <a:latin typeface="+mn-lt"/>
              </a:defRPr>
            </a:lvl1pPr>
          </a:lstStyle>
          <a:p>
            <a:pPr>
              <a:defRPr/>
            </a:pPr>
            <a:fld id="{0D05C049-791E-43ED-B487-1F394455502C}" type="datetimeFigureOut">
              <a:rPr lang="en-US"/>
              <a:pPr>
                <a:defRPr/>
              </a:pPr>
              <a:t>9/22/2024</a:t>
            </a:fld>
            <a:endParaRPr lang="en-US"/>
          </a:p>
        </p:txBody>
      </p:sp>
      <p:sp>
        <p:nvSpPr>
          <p:cNvPr id="5" name="Footer Placeholder 4">
            <a:extLst>
              <a:ext uri="{FF2B5EF4-FFF2-40B4-BE49-F238E27FC236}">
                <a16:creationId xmlns:a16="http://schemas.microsoft.com/office/drawing/2014/main" id="{D51BFCAE-63D3-37DE-65F5-EFAD387E0985}"/>
              </a:ext>
            </a:extLst>
          </p:cNvPr>
          <p:cNvSpPr>
            <a:spLocks noGrp="1"/>
          </p:cNvSpPr>
          <p:nvPr>
            <p:ph type="ftr" sz="quarter" idx="3"/>
          </p:nvPr>
        </p:nvSpPr>
        <p:spPr>
          <a:xfrm>
            <a:off x="671513" y="6659563"/>
            <a:ext cx="5097462" cy="401637"/>
          </a:xfrm>
          <a:prstGeom prst="rect">
            <a:avLst/>
          </a:prstGeom>
        </p:spPr>
        <p:txBody>
          <a:bodyPr vert="horz" lIns="91440" tIns="45720" rIns="91440" bIns="45720" rtlCol="0" anchor="ctr"/>
          <a:lstStyle>
            <a:lvl1pPr algn="l" eaLnBrk="1" fontAlgn="auto" hangingPunct="1">
              <a:spcBef>
                <a:spcPts val="0"/>
              </a:spcBef>
              <a:spcAft>
                <a:spcPts val="0"/>
              </a:spcAft>
              <a:defRPr sz="992">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420C9BC7-F798-457F-AE48-2A16D7611858}"/>
              </a:ext>
            </a:extLst>
          </p:cNvPr>
          <p:cNvSpPr>
            <a:spLocks noGrp="1"/>
          </p:cNvSpPr>
          <p:nvPr>
            <p:ph type="sldNum" sz="quarter" idx="4"/>
          </p:nvPr>
        </p:nvSpPr>
        <p:spPr>
          <a:xfrm>
            <a:off x="7104063" y="6659563"/>
            <a:ext cx="565150" cy="401637"/>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smtClean="0">
                <a:solidFill>
                  <a:schemeClr val="accent1"/>
                </a:solidFill>
              </a:defRPr>
            </a:lvl1pPr>
          </a:lstStyle>
          <a:p>
            <a:pPr>
              <a:defRPr/>
            </a:pPr>
            <a:fld id="{FF432EDF-FC6E-418A-86CE-F221937DA35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91"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92" r:id="rId11"/>
    <p:sldLayoutId id="2147483887" r:id="rId12"/>
    <p:sldLayoutId id="2147483893" r:id="rId13"/>
    <p:sldLayoutId id="2147483888" r:id="rId14"/>
    <p:sldLayoutId id="2147483889" r:id="rId15"/>
    <p:sldLayoutId id="2147483890" r:id="rId16"/>
  </p:sldLayoutIdLst>
  <p:txStyles>
    <p:titleStyle>
      <a:lvl1pPr algn="l" defTabSz="503238" rtl="0" eaLnBrk="0" fontAlgn="base" hangingPunct="0">
        <a:spcBef>
          <a:spcPct val="0"/>
        </a:spcBef>
        <a:spcAft>
          <a:spcPct val="0"/>
        </a:spcAft>
        <a:defRPr sz="3900" kern="1200">
          <a:solidFill>
            <a:schemeClr val="accent1"/>
          </a:solidFill>
          <a:latin typeface="+mj-lt"/>
          <a:ea typeface="+mj-ea"/>
          <a:cs typeface="+mj-cs"/>
        </a:defRPr>
      </a:lvl1pPr>
      <a:lvl2pPr algn="l" defTabSz="503238"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238"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238"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238"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mn-lt"/>
          <a:ea typeface="+mn-ea"/>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700" kern="1200">
          <a:solidFill>
            <a:srgbClr val="404040"/>
          </a:solidFill>
          <a:latin typeface="+mn-lt"/>
          <a:ea typeface="+mn-ea"/>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500" kern="1200">
          <a:solidFill>
            <a:srgbClr val="404040"/>
          </a:solidFill>
          <a:latin typeface="+mn-lt"/>
          <a:ea typeface="+mn-ea"/>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109/ACCESS.2020.3012047&#8203;"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s://ieeexplore.ieee.org/document/9465655" TargetMode="External"/><Relationship Id="rId4" Type="http://schemas.openxmlformats.org/officeDocument/2006/relationships/hyperlink" Target="https://doi.org/10.1109/ACCESS.2019.2895252&#8203;"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doi.org/10.1109/ACCESS.2021.3077004&amp;#8203;:contentReference[oaicite:0]{index=0}"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https://doi.org/10.1109/ACCESS.2020.2976725&amp;#8203;:contentReference[oaicite:1]{index=1}." TargetMode="External"/><Relationship Id="rId4" Type="http://schemas.openxmlformats.org/officeDocument/2006/relationships/hyperlink" Target="https://ieeexplore.ieee.org/document/9465655%E2%80%8B"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1109/ACCESS.2019.2895252&#8203;&#8203;%20%20&#8203;"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ieeexplore.ieee.org/document/978184029" TargetMode="External"/><Relationship Id="rId4" Type="http://schemas.openxmlformats.org/officeDocument/2006/relationships/hyperlink" Target="https://doi.org/10.1109/ACCESS.2020.3012047&#8203;"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21203/rs.3.rs-2599921/v1"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hyperlink" Target="https://doi.org/10.1109/NILES52871.2021.9663754" TargetMode="External"/><Relationship Id="rId4" Type="http://schemas.openxmlformats.org/officeDocument/2006/relationships/hyperlink" Target="https://doi.org/10.3390/math8091441"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doi.org/10.1007/978-981-33-4187-1_8"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ieeexplore.ieee.org/document/123456789"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D770D46C-0D55-4727-BA61-83ED2D8C696C}"/>
              </a:ext>
            </a:extLst>
          </p:cNvPr>
          <p:cNvSpPr>
            <a:spLocks noChangeArrowheads="1"/>
          </p:cNvSpPr>
          <p:nvPr/>
        </p:nvSpPr>
        <p:spPr bwMode="auto">
          <a:xfrm>
            <a:off x="503238" y="1768475"/>
            <a:ext cx="9070975" cy="5467350"/>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lgn="ctr">
              <a:spcBef>
                <a:spcPts val="0"/>
              </a:spcBef>
              <a:spcAft>
                <a:spcPts val="0"/>
              </a:spcAft>
              <a:defRPr/>
            </a:pPr>
            <a:r>
              <a:rPr lang="en-IN" sz="3600">
                <a:solidFill>
                  <a:srgbClr val="000000"/>
                </a:solidFill>
                <a:effectLst>
                  <a:outerShdw blurRad="38100" dist="38100" dir="2700000" algn="tl">
                    <a:srgbClr val="000000">
                      <a:alpha val="43137"/>
                    </a:srgbClr>
                  </a:outerShdw>
                </a:effectLst>
                <a:latin typeface="Times New Roman"/>
                <a:cs typeface="Arial"/>
              </a:rPr>
              <a:t>Sentiment-Augmented Stock Price Forecasting</a:t>
            </a:r>
            <a:r>
              <a:rPr lang="en-IN" sz="3600">
                <a:solidFill>
                  <a:srgbClr val="000000"/>
                </a:solidFill>
                <a:effectLst>
                  <a:outerShdw blurRad="38100" dist="38100" dir="2700000" algn="tl">
                    <a:srgbClr val="000000">
                      <a:alpha val="43137"/>
                    </a:srgbClr>
                  </a:outerShdw>
                </a:effectLst>
                <a:latin typeface="Arial"/>
                <a:cs typeface="Arial"/>
              </a:rPr>
              <a:t> </a:t>
            </a:r>
            <a:endParaRPr lang="en-US"/>
          </a:p>
          <a:p>
            <a:pPr algn="ctr" eaLnBrk="1" fontAlgn="auto" hangingPunct="1">
              <a:spcBef>
                <a:spcPts val="0"/>
              </a:spcBef>
              <a:spcAft>
                <a:spcPts val="0"/>
              </a:spcAft>
              <a:defRPr/>
            </a:pPr>
            <a:endParaRPr lang="en-IN" altLang="en-US" sz="360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r>
              <a:rPr lang="en-IN" altLang="en-US" sz="3200" b="1">
                <a:latin typeface="Times New Roman"/>
              </a:rPr>
              <a:t>Group No.</a:t>
            </a:r>
            <a:r>
              <a:rPr lang="en-IN" altLang="en-US" sz="3200">
                <a:solidFill>
                  <a:srgbClr val="000000"/>
                </a:solidFill>
                <a:effectLst>
                  <a:outerShdw blurRad="38100" dist="38100" dir="2700000" algn="tl">
                    <a:srgbClr val="000000">
                      <a:alpha val="43137"/>
                    </a:srgbClr>
                  </a:outerShdw>
                </a:effectLst>
                <a:latin typeface="Times New Roman"/>
                <a:cs typeface="Times New Roman"/>
              </a:rPr>
              <a:t> 14</a:t>
            </a:r>
            <a:endParaRPr lang="en-IN" altLang="en-US" sz="320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endParaRPr lang="en-IN" altLang="en-US" sz="320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r>
              <a:rPr lang="en-IN" altLang="en-US" sz="3200" b="1">
                <a:solidFill>
                  <a:srgbClr val="000000"/>
                </a:solidFill>
                <a:effectLst>
                  <a:outerShdw blurRad="38100" dist="38100" dir="2700000" algn="tl">
                    <a:srgbClr val="000000">
                      <a:alpha val="43137"/>
                    </a:srgbClr>
                  </a:outerShdw>
                </a:effectLst>
                <a:latin typeface="Times New Roman"/>
                <a:cs typeface="Times New Roman"/>
              </a:rPr>
              <a:t> </a:t>
            </a:r>
          </a:p>
          <a:p>
            <a:pPr algn="ctr" eaLnBrk="1" fontAlgn="auto" hangingPunct="1">
              <a:spcBef>
                <a:spcPts val="0"/>
              </a:spcBef>
              <a:spcAft>
                <a:spcPts val="0"/>
              </a:spcAft>
              <a:defRPr/>
            </a:pPr>
            <a:endParaRPr lang="en-IN" altLang="en-US" sz="320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endParaRPr lang="en-IN" altLang="en-US" sz="320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endParaRPr lang="en-IN" altLang="en-US" sz="320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r>
              <a:rPr lang="en-IN" altLang="en-US" sz="2800" b="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Guide</a:t>
            </a:r>
          </a:p>
          <a:p>
            <a:pPr algn="ctr" eaLnBrk="1" fontAlgn="auto" hangingPunct="1">
              <a:spcBef>
                <a:spcPts val="0"/>
              </a:spcBef>
              <a:spcAft>
                <a:spcPts val="0"/>
              </a:spcAft>
              <a:defRPr/>
            </a:pPr>
            <a:r>
              <a:rPr lang="en-IN" altLang="en-US" sz="2400" b="1">
                <a:solidFill>
                  <a:srgbClr val="000000"/>
                </a:solidFill>
                <a:effectLst>
                  <a:outerShdw blurRad="38100" dist="38100" dir="2700000" algn="tl">
                    <a:srgbClr val="000000">
                      <a:alpha val="43137"/>
                    </a:srgbClr>
                  </a:outerShdw>
                </a:effectLst>
                <a:latin typeface="Times New Roman"/>
                <a:cs typeface="Times New Roman"/>
              </a:rPr>
              <a:t>Ms.  </a:t>
            </a:r>
            <a:r>
              <a:rPr lang="en-IN" sz="2400">
                <a:solidFill>
                  <a:srgbClr val="000000"/>
                </a:solidFill>
                <a:effectLst>
                  <a:outerShdw blurRad="38100" dist="38100" dir="2700000" algn="tl">
                    <a:srgbClr val="000000">
                      <a:alpha val="43137"/>
                    </a:srgbClr>
                  </a:outerShdw>
                </a:effectLst>
                <a:latin typeface="Times New Roman"/>
                <a:cs typeface="Arial"/>
              </a:rPr>
              <a:t>Ujwala </a:t>
            </a:r>
            <a:r>
              <a:rPr lang="en-IN" sz="2400" err="1">
                <a:solidFill>
                  <a:srgbClr val="000000"/>
                </a:solidFill>
                <a:effectLst>
                  <a:outerShdw blurRad="38100" dist="38100" dir="2700000" algn="tl">
                    <a:srgbClr val="000000">
                      <a:alpha val="43137"/>
                    </a:srgbClr>
                  </a:outerShdw>
                </a:effectLst>
                <a:latin typeface="Times New Roman"/>
                <a:cs typeface="Arial"/>
              </a:rPr>
              <a:t>Pagare</a:t>
            </a:r>
            <a:r>
              <a:rPr lang="en-IN" sz="2400">
                <a:solidFill>
                  <a:srgbClr val="000000"/>
                </a:solidFill>
                <a:effectLst>
                  <a:outerShdw blurRad="38100" dist="38100" dir="2700000" algn="tl">
                    <a:srgbClr val="000000">
                      <a:alpha val="43137"/>
                    </a:srgbClr>
                  </a:outerShdw>
                </a:effectLst>
                <a:latin typeface="Times New Roman"/>
                <a:cs typeface="Arial"/>
              </a:rPr>
              <a:t> &amp; Aavani Nair</a:t>
            </a:r>
          </a:p>
        </p:txBody>
      </p:sp>
      <p:cxnSp>
        <p:nvCxnSpPr>
          <p:cNvPr id="3" name="Straight Connector 2">
            <a:extLst>
              <a:ext uri="{FF2B5EF4-FFF2-40B4-BE49-F238E27FC236}">
                <a16:creationId xmlns:a16="http://schemas.microsoft.com/office/drawing/2014/main" id="{B6D6D17A-2AE6-4192-A1F7-3510C6BD718F}"/>
              </a:ext>
            </a:extLst>
          </p:cNvPr>
          <p:cNvCxnSpPr/>
          <p:nvPr/>
        </p:nvCxnSpPr>
        <p:spPr>
          <a:xfrm>
            <a:off x="0" y="1743075"/>
            <a:ext cx="10080625"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pic>
        <p:nvPicPr>
          <p:cNvPr id="6148" name="Picture 3">
            <a:extLst>
              <a:ext uri="{FF2B5EF4-FFF2-40B4-BE49-F238E27FC236}">
                <a16:creationId xmlns:a16="http://schemas.microsoft.com/office/drawing/2014/main" id="{CDBE2518-EE10-D3A4-3EE7-183C34EDDC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00" y="146050"/>
            <a:ext cx="7686675"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Table 1">
            <a:extLst>
              <a:ext uri="{FF2B5EF4-FFF2-40B4-BE49-F238E27FC236}">
                <a16:creationId xmlns:a16="http://schemas.microsoft.com/office/drawing/2014/main" id="{2359D5CD-93C5-6F7F-8862-E3E9BD6EF174}"/>
              </a:ext>
            </a:extLst>
          </p:cNvPr>
          <p:cNvGraphicFramePr>
            <a:graphicFrameLocks noGrp="1"/>
          </p:cNvGraphicFramePr>
          <p:nvPr/>
        </p:nvGraphicFramePr>
        <p:xfrm>
          <a:off x="1890814" y="3777252"/>
          <a:ext cx="6057266" cy="1979472"/>
        </p:xfrm>
        <a:graphic>
          <a:graphicData uri="http://schemas.openxmlformats.org/drawingml/2006/table">
            <a:tbl>
              <a:tblPr firstRow="1" bandRow="1">
                <a:tableStyleId>{5C22544A-7EE6-4342-B048-85BDC9FD1C3A}</a:tableStyleId>
              </a:tblPr>
              <a:tblGrid>
                <a:gridCol w="3028633">
                  <a:extLst>
                    <a:ext uri="{9D8B030D-6E8A-4147-A177-3AD203B41FA5}">
                      <a16:colId xmlns:a16="http://schemas.microsoft.com/office/drawing/2014/main" val="3654489324"/>
                    </a:ext>
                  </a:extLst>
                </a:gridCol>
                <a:gridCol w="3028633">
                  <a:extLst>
                    <a:ext uri="{9D8B030D-6E8A-4147-A177-3AD203B41FA5}">
                      <a16:colId xmlns:a16="http://schemas.microsoft.com/office/drawing/2014/main" val="1027409295"/>
                    </a:ext>
                  </a:extLst>
                </a:gridCol>
              </a:tblGrid>
              <a:tr h="395808">
                <a:tc>
                  <a:txBody>
                    <a:bodyPr/>
                    <a:lstStyle/>
                    <a:p>
                      <a:pPr lvl="0">
                        <a:buNone/>
                      </a:pPr>
                      <a:r>
                        <a:rPr lang="en-IN" sz="2000" b="1" i="0" u="none" strike="noStrike" noProof="0">
                          <a:solidFill>
                            <a:srgbClr val="000000"/>
                          </a:solidFill>
                          <a:latin typeface="Times New Roman"/>
                        </a:rPr>
                        <a:t>Group members</a:t>
                      </a:r>
                      <a:endParaRPr lang="en-US" sz="2000">
                        <a:latin typeface="Times New Roman"/>
                      </a:endParaRPr>
                    </a:p>
                  </a:txBody>
                  <a:tcPr/>
                </a:tc>
                <a:tc>
                  <a:txBody>
                    <a:bodyPr/>
                    <a:lstStyle/>
                    <a:p>
                      <a:pPr lvl="0">
                        <a:buNone/>
                      </a:pPr>
                      <a:r>
                        <a:rPr lang="en-IN" sz="2000" b="1" i="0" u="none" strike="noStrike" noProof="0">
                          <a:solidFill>
                            <a:srgbClr val="000000"/>
                          </a:solidFill>
                          <a:latin typeface="Times New Roman"/>
                        </a:rPr>
                        <a:t>Student Id</a:t>
                      </a:r>
                      <a:endParaRPr lang="en-US" sz="2000">
                        <a:latin typeface="Times New Roman"/>
                      </a:endParaRPr>
                    </a:p>
                  </a:txBody>
                  <a:tcPr/>
                </a:tc>
                <a:extLst>
                  <a:ext uri="{0D108BD9-81ED-4DB2-BD59-A6C34878D82A}">
                    <a16:rowId xmlns:a16="http://schemas.microsoft.com/office/drawing/2014/main" val="2229792339"/>
                  </a:ext>
                </a:extLst>
              </a:tr>
              <a:tr h="395808">
                <a:tc>
                  <a:txBody>
                    <a:bodyPr/>
                    <a:lstStyle/>
                    <a:p>
                      <a:r>
                        <a:rPr lang="en-US">
                          <a:latin typeface="Times New Roman"/>
                        </a:rPr>
                        <a:t>Sumit Shahu</a:t>
                      </a:r>
                    </a:p>
                  </a:txBody>
                  <a:tcPr/>
                </a:tc>
                <a:tc>
                  <a:txBody>
                    <a:bodyPr/>
                    <a:lstStyle/>
                    <a:p>
                      <a:r>
                        <a:rPr lang="en-US">
                          <a:latin typeface="Times New Roman"/>
                        </a:rPr>
                        <a:t>21107004</a:t>
                      </a:r>
                    </a:p>
                  </a:txBody>
                  <a:tcPr/>
                </a:tc>
                <a:extLst>
                  <a:ext uri="{0D108BD9-81ED-4DB2-BD59-A6C34878D82A}">
                    <a16:rowId xmlns:a16="http://schemas.microsoft.com/office/drawing/2014/main" val="376534062"/>
                  </a:ext>
                </a:extLst>
              </a:tr>
              <a:tr h="395808">
                <a:tc>
                  <a:txBody>
                    <a:bodyPr/>
                    <a:lstStyle/>
                    <a:p>
                      <a:r>
                        <a:rPr lang="en-US">
                          <a:latin typeface="Times New Roman"/>
                        </a:rPr>
                        <a:t>Pravesh Yadav</a:t>
                      </a:r>
                    </a:p>
                  </a:txBody>
                  <a:tcPr/>
                </a:tc>
                <a:tc>
                  <a:txBody>
                    <a:bodyPr/>
                    <a:lstStyle/>
                    <a:p>
                      <a:r>
                        <a:rPr lang="en-US">
                          <a:latin typeface="Times New Roman"/>
                        </a:rPr>
                        <a:t>21107057</a:t>
                      </a:r>
                    </a:p>
                  </a:txBody>
                  <a:tcPr/>
                </a:tc>
                <a:extLst>
                  <a:ext uri="{0D108BD9-81ED-4DB2-BD59-A6C34878D82A}">
                    <a16:rowId xmlns:a16="http://schemas.microsoft.com/office/drawing/2014/main" val="3300558317"/>
                  </a:ext>
                </a:extLst>
              </a:tr>
              <a:tr h="395808">
                <a:tc>
                  <a:txBody>
                    <a:bodyPr/>
                    <a:lstStyle/>
                    <a:p>
                      <a:r>
                        <a:rPr lang="en-US">
                          <a:latin typeface="Times New Roman"/>
                        </a:rPr>
                        <a:t>Ankit Purohit</a:t>
                      </a:r>
                    </a:p>
                  </a:txBody>
                  <a:tcPr/>
                </a:tc>
                <a:tc>
                  <a:txBody>
                    <a:bodyPr/>
                    <a:lstStyle/>
                    <a:p>
                      <a:r>
                        <a:rPr lang="en-US">
                          <a:latin typeface="Times New Roman"/>
                        </a:rPr>
                        <a:t>21107020</a:t>
                      </a:r>
                    </a:p>
                  </a:txBody>
                  <a:tcPr/>
                </a:tc>
                <a:extLst>
                  <a:ext uri="{0D108BD9-81ED-4DB2-BD59-A6C34878D82A}">
                    <a16:rowId xmlns:a16="http://schemas.microsoft.com/office/drawing/2014/main" val="3844416597"/>
                  </a:ext>
                </a:extLst>
              </a:tr>
              <a:tr h="395808">
                <a:tc>
                  <a:txBody>
                    <a:bodyPr/>
                    <a:lstStyle/>
                    <a:p>
                      <a:r>
                        <a:rPr lang="en-US">
                          <a:latin typeface="Times New Roman"/>
                        </a:rPr>
                        <a:t>Mustafa Shaikh</a:t>
                      </a:r>
                    </a:p>
                  </a:txBody>
                  <a:tcPr/>
                </a:tc>
                <a:tc>
                  <a:txBody>
                    <a:bodyPr/>
                    <a:lstStyle/>
                    <a:p>
                      <a:r>
                        <a:rPr lang="en-US">
                          <a:latin typeface="Times New Roman"/>
                        </a:rPr>
                        <a:t>21107045</a:t>
                      </a:r>
                    </a:p>
                  </a:txBody>
                  <a:tcPr/>
                </a:tc>
                <a:extLst>
                  <a:ext uri="{0D108BD9-81ED-4DB2-BD59-A6C34878D82A}">
                    <a16:rowId xmlns:a16="http://schemas.microsoft.com/office/drawing/2014/main" val="1420314931"/>
                  </a:ext>
                </a:extLst>
              </a:tr>
            </a:tbl>
          </a:graphicData>
        </a:graphic>
      </p:graphicFrame>
    </p:spTree>
    <p:extLst>
      <p:ext uri="{BB962C8B-B14F-4D97-AF65-F5344CB8AC3E}">
        <p14:creationId xmlns:p14="http://schemas.microsoft.com/office/powerpoint/2010/main" val="266012304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880FB168-53CB-7101-D83C-B95CB391BA0F}"/>
              </a:ext>
            </a:extLst>
          </p:cNvPr>
          <p:cNvSpPr>
            <a:spLocks noChangeArrowheads="1"/>
          </p:cNvSpPr>
          <p:nvPr/>
        </p:nvSpPr>
        <p:spPr bwMode="auto">
          <a:xfrm>
            <a:off x="504825" y="144463"/>
            <a:ext cx="9070975"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1680" rIns="0" bIns="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a:solidFill>
                  <a:schemeClr val="tx1"/>
                </a:solidFill>
                <a:latin typeface="Trebuchet MS" panose="020B0603020202020204" pitchFamily="34"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a:solidFill>
                  <a:schemeClr val="tx1"/>
                </a:solidFill>
                <a:latin typeface="Trebuchet MS" panose="020B0603020202020204" pitchFamily="34"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a:solidFill>
                  <a:schemeClr val="tx1"/>
                </a:solidFill>
                <a:latin typeface="Trebuchet MS" panose="020B0603020202020204" pitchFamily="34"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a:solidFill>
                  <a:schemeClr val="tx1"/>
                </a:solidFill>
                <a:latin typeface="Trebuchet MS" panose="020B0603020202020204" pitchFamily="34"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a:solidFill>
                  <a:schemeClr val="tx1"/>
                </a:solidFill>
                <a:latin typeface="Trebuchet MS" panose="020B0603020202020204" pitchFamily="34" charset="0"/>
              </a:defRPr>
            </a:lvl9pPr>
          </a:lstStyle>
          <a:p>
            <a:pPr algn="ctr" eaLnBrk="1" hangingPunct="1">
              <a:lnSpc>
                <a:spcPct val="93000"/>
              </a:lnSpc>
              <a:buSzPct val="100000"/>
            </a:pPr>
            <a:r>
              <a:rPr lang="en-IN" altLang="en-US" sz="3600" b="1">
                <a:solidFill>
                  <a:srgbClr val="000000"/>
                </a:solidFill>
                <a:latin typeface="Times New Roman" panose="02020603050405020304" pitchFamily="18" charset="0"/>
                <a:cs typeface="DejaVu Sans" charset="0"/>
              </a:rPr>
              <a:t>Contents</a:t>
            </a:r>
          </a:p>
        </p:txBody>
      </p:sp>
      <p:sp>
        <p:nvSpPr>
          <p:cNvPr id="8195" name="Rectangle 2">
            <a:extLst>
              <a:ext uri="{FF2B5EF4-FFF2-40B4-BE49-F238E27FC236}">
                <a16:creationId xmlns:a16="http://schemas.microsoft.com/office/drawing/2014/main" id="{460FFAC4-A4CE-38B9-DC1F-8C64B893887B}"/>
              </a:ext>
            </a:extLst>
          </p:cNvPr>
          <p:cNvSpPr>
            <a:spLocks noChangeArrowheads="1"/>
          </p:cNvSpPr>
          <p:nvPr/>
        </p:nvSpPr>
        <p:spPr bwMode="auto">
          <a:xfrm>
            <a:off x="503238" y="1201738"/>
            <a:ext cx="9323387" cy="557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428625" indent="-322263">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a:solidFill>
                  <a:schemeClr val="tx1"/>
                </a:solidFill>
                <a:latin typeface="Trebuchet MS" panose="020B0603020202020204" pitchFamily="34"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a:solidFill>
                  <a:schemeClr val="tx1"/>
                </a:solidFill>
                <a:latin typeface="Trebuchet MS" panose="020B0603020202020204" pitchFamily="34"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a:solidFill>
                  <a:schemeClr val="tx1"/>
                </a:solidFill>
                <a:latin typeface="Trebuchet MS" panose="020B0603020202020204" pitchFamily="34"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a:solidFill>
                  <a:schemeClr val="tx1"/>
                </a:solidFill>
                <a:latin typeface="Trebuchet MS" panose="020B0603020202020204" pitchFamily="34"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9432925" algn="l"/>
                <a:tab pos="9882188" algn="l"/>
                <a:tab pos="10331450" algn="l"/>
                <a:tab pos="10780713" algn="l"/>
              </a:tabLst>
              <a:defRPr>
                <a:solidFill>
                  <a:schemeClr val="tx1"/>
                </a:solidFill>
                <a:latin typeface="Trebuchet MS" panose="020B0603020202020204" pitchFamily="34" charset="0"/>
              </a:defRPr>
            </a:lvl9pPr>
          </a:lstStyle>
          <a:p>
            <a:pPr eaLnBrk="1" hangingPunct="1">
              <a:lnSpc>
                <a:spcPct val="93000"/>
              </a:lnSpc>
              <a:spcAft>
                <a:spcPts val="1413"/>
              </a:spcAft>
              <a:buClr>
                <a:srgbClr val="000000"/>
              </a:buClr>
              <a:buSzPct val="45000"/>
              <a:buFont typeface="Wingdings" panose="05000000000000000000" pitchFamily="2" charset="2"/>
              <a:buChar char=""/>
            </a:pPr>
            <a:r>
              <a:rPr lang="en-IN" altLang="en-US" sz="2400" dirty="0">
                <a:solidFill>
                  <a:srgbClr val="000000"/>
                </a:solidFill>
                <a:latin typeface="Times New Roman" panose="02020603050405020304" pitchFamily="18" charset="0"/>
                <a:cs typeface="Noto Sans CJK SC Regular" charset="0"/>
              </a:rPr>
              <a:t>Abstract</a:t>
            </a:r>
          </a:p>
          <a:p>
            <a:pPr eaLnBrk="1" hangingPunct="1">
              <a:lnSpc>
                <a:spcPct val="93000"/>
              </a:lnSpc>
              <a:spcAft>
                <a:spcPts val="1413"/>
              </a:spcAft>
              <a:buClr>
                <a:srgbClr val="000000"/>
              </a:buClr>
              <a:buSzPct val="45000"/>
              <a:buFont typeface="Wingdings" panose="05000000000000000000" pitchFamily="2" charset="2"/>
              <a:buChar char=""/>
            </a:pPr>
            <a:r>
              <a:rPr lang="en-IN" altLang="en-US" sz="2400" dirty="0">
                <a:solidFill>
                  <a:srgbClr val="000000"/>
                </a:solidFill>
                <a:latin typeface="Times New Roman" panose="02020603050405020304" pitchFamily="18" charset="0"/>
                <a:cs typeface="DejaVu Sans" charset="0"/>
              </a:rPr>
              <a:t>Introduction</a:t>
            </a:r>
          </a:p>
          <a:p>
            <a:pPr eaLnBrk="1" hangingPunct="1">
              <a:lnSpc>
                <a:spcPct val="93000"/>
              </a:lnSpc>
              <a:spcAft>
                <a:spcPts val="1413"/>
              </a:spcAft>
              <a:buClr>
                <a:srgbClr val="000000"/>
              </a:buClr>
              <a:buSzPct val="45000"/>
              <a:buFont typeface="Wingdings" panose="05000000000000000000" pitchFamily="2" charset="2"/>
              <a:buChar char=""/>
            </a:pPr>
            <a:r>
              <a:rPr lang="en-IN" altLang="en-US" sz="2400" dirty="0">
                <a:solidFill>
                  <a:srgbClr val="000000"/>
                </a:solidFill>
                <a:latin typeface="Times New Roman" panose="02020603050405020304" pitchFamily="18" charset="0"/>
                <a:cs typeface="DejaVu Sans" charset="0"/>
              </a:rPr>
              <a:t>Objectives</a:t>
            </a:r>
          </a:p>
          <a:p>
            <a:pPr eaLnBrk="1" hangingPunct="1">
              <a:lnSpc>
                <a:spcPct val="93000"/>
              </a:lnSpc>
              <a:spcAft>
                <a:spcPts val="1413"/>
              </a:spcAft>
              <a:buClr>
                <a:srgbClr val="000000"/>
              </a:buClr>
              <a:buSzPct val="45000"/>
              <a:buFont typeface="Wingdings" panose="05000000000000000000" pitchFamily="2" charset="2"/>
              <a:buChar char=""/>
            </a:pPr>
            <a:r>
              <a:rPr lang="en-IN" altLang="en-US" sz="2400" dirty="0">
                <a:solidFill>
                  <a:srgbClr val="000000"/>
                </a:solidFill>
                <a:latin typeface="Times New Roman" panose="02020603050405020304" pitchFamily="18" charset="0"/>
                <a:cs typeface="DejaVu Sans" charset="0"/>
              </a:rPr>
              <a:t>Literature Review</a:t>
            </a:r>
          </a:p>
          <a:p>
            <a:pPr eaLnBrk="1" hangingPunct="1">
              <a:lnSpc>
                <a:spcPct val="93000"/>
              </a:lnSpc>
              <a:spcAft>
                <a:spcPts val="1413"/>
              </a:spcAft>
              <a:buClr>
                <a:srgbClr val="000000"/>
              </a:buClr>
              <a:buSzPct val="45000"/>
              <a:buFont typeface="Wingdings" panose="05000000000000000000" pitchFamily="2" charset="2"/>
              <a:buChar char=""/>
            </a:pPr>
            <a:r>
              <a:rPr lang="en-US" altLang="en-US" sz="2400" dirty="0">
                <a:solidFill>
                  <a:srgbClr val="000000"/>
                </a:solidFill>
                <a:latin typeface="Times New Roman" panose="02020603050405020304" pitchFamily="18" charset="0"/>
                <a:cs typeface="DejaVu Sans" charset="0"/>
              </a:rPr>
              <a:t>R</a:t>
            </a:r>
            <a:r>
              <a:rPr lang="en-IN" altLang="en-US" sz="2400" dirty="0" err="1">
                <a:solidFill>
                  <a:srgbClr val="000000"/>
                </a:solidFill>
                <a:latin typeface="Times New Roman" panose="02020603050405020304" pitchFamily="18" charset="0"/>
                <a:cs typeface="DejaVu Sans" charset="0"/>
              </a:rPr>
              <a:t>esearch</a:t>
            </a:r>
            <a:r>
              <a:rPr lang="en-IN" altLang="en-US" sz="2400" dirty="0">
                <a:solidFill>
                  <a:srgbClr val="000000"/>
                </a:solidFill>
                <a:latin typeface="Times New Roman" panose="02020603050405020304" pitchFamily="18" charset="0"/>
                <a:cs typeface="DejaVu Sans" charset="0"/>
              </a:rPr>
              <a:t> Gap</a:t>
            </a:r>
          </a:p>
          <a:p>
            <a:pPr eaLnBrk="1" hangingPunct="1">
              <a:lnSpc>
                <a:spcPct val="93000"/>
              </a:lnSpc>
              <a:spcAft>
                <a:spcPts val="1413"/>
              </a:spcAft>
              <a:buClr>
                <a:srgbClr val="000000"/>
              </a:buClr>
              <a:buSzPct val="45000"/>
              <a:buFont typeface="Wingdings" panose="05000000000000000000" pitchFamily="2" charset="2"/>
              <a:buChar char=""/>
            </a:pPr>
            <a:r>
              <a:rPr lang="en-IN" altLang="en-US" sz="2400" dirty="0">
                <a:solidFill>
                  <a:srgbClr val="000000"/>
                </a:solidFill>
                <a:latin typeface="Times New Roman" panose="02020603050405020304" pitchFamily="18" charset="0"/>
                <a:cs typeface="DejaVu Sans" charset="0"/>
              </a:rPr>
              <a:t>Problem Definition</a:t>
            </a:r>
          </a:p>
          <a:p>
            <a:pPr eaLnBrk="1" hangingPunct="1">
              <a:lnSpc>
                <a:spcPct val="93000"/>
              </a:lnSpc>
              <a:spcAft>
                <a:spcPts val="1413"/>
              </a:spcAft>
              <a:buClr>
                <a:srgbClr val="000000"/>
              </a:buClr>
              <a:buSzPct val="45000"/>
              <a:buFont typeface="Wingdings" panose="05000000000000000000" pitchFamily="2" charset="2"/>
              <a:buChar char=""/>
            </a:pPr>
            <a:r>
              <a:rPr lang="en-IN" altLang="en-US" sz="2400" dirty="0">
                <a:solidFill>
                  <a:srgbClr val="000000"/>
                </a:solidFill>
                <a:latin typeface="Times New Roman" panose="02020603050405020304" pitchFamily="18" charset="0"/>
                <a:cs typeface="Noto Sans CJK SC Regular" charset="0"/>
              </a:rPr>
              <a:t>Scope </a:t>
            </a:r>
          </a:p>
          <a:p>
            <a:pPr eaLnBrk="1" hangingPunct="1">
              <a:lnSpc>
                <a:spcPct val="93000"/>
              </a:lnSpc>
              <a:spcAft>
                <a:spcPts val="1413"/>
              </a:spcAft>
              <a:buClr>
                <a:srgbClr val="000000"/>
              </a:buClr>
              <a:buSzPct val="45000"/>
              <a:buFont typeface="Wingdings" panose="05000000000000000000" pitchFamily="2" charset="2"/>
              <a:buChar char=""/>
            </a:pPr>
            <a:r>
              <a:rPr lang="en-IN" altLang="en-US" sz="2400" dirty="0">
                <a:solidFill>
                  <a:srgbClr val="000000"/>
                </a:solidFill>
                <a:latin typeface="Times New Roman" panose="02020603050405020304" pitchFamily="18" charset="0"/>
                <a:cs typeface="DejaVu Sans" charset="0"/>
              </a:rPr>
              <a:t>Technological Stack</a:t>
            </a:r>
          </a:p>
          <a:p>
            <a:pPr eaLnBrk="1" hangingPunct="1">
              <a:lnSpc>
                <a:spcPct val="93000"/>
              </a:lnSpc>
              <a:spcAft>
                <a:spcPts val="1413"/>
              </a:spcAft>
              <a:buClr>
                <a:srgbClr val="000000"/>
              </a:buClr>
              <a:buSzPct val="45000"/>
              <a:buFont typeface="Wingdings" panose="05000000000000000000" pitchFamily="2" charset="2"/>
              <a:buChar char=""/>
            </a:pPr>
            <a:r>
              <a:rPr lang="en-IN" altLang="en-US" sz="2400" dirty="0">
                <a:solidFill>
                  <a:srgbClr val="000000"/>
                </a:solidFill>
                <a:latin typeface="Times New Roman" panose="02020603050405020304" pitchFamily="18" charset="0"/>
                <a:cs typeface="DejaVu Sans" charset="0"/>
              </a:rPr>
              <a:t>Proposed System Architecture/Working </a:t>
            </a:r>
          </a:p>
          <a:p>
            <a:pPr eaLnBrk="1" hangingPunct="1">
              <a:lnSpc>
                <a:spcPct val="93000"/>
              </a:lnSpc>
              <a:spcAft>
                <a:spcPts val="1413"/>
              </a:spcAft>
              <a:buClr>
                <a:srgbClr val="000000"/>
              </a:buClr>
              <a:buSzPct val="45000"/>
              <a:buFont typeface="Wingdings" panose="05000000000000000000" pitchFamily="2" charset="2"/>
              <a:buChar char=""/>
            </a:pPr>
            <a:endParaRPr lang="en-IN" altLang="en-US" sz="2400" dirty="0">
              <a:solidFill>
                <a:srgbClr val="000000"/>
              </a:solidFill>
              <a:latin typeface="Times New Roman" panose="02020603050405020304" pitchFamily="18" charset="0"/>
              <a:cs typeface="DejaVu Sans"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D53B3AC7-EC70-C16C-84D4-96A00CE3B574}"/>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Abstract</a:t>
            </a:r>
          </a:p>
        </p:txBody>
      </p:sp>
      <p:sp>
        <p:nvSpPr>
          <p:cNvPr id="2" name="Content Placeholder 2">
            <a:extLst>
              <a:ext uri="{FF2B5EF4-FFF2-40B4-BE49-F238E27FC236}">
                <a16:creationId xmlns:a16="http://schemas.microsoft.com/office/drawing/2014/main" id="{311C7E2C-147D-069C-DBB9-23551E7EB4B2}"/>
              </a:ext>
            </a:extLst>
          </p:cNvPr>
          <p:cNvSpPr txBox="1">
            <a:spLocks/>
          </p:cNvSpPr>
          <p:nvPr/>
        </p:nvSpPr>
        <p:spPr bwMode="auto">
          <a:xfrm>
            <a:off x="341313" y="1574800"/>
            <a:ext cx="9251950" cy="5535613"/>
          </a:xfrm>
          <a:prstGeom prst="rect">
            <a:avLst/>
          </a:prstGeom>
          <a:noFill/>
          <a:ln>
            <a:noFill/>
          </a:ln>
        </p:spPr>
        <p:txBody>
          <a:bodyPr lIns="91440" tIns="45720" rIns="91440" bIns="45720" anchor="t">
            <a:norm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defTabSz="914400">
              <a:buNone/>
              <a:defRPr/>
            </a:pPr>
            <a:endParaRPr lang="en-US" sz="2000" b="1" dirty="0">
              <a:solidFill>
                <a:sysClr val="windowText" lastClr="000000"/>
              </a:solidFill>
              <a:latin typeface="Times New Roman"/>
              <a:ea typeface="Source Sans Pro"/>
              <a:cs typeface="Times New Roman"/>
            </a:endParaRPr>
          </a:p>
          <a:p>
            <a:pPr marL="0" indent="0" algn="just" defTabSz="914400">
              <a:buNone/>
              <a:defRPr/>
            </a:pPr>
            <a:r>
              <a:rPr lang="en-US" sz="2000" dirty="0">
                <a:latin typeface="Times New Roman" panose="02020603050405020304" pitchFamily="18" charset="0"/>
                <a:cs typeface="Times New Roman" panose="02020603050405020304" pitchFamily="18" charset="0"/>
              </a:rPr>
              <a:t>The project aims to develop a real-time stock market prediction system using a hybrid deep learning approach combining RNN variants (LSTM, GRU). The system addresses the challenges of noisy, high-frequency data and aims to provide accurate and low-latency predictions for stock price movements. By integrating real-time data streams from sources like stock market APIs and news sentiment, the system leverages ensemble learning techniques to boost prediction accuracy. An ensemble model is built by combining LSTM, GRU, and traditional machine learning methods like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further improving robustness and accuracy. The system is designed to handle the complex, sequential nature of stock market data, providing traders and investors with timely, actionable insights.</a:t>
            </a:r>
            <a:endParaRPr lang="en-US" altLang="en-US" sz="2000" b="1" dirty="0">
              <a:solidFill>
                <a:sysClr val="windowText" lastClr="000000"/>
              </a:solidFill>
              <a:latin typeface="Times New Roman" panose="02020603050405020304" pitchFamily="18" charset="0"/>
              <a:cs typeface="Times New Roman" panose="02020603050405020304" pitchFamily="18" charset="0"/>
            </a:endParaRPr>
          </a:p>
          <a:p>
            <a:pPr marL="0" indent="0" defTabSz="914400">
              <a:buFont typeface="Arial" panose="020B0604020202020204" pitchFamily="34" charset="0"/>
              <a:buNone/>
              <a:defRPr/>
            </a:pPr>
            <a:endParaRPr lang="en-US" altLang="en-US" sz="2000" b="1" dirty="0">
              <a:solidFill>
                <a:sysClr val="windowText" lastClr="000000"/>
              </a:solidFill>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A820DE04-B131-4CBF-9EA0-FCC73E4F50DA}"/>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Introduction</a:t>
            </a:r>
          </a:p>
        </p:txBody>
      </p:sp>
      <p:sp>
        <p:nvSpPr>
          <p:cNvPr id="2" name="Content Placeholder 2">
            <a:extLst>
              <a:ext uri="{FF2B5EF4-FFF2-40B4-BE49-F238E27FC236}">
                <a16:creationId xmlns:a16="http://schemas.microsoft.com/office/drawing/2014/main" id="{C560C8BC-09C4-4A16-A21C-336CA61DF134}"/>
              </a:ext>
            </a:extLst>
          </p:cNvPr>
          <p:cNvSpPr txBox="1">
            <a:spLocks/>
          </p:cNvSpPr>
          <p:nvPr/>
        </p:nvSpPr>
        <p:spPr bwMode="auto">
          <a:xfrm>
            <a:off x="507681" y="1563688"/>
            <a:ext cx="9251950" cy="5535612"/>
          </a:xfrm>
          <a:prstGeom prst="rect">
            <a:avLst/>
          </a:prstGeom>
          <a:noFill/>
          <a:ln>
            <a:noFill/>
          </a:ln>
        </p:spPr>
        <p:txBody>
          <a:bodyPr lIns="91440" tIns="45720" rIns="91440" bIns="45720" anchor="t">
            <a:norm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defTabSz="914400">
              <a:defRPr/>
            </a:pPr>
            <a:r>
              <a:rPr lang="en-US" sz="2000" dirty="0">
                <a:latin typeface="Times New Roman" panose="02020603050405020304" pitchFamily="18" charset="0"/>
                <a:cs typeface="Times New Roman" panose="02020603050405020304" pitchFamily="18" charset="0"/>
              </a:rPr>
              <a:t>The stock market is a key financial system that influences global economic stability and individual investments.</a:t>
            </a:r>
          </a:p>
          <a:p>
            <a:pPr algn="just" defTabSz="914400">
              <a:defRPr/>
            </a:pPr>
            <a:r>
              <a:rPr lang="en-US" sz="2000" dirty="0">
                <a:latin typeface="Times New Roman" panose="02020603050405020304" pitchFamily="18" charset="0"/>
                <a:cs typeface="Times New Roman" panose="02020603050405020304" pitchFamily="18" charset="0"/>
              </a:rPr>
              <a:t>Stock prices fluctuate rapidly due to a variety of factors including economic events, news, geopolitical changes, and investor sentiment.</a:t>
            </a:r>
          </a:p>
          <a:p>
            <a:pPr algn="just" defTabSz="914400">
              <a:defRPr/>
            </a:pPr>
            <a:r>
              <a:rPr lang="en-US" sz="2000" dirty="0">
                <a:latin typeface="Times New Roman" panose="02020603050405020304" pitchFamily="18" charset="0"/>
                <a:cs typeface="Times New Roman" panose="02020603050405020304" pitchFamily="18" charset="0"/>
              </a:rPr>
              <a:t>Accurately predicting stock prices is difficult due to the market's highly volatile and noisy nature.</a:t>
            </a:r>
          </a:p>
          <a:p>
            <a:pPr algn="just" defTabSz="914400">
              <a:defRPr/>
            </a:pPr>
            <a:r>
              <a:rPr lang="en-US" sz="2000" dirty="0">
                <a:latin typeface="Times New Roman" panose="02020603050405020304" pitchFamily="18" charset="0"/>
                <a:cs typeface="Times New Roman" panose="02020603050405020304" pitchFamily="18" charset="0"/>
              </a:rPr>
              <a:t>In real-time, the challenge becomes even harder because millions of trades and price changes happen every second.</a:t>
            </a:r>
          </a:p>
          <a:p>
            <a:pPr algn="just" defTabSz="914400">
              <a:defRPr/>
            </a:pPr>
            <a:r>
              <a:rPr lang="en-US" sz="2000" dirty="0">
                <a:latin typeface="Times New Roman" panose="02020603050405020304" pitchFamily="18" charset="0"/>
                <a:cs typeface="Times New Roman" panose="02020603050405020304" pitchFamily="18" charset="0"/>
              </a:rPr>
              <a:t>Traditional financial models struggle with real-time data, facing issues such as scalability, latency in predictions, and the dynamic nature of time-series data.</a:t>
            </a:r>
          </a:p>
          <a:p>
            <a:pPr algn="just" defTabSz="914400">
              <a:defRPr/>
            </a:pPr>
            <a:r>
              <a:rPr lang="en-US" sz="2000" dirty="0">
                <a:latin typeface="Times New Roman" panose="02020603050405020304" pitchFamily="18" charset="0"/>
                <a:cs typeface="Times New Roman" panose="02020603050405020304" pitchFamily="18" charset="0"/>
              </a:rPr>
              <a:t>Despite advances in financial technology, the complex and fast-changing stock market demands more sophisticated, adaptable tools for real-time prediction and analysis.</a:t>
            </a:r>
            <a:endParaRPr lang="en-US" altLang="en-US" sz="2000" b="1" dirty="0">
              <a:solidFill>
                <a:sysClr val="windowText" lastClr="000000"/>
              </a:solidFill>
              <a:latin typeface="Times New Roman" panose="02020603050405020304" pitchFamily="18" charset="0"/>
              <a:ea typeface="Source Sans Pro"/>
              <a:cs typeface="Times New Roman" panose="02020603050405020304" pitchFamily="18" charset="0"/>
            </a:endParaRPr>
          </a:p>
        </p:txBody>
      </p:sp>
    </p:spTree>
    <p:extLst>
      <p:ext uri="{BB962C8B-B14F-4D97-AF65-F5344CB8AC3E}">
        <p14:creationId xmlns:p14="http://schemas.microsoft.com/office/powerpoint/2010/main" val="2211825785"/>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A820DE04-B131-4CBF-9EA0-FCC73E4F50DA}"/>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spcBef>
                <a:spcPts val="0"/>
              </a:spcBef>
              <a:spcAft>
                <a:spcPts val="0"/>
              </a:spcAft>
              <a:defRPr/>
            </a:pPr>
            <a:r>
              <a:rPr lang="en-US" sz="3600" b="1">
                <a:solidFill>
                  <a:srgbClr val="000000"/>
                </a:solidFill>
                <a:effectLst>
                  <a:outerShdw blurRad="38100" dist="38100" dir="2700000" algn="tl">
                    <a:srgbClr val="000000">
                      <a:alpha val="43137"/>
                    </a:srgbClr>
                  </a:outerShdw>
                </a:effectLst>
                <a:latin typeface="Times New Roman"/>
                <a:ea typeface="Source Sans Pro"/>
              </a:rPr>
              <a:t>Motivation</a:t>
            </a:r>
            <a:endParaRPr lang="en-US" sz="3600">
              <a:latin typeface="Times New Roman"/>
            </a:endParaRPr>
          </a:p>
        </p:txBody>
      </p:sp>
      <p:sp>
        <p:nvSpPr>
          <p:cNvPr id="2" name="Content Placeholder 2">
            <a:extLst>
              <a:ext uri="{FF2B5EF4-FFF2-40B4-BE49-F238E27FC236}">
                <a16:creationId xmlns:a16="http://schemas.microsoft.com/office/drawing/2014/main" id="{C560C8BC-09C4-4A16-A21C-336CA61DF134}"/>
              </a:ext>
            </a:extLst>
          </p:cNvPr>
          <p:cNvSpPr txBox="1">
            <a:spLocks/>
          </p:cNvSpPr>
          <p:nvPr/>
        </p:nvSpPr>
        <p:spPr bwMode="auto">
          <a:xfrm>
            <a:off x="507681" y="1563688"/>
            <a:ext cx="9251950" cy="5535612"/>
          </a:xfrm>
          <a:prstGeom prst="rect">
            <a:avLst/>
          </a:prstGeom>
          <a:noFill/>
          <a:ln>
            <a:noFill/>
          </a:ln>
        </p:spPr>
        <p:txBody>
          <a:bodyPr lIns="91440" tIns="45720" rIns="91440" bIns="45720" anchor="t">
            <a:norm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defTabSz="914400">
              <a:buNone/>
              <a:defRPr/>
            </a:pPr>
            <a:endParaRPr lang="en-US" b="1" dirty="0">
              <a:ea typeface="Source Sans Pro"/>
            </a:endParaRPr>
          </a:p>
          <a:p>
            <a:pPr algn="just" defTabSz="914400">
              <a:defRPr/>
            </a:pPr>
            <a:r>
              <a:rPr lang="en-US" sz="2000" dirty="0">
                <a:solidFill>
                  <a:srgbClr val="030712"/>
                </a:solidFill>
                <a:latin typeface="Times New Roman"/>
                <a:ea typeface="Source Sans Pro"/>
                <a:cs typeface="Times New Roman"/>
              </a:rPr>
              <a:t>Modern stock markets are influenced by multiple volatile factors, making accurate predictions challenging.</a:t>
            </a:r>
          </a:p>
          <a:p>
            <a:pPr algn="just" defTabSz="914400">
              <a:defRPr/>
            </a:pPr>
            <a:endParaRPr lang="en-US" sz="2000" dirty="0">
              <a:solidFill>
                <a:srgbClr val="030712"/>
              </a:solidFill>
              <a:latin typeface="Times New Roman"/>
              <a:ea typeface="Source Sans Pro"/>
              <a:cs typeface="Times New Roman"/>
            </a:endParaRPr>
          </a:p>
          <a:p>
            <a:pPr algn="just" defTabSz="914400">
              <a:defRPr/>
            </a:pPr>
            <a:r>
              <a:rPr lang="en-US" sz="2000" dirty="0">
                <a:solidFill>
                  <a:srgbClr val="030712"/>
                </a:solidFill>
                <a:latin typeface="Times New Roman"/>
                <a:ea typeface="Source Sans Pro"/>
                <a:cs typeface="Times New Roman"/>
              </a:rPr>
              <a:t>Unpredictable market behavior leads to higher risks, affecting decision-making and financial stability.</a:t>
            </a:r>
          </a:p>
          <a:p>
            <a:pPr algn="just" defTabSz="914400">
              <a:defRPr/>
            </a:pPr>
            <a:endParaRPr lang="en-US" sz="2000" dirty="0">
              <a:solidFill>
                <a:srgbClr val="030712"/>
              </a:solidFill>
              <a:latin typeface="Times New Roman"/>
              <a:ea typeface="Source Sans Pro"/>
              <a:cs typeface="Times New Roman"/>
            </a:endParaRPr>
          </a:p>
          <a:p>
            <a:pPr algn="just" defTabSz="914400">
              <a:defRPr/>
            </a:pPr>
            <a:r>
              <a:rPr lang="en-US" sz="2000" dirty="0">
                <a:solidFill>
                  <a:srgbClr val="030712"/>
                </a:solidFill>
                <a:latin typeface="Times New Roman"/>
                <a:ea typeface="Source Sans Pro"/>
                <a:cs typeface="Times New Roman"/>
              </a:rPr>
              <a:t>Conventional models fail to account for dynamic, non-linear market behaviors, reducing prediction accuracy.</a:t>
            </a:r>
            <a:endParaRPr lang="en-US" sz="2000" dirty="0">
              <a:latin typeface="Times New Roman"/>
              <a:cs typeface="Times New Roman"/>
            </a:endParaRPr>
          </a:p>
          <a:p>
            <a:pPr algn="just" defTabSz="914400">
              <a:defRPr/>
            </a:pPr>
            <a:endParaRPr lang="en-US" sz="2000" dirty="0">
              <a:solidFill>
                <a:srgbClr val="030712"/>
              </a:solidFill>
              <a:latin typeface="Times New Roman"/>
              <a:ea typeface="Source Sans Pro"/>
              <a:cs typeface="Times New Roman"/>
            </a:endParaRPr>
          </a:p>
          <a:p>
            <a:pPr algn="just" defTabSz="914400">
              <a:defRPr/>
            </a:pPr>
            <a:r>
              <a:rPr lang="en-US" sz="2000" dirty="0">
                <a:solidFill>
                  <a:srgbClr val="030712"/>
                </a:solidFill>
                <a:latin typeface="Times New Roman"/>
                <a:ea typeface="Source Sans Pro"/>
                <a:cs typeface="Times New Roman"/>
              </a:rPr>
              <a:t>Investors and financial institutions increasingly seek advanced models that can provide timely and reliable market forecasts to optimize decision-making and reduce risk.</a:t>
            </a:r>
          </a:p>
          <a:p>
            <a:pPr algn="just" defTabSz="914400">
              <a:defRPr/>
            </a:pPr>
            <a:endParaRPr lang="en-US" sz="2000" dirty="0">
              <a:solidFill>
                <a:srgbClr val="030712"/>
              </a:solidFill>
              <a:latin typeface="Times New Roman"/>
              <a:ea typeface="Source Sans Pro"/>
              <a:cs typeface="Times New Roman"/>
            </a:endParaRPr>
          </a:p>
          <a:p>
            <a:pPr algn="just" defTabSz="914400">
              <a:buNone/>
              <a:defRPr/>
            </a:pPr>
            <a:endParaRPr lang="en-US" altLang="en-US" sz="2000" b="1" dirty="0">
              <a:solidFill>
                <a:sysClr val="windowText" lastClr="000000"/>
              </a:solidFill>
              <a:ea typeface="Source Sans Pro"/>
            </a:endParaRPr>
          </a:p>
        </p:txBody>
      </p:sp>
    </p:spTree>
    <p:extLst>
      <p:ext uri="{BB962C8B-B14F-4D97-AF65-F5344CB8AC3E}">
        <p14:creationId xmlns:p14="http://schemas.microsoft.com/office/powerpoint/2010/main" val="4115119251"/>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1A0B89ED-B19C-ED87-82EC-1F387F74D65F}"/>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Objectives</a:t>
            </a:r>
          </a:p>
        </p:txBody>
      </p:sp>
      <p:sp>
        <p:nvSpPr>
          <p:cNvPr id="2" name="Content Placeholder 2">
            <a:extLst>
              <a:ext uri="{FF2B5EF4-FFF2-40B4-BE49-F238E27FC236}">
                <a16:creationId xmlns:a16="http://schemas.microsoft.com/office/drawing/2014/main" id="{1B85858B-0D92-F914-1041-B515F13D210E}"/>
              </a:ext>
            </a:extLst>
          </p:cNvPr>
          <p:cNvSpPr txBox="1">
            <a:spLocks/>
          </p:cNvSpPr>
          <p:nvPr/>
        </p:nvSpPr>
        <p:spPr bwMode="auto">
          <a:xfrm>
            <a:off x="412750" y="1563688"/>
            <a:ext cx="9251950" cy="5535612"/>
          </a:xfrm>
          <a:prstGeom prst="rect">
            <a:avLst/>
          </a:prstGeom>
          <a:noFill/>
          <a:ln>
            <a:noFill/>
          </a:ln>
        </p:spPr>
        <p:txBody>
          <a:bodyPr lIns="91440" tIns="45720" rIns="91440" bIns="45720" anchor="t">
            <a:norm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buFont typeface="Arial" panose="020B0604020202020204" pitchFamily="34" charset="0"/>
              <a:buNone/>
              <a:defRPr/>
            </a:pPr>
            <a:endParaRPr lang="en-US" altLang="en-US" sz="2000" b="1" dirty="0">
              <a:solidFill>
                <a:sysClr val="windowText" lastClr="000000"/>
              </a:solidFill>
            </a:endParaRPr>
          </a:p>
          <a:p>
            <a:pPr algn="just" defTabSz="914400">
              <a:defRPr/>
            </a:pPr>
            <a:r>
              <a:rPr lang="en-US" sz="2000" dirty="0">
                <a:latin typeface="Times New Roman" panose="02020603050405020304" pitchFamily="18" charset="0"/>
                <a:cs typeface="Times New Roman" panose="02020603050405020304" pitchFamily="18" charset="0"/>
              </a:rPr>
              <a:t>Develop and evaluate hybrid LSTM and GRU models for stock price forecasting, leveraging their ability to capture both spatial and temporal patterns in market data.</a:t>
            </a:r>
          </a:p>
          <a:p>
            <a:pPr algn="just" defTabSz="914400">
              <a:defRPr/>
            </a:pPr>
            <a:endParaRPr lang="en-US" sz="2000" dirty="0">
              <a:latin typeface="Times New Roman" panose="02020603050405020304" pitchFamily="18" charset="0"/>
              <a:cs typeface="Times New Roman" panose="02020603050405020304" pitchFamily="18" charset="0"/>
            </a:endParaRPr>
          </a:p>
          <a:p>
            <a:pPr algn="just" defTabSz="914400">
              <a:defRPr/>
            </a:pPr>
            <a:r>
              <a:rPr lang="en-US" sz="2000" dirty="0">
                <a:latin typeface="Times New Roman" panose="02020603050405020304" pitchFamily="18" charset="0"/>
                <a:cs typeface="Times New Roman" panose="02020603050405020304" pitchFamily="18" charset="0"/>
              </a:rPr>
              <a:t>Design and implement an ensemble stacking model that combines LSTM, GRU, and RNN architectures to enhance prediction accuracy and robustness across various market conditions.</a:t>
            </a:r>
          </a:p>
          <a:p>
            <a:pPr algn="just" defTabSz="914400">
              <a:defRPr/>
            </a:pPr>
            <a:endParaRPr lang="en-US" sz="2000" dirty="0">
              <a:latin typeface="Times New Roman" panose="02020603050405020304" pitchFamily="18" charset="0"/>
              <a:cs typeface="Times New Roman" panose="02020603050405020304" pitchFamily="18" charset="0"/>
            </a:endParaRPr>
          </a:p>
          <a:p>
            <a:pPr algn="just" defTabSz="914400">
              <a:defRPr/>
            </a:pPr>
            <a:r>
              <a:rPr lang="en-US" sz="2000" dirty="0">
                <a:latin typeface="Times New Roman" panose="02020603050405020304" pitchFamily="18" charset="0"/>
                <a:cs typeface="Times New Roman" panose="02020603050405020304" pitchFamily="18" charset="0"/>
              </a:rPr>
              <a:t>Integrate sentiment analysis using BERT and VADER techniques to incorporate real-time news data, assessing the impact of market sentiment on stock price predictions.</a:t>
            </a:r>
            <a:r>
              <a:rPr lang="en-AU" sz="2000" dirty="0">
                <a:latin typeface="Times New Roman" panose="02020603050405020304" pitchFamily="18" charset="0"/>
                <a:cs typeface="Times New Roman" panose="02020603050405020304" pitchFamily="18" charset="0"/>
              </a:rPr>
              <a:t> </a:t>
            </a:r>
          </a:p>
          <a:p>
            <a:pPr algn="just" defTabSz="914400">
              <a:defRPr/>
            </a:pPr>
            <a:endParaRPr lang="en-US" sz="2000" dirty="0">
              <a:latin typeface="Times New Roman" panose="02020603050405020304" pitchFamily="18" charset="0"/>
              <a:cs typeface="Times New Roman" panose="02020603050405020304" pitchFamily="18" charset="0"/>
            </a:endParaRPr>
          </a:p>
          <a:p>
            <a:pPr algn="just" defTabSz="914400">
              <a:defRPr/>
            </a:pPr>
            <a:r>
              <a:rPr lang="en-US" sz="2000" dirty="0">
                <a:latin typeface="Times New Roman" panose="02020603050405020304" pitchFamily="18" charset="0"/>
                <a:cs typeface="Times New Roman" panose="02020603050405020304" pitchFamily="18" charset="0"/>
              </a:rPr>
              <a:t>Compare the performance of deep learning models (LSTM, GRU, RNN) and traditional methods (Random Forest, Gradient Boosting) in terms of accuracy, risk reduction, and real-world applicability.</a:t>
            </a:r>
          </a:p>
          <a:p>
            <a:pPr marL="0" indent="0" defTabSz="914400">
              <a:buFont typeface="Arial" panose="020B0604020202020204" pitchFamily="34" charset="0"/>
              <a:buNone/>
              <a:defRPr/>
            </a:pPr>
            <a:endParaRPr lang="en-US" altLang="en-US" sz="2000" b="1" dirty="0">
              <a:solidFill>
                <a:sysClr val="windowText" lastClr="000000"/>
              </a:solidFill>
            </a:endParaRPr>
          </a:p>
          <a:p>
            <a:pPr marL="0" indent="0" defTabSz="914400">
              <a:buFont typeface="Arial" panose="020B0604020202020204" pitchFamily="34" charset="0"/>
              <a:buNone/>
              <a:defRPr/>
            </a:pPr>
            <a:endParaRPr lang="en-US" altLang="en-US" sz="2000" b="1" dirty="0">
              <a:solidFill>
                <a:sysClr val="windowText" lastClr="000000"/>
              </a:solidFill>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A93F087C-9207-8575-659C-DBBBD460B10F}"/>
              </a:ext>
            </a:extLst>
          </p:cNvPr>
          <p:cNvSpPr>
            <a:spLocks noGrp="1" noChangeArrowheads="1"/>
          </p:cNvSpPr>
          <p:nvPr>
            <p:ph type="title"/>
          </p:nvPr>
        </p:nvSpPr>
        <p:spPr>
          <a:xfrm>
            <a:off x="519113" y="0"/>
            <a:ext cx="9066212" cy="587375"/>
          </a:xfrm>
        </p:spPr>
        <p:txBody>
          <a:bodyPr/>
          <a:lstStyle/>
          <a:p>
            <a:pPr>
              <a:defRPr/>
            </a:pPr>
            <a:r>
              <a:rPr lang="en-IN" altLang="en-US" sz="3600" b="1">
                <a:solidFill>
                  <a:srgbClr val="000000"/>
                </a:solidFill>
                <a:effectLst>
                  <a:outerShdw blurRad="38100" dist="38100" dir="2700000" algn="tl">
                    <a:srgbClr val="000000">
                      <a:alpha val="43137"/>
                    </a:srgbClr>
                  </a:outerShdw>
                </a:effectLst>
                <a:latin typeface="Times New Roman" panose="02020603050405020304" pitchFamily="18" charset="0"/>
                <a:ea typeface="+mn-ea"/>
              </a:rPr>
              <a:t>Literature Review </a:t>
            </a:r>
          </a:p>
        </p:txBody>
      </p:sp>
      <p:graphicFrame>
        <p:nvGraphicFramePr>
          <p:cNvPr id="4" name="Table 3">
            <a:extLst>
              <a:ext uri="{FF2B5EF4-FFF2-40B4-BE49-F238E27FC236}">
                <a16:creationId xmlns:a16="http://schemas.microsoft.com/office/drawing/2014/main" id="{9A351EA6-CF2F-9E54-90A6-B4F723E89CA2}"/>
              </a:ext>
            </a:extLst>
          </p:cNvPr>
          <p:cNvGraphicFramePr>
            <a:graphicFrameLocks noGrp="1"/>
          </p:cNvGraphicFramePr>
          <p:nvPr>
            <p:extLst>
              <p:ext uri="{D42A27DB-BD31-4B8C-83A1-F6EECF244321}">
                <p14:modId xmlns:p14="http://schemas.microsoft.com/office/powerpoint/2010/main" val="809011446"/>
              </p:ext>
            </p:extLst>
          </p:nvPr>
        </p:nvGraphicFramePr>
        <p:xfrm>
          <a:off x="519113" y="668867"/>
          <a:ext cx="8553449" cy="6890808"/>
        </p:xfrm>
        <a:graphic>
          <a:graphicData uri="http://schemas.openxmlformats.org/drawingml/2006/table">
            <a:tbl>
              <a:tblPr>
                <a:tableStyleId>{D7AC3CCA-C797-4891-BE02-D94E43425B78}</a:tableStyleId>
              </a:tblPr>
              <a:tblGrid>
                <a:gridCol w="628292">
                  <a:extLst>
                    <a:ext uri="{9D8B030D-6E8A-4147-A177-3AD203B41FA5}">
                      <a16:colId xmlns:a16="http://schemas.microsoft.com/office/drawing/2014/main" val="20000"/>
                    </a:ext>
                  </a:extLst>
                </a:gridCol>
                <a:gridCol w="1587323">
                  <a:extLst>
                    <a:ext uri="{9D8B030D-6E8A-4147-A177-3AD203B41FA5}">
                      <a16:colId xmlns:a16="http://schemas.microsoft.com/office/drawing/2014/main" val="20001"/>
                    </a:ext>
                  </a:extLst>
                </a:gridCol>
                <a:gridCol w="1878326">
                  <a:extLst>
                    <a:ext uri="{9D8B030D-6E8A-4147-A177-3AD203B41FA5}">
                      <a16:colId xmlns:a16="http://schemas.microsoft.com/office/drawing/2014/main" val="20002"/>
                    </a:ext>
                  </a:extLst>
                </a:gridCol>
                <a:gridCol w="539848">
                  <a:extLst>
                    <a:ext uri="{9D8B030D-6E8A-4147-A177-3AD203B41FA5}">
                      <a16:colId xmlns:a16="http://schemas.microsoft.com/office/drawing/2014/main" val="20003"/>
                    </a:ext>
                  </a:extLst>
                </a:gridCol>
                <a:gridCol w="2118083">
                  <a:extLst>
                    <a:ext uri="{9D8B030D-6E8A-4147-A177-3AD203B41FA5}">
                      <a16:colId xmlns:a16="http://schemas.microsoft.com/office/drawing/2014/main" val="20004"/>
                    </a:ext>
                  </a:extLst>
                </a:gridCol>
                <a:gridCol w="1801577">
                  <a:extLst>
                    <a:ext uri="{9D8B030D-6E8A-4147-A177-3AD203B41FA5}">
                      <a16:colId xmlns:a16="http://schemas.microsoft.com/office/drawing/2014/main" val="20005"/>
                    </a:ext>
                  </a:extLst>
                </a:gridCol>
              </a:tblGrid>
              <a:tr h="351352">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Sr.no</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5" marR="68575"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Title</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5" marR="68575"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Author(s)</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5" marR="68575"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Year</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5" marR="68575"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Methodology</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5" marR="68575"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Drawback</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5" marR="68575" marT="0" marB="0" horzOverflow="overflow"/>
                </a:tc>
                <a:extLst>
                  <a:ext uri="{0D108BD9-81ED-4DB2-BD59-A6C34878D82A}">
                    <a16:rowId xmlns:a16="http://schemas.microsoft.com/office/drawing/2014/main" val="10000"/>
                  </a:ext>
                </a:extLst>
              </a:tr>
              <a:tr h="3344441">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IN" altLang="en-US" sz="1400" u="none" strike="noStrike" cap="none" normalizeH="0" baseline="0">
                          <a:ln>
                            <a:noFill/>
                          </a:ln>
                          <a:effectLst/>
                          <a:latin typeface="Times New Roman" panose="02020603050405020304" pitchFamily="18" charset="0"/>
                          <a:cs typeface="Times New Roman" panose="02020603050405020304" pitchFamily="18" charset="0"/>
                        </a:rPr>
                        <a:t>1</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5" marR="68575"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7000"/>
                        </a:lnSpc>
                        <a:spcBef>
                          <a:spcPct val="0"/>
                        </a:spcBef>
                        <a:spcAft>
                          <a:spcPts val="800"/>
                        </a:spcAft>
                        <a:buClrTx/>
                        <a:buSzTx/>
                        <a:buFontTx/>
                        <a:buNone/>
                        <a:tabLst/>
                        <a:defRPr/>
                      </a:pPr>
                      <a:r>
                        <a:rPr lang="en-US" sz="1400">
                          <a:latin typeface="Times New Roman" panose="02020603050405020304" pitchFamily="18" charset="0"/>
                          <a:cs typeface="Times New Roman" panose="02020603050405020304" pitchFamily="18" charset="0"/>
                        </a:rPr>
                        <a:t>Stock Market Prediction With </a:t>
                      </a:r>
                      <a:r>
                        <a:rPr lang="en-US" sz="1400" err="1">
                          <a:latin typeface="Times New Roman" panose="02020603050405020304" pitchFamily="18" charset="0"/>
                          <a:cs typeface="Times New Roman" panose="02020603050405020304" pitchFamily="18" charset="0"/>
                        </a:rPr>
                        <a:t>Transductive</a:t>
                      </a:r>
                      <a:r>
                        <a:rPr lang="en-US" sz="1400">
                          <a:latin typeface="Times New Roman" panose="02020603050405020304" pitchFamily="18" charset="0"/>
                          <a:cs typeface="Times New Roman" panose="02020603050405020304" pitchFamily="18" charset="0"/>
                        </a:rPr>
                        <a:t> Long Short-Term Memory and Social Media Sentiment Analysis</a:t>
                      </a:r>
                    </a:p>
                    <a:p>
                      <a:pPr marL="0" marR="0" lvl="0" indent="0" algn="l" defTabSz="503238" rtl="0" eaLnBrk="1" fontAlgn="base" latinLnBrk="0" hangingPunct="1">
                        <a:lnSpc>
                          <a:spcPct val="107000"/>
                        </a:lnSpc>
                        <a:spcBef>
                          <a:spcPct val="0"/>
                        </a:spcBef>
                        <a:spcAft>
                          <a:spcPts val="800"/>
                        </a:spcAft>
                        <a:buClrTx/>
                        <a:buSzTx/>
                        <a:buFontTx/>
                        <a:buNone/>
                        <a:tabLst/>
                      </a:pPr>
                      <a:endParaRPr kumimoji="0" lang="en-US" altLang="en-US" sz="14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5" marR="68575"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0000"/>
                        </a:lnSpc>
                        <a:spcBef>
                          <a:spcPts val="13"/>
                        </a:spcBef>
                        <a:spcAft>
                          <a:spcPct val="0"/>
                        </a:spcAft>
                        <a:buClrTx/>
                        <a:buSzTx/>
                        <a:buFontTx/>
                        <a:buNone/>
                        <a:tabLst/>
                        <a:defRPr/>
                      </a:pPr>
                      <a:r>
                        <a:rPr lang="en-AU" sz="1400">
                          <a:latin typeface="Times New Roman" panose="02020603050405020304" pitchFamily="18" charset="0"/>
                          <a:cs typeface="Times New Roman" panose="02020603050405020304" pitchFamily="18" charset="0"/>
                        </a:rPr>
                        <a:t>Ali </a:t>
                      </a:r>
                      <a:r>
                        <a:rPr lang="en-AU" sz="1400" err="1">
                          <a:latin typeface="Times New Roman" panose="02020603050405020304" pitchFamily="18" charset="0"/>
                          <a:cs typeface="Times New Roman" panose="02020603050405020304" pitchFamily="18" charset="0"/>
                        </a:rPr>
                        <a:t>Peivandizadeh</a:t>
                      </a:r>
                      <a:r>
                        <a:rPr lang="en-AU" sz="1400">
                          <a:latin typeface="Times New Roman" panose="02020603050405020304" pitchFamily="18" charset="0"/>
                          <a:cs typeface="Times New Roman" panose="02020603050405020304" pitchFamily="18" charset="0"/>
                        </a:rPr>
                        <a:t>, Sima </a:t>
                      </a:r>
                      <a:r>
                        <a:rPr lang="en-AU" sz="1400" err="1">
                          <a:latin typeface="Times New Roman" panose="02020603050405020304" pitchFamily="18" charset="0"/>
                          <a:cs typeface="Times New Roman" panose="02020603050405020304" pitchFamily="18" charset="0"/>
                        </a:rPr>
                        <a:t>Hatami</a:t>
                      </a:r>
                      <a:r>
                        <a:rPr lang="en-AU" sz="1400">
                          <a:latin typeface="Times New Roman" panose="02020603050405020304" pitchFamily="18" charset="0"/>
                          <a:cs typeface="Times New Roman" panose="02020603050405020304" pitchFamily="18" charset="0"/>
                        </a:rPr>
                        <a:t>, Amirhossein </a:t>
                      </a:r>
                      <a:r>
                        <a:rPr lang="en-AU" sz="1400" err="1">
                          <a:latin typeface="Times New Roman" panose="02020603050405020304" pitchFamily="18" charset="0"/>
                          <a:cs typeface="Times New Roman" panose="02020603050405020304" pitchFamily="18" charset="0"/>
                        </a:rPr>
                        <a:t>Nakhjavani</a:t>
                      </a:r>
                      <a:r>
                        <a:rPr lang="en-AU" sz="1400">
                          <a:latin typeface="Times New Roman" panose="02020603050405020304" pitchFamily="18" charset="0"/>
                          <a:cs typeface="Times New Roman" panose="02020603050405020304" pitchFamily="18" charset="0"/>
                        </a:rPr>
                        <a:t>, Lida </a:t>
                      </a:r>
                      <a:r>
                        <a:rPr lang="en-AU" sz="1400" err="1">
                          <a:latin typeface="Times New Roman" panose="02020603050405020304" pitchFamily="18" charset="0"/>
                          <a:cs typeface="Times New Roman" panose="02020603050405020304" pitchFamily="18" charset="0"/>
                        </a:rPr>
                        <a:t>Khoshsima</a:t>
                      </a:r>
                      <a:r>
                        <a:rPr lang="en-AU" sz="1400">
                          <a:latin typeface="Times New Roman" panose="02020603050405020304" pitchFamily="18" charset="0"/>
                          <a:cs typeface="Times New Roman" panose="02020603050405020304" pitchFamily="18" charset="0"/>
                        </a:rPr>
                        <a:t>, Mohammad Reza </a:t>
                      </a:r>
                      <a:r>
                        <a:rPr lang="en-AU" sz="1400" err="1">
                          <a:latin typeface="Times New Roman" panose="02020603050405020304" pitchFamily="18" charset="0"/>
                          <a:cs typeface="Times New Roman" panose="02020603050405020304" pitchFamily="18" charset="0"/>
                        </a:rPr>
                        <a:t>Chalak</a:t>
                      </a:r>
                      <a:r>
                        <a:rPr lang="en-AU" sz="1400">
                          <a:latin typeface="Times New Roman" panose="02020603050405020304" pitchFamily="18" charset="0"/>
                          <a:cs typeface="Times New Roman" panose="02020603050405020304" pitchFamily="18" charset="0"/>
                        </a:rPr>
                        <a:t> </a:t>
                      </a:r>
                      <a:r>
                        <a:rPr lang="en-AU" sz="1400" err="1">
                          <a:latin typeface="Times New Roman" panose="02020603050405020304" pitchFamily="18" charset="0"/>
                          <a:cs typeface="Times New Roman" panose="02020603050405020304" pitchFamily="18" charset="0"/>
                        </a:rPr>
                        <a:t>Qazani</a:t>
                      </a:r>
                      <a:r>
                        <a:rPr lang="en-AU" sz="1400">
                          <a:latin typeface="Times New Roman" panose="02020603050405020304" pitchFamily="18" charset="0"/>
                          <a:cs typeface="Times New Roman" panose="02020603050405020304" pitchFamily="18" charset="0"/>
                        </a:rPr>
                        <a:t>, Muhammad Haleem, </a:t>
                      </a:r>
                      <a:r>
                        <a:rPr lang="en-AU" sz="1400" err="1">
                          <a:latin typeface="Times New Roman" panose="02020603050405020304" pitchFamily="18" charset="0"/>
                          <a:cs typeface="Times New Roman" panose="02020603050405020304" pitchFamily="18" charset="0"/>
                        </a:rPr>
                        <a:t>Roohallah</a:t>
                      </a:r>
                      <a:r>
                        <a:rPr lang="en-AU" sz="1400">
                          <a:latin typeface="Times New Roman" panose="02020603050405020304" pitchFamily="18" charset="0"/>
                          <a:cs typeface="Times New Roman" panose="02020603050405020304" pitchFamily="18" charset="0"/>
                        </a:rPr>
                        <a:t> </a:t>
                      </a:r>
                      <a:r>
                        <a:rPr lang="en-AU" sz="1400" err="1">
                          <a:latin typeface="Times New Roman" panose="02020603050405020304" pitchFamily="18" charset="0"/>
                          <a:cs typeface="Times New Roman" panose="02020603050405020304" pitchFamily="18" charset="0"/>
                        </a:rPr>
                        <a:t>Alizadehsani</a:t>
                      </a:r>
                      <a:endParaRPr lang="en-AU" sz="1400">
                        <a:latin typeface="Times New Roman" panose="02020603050405020304" pitchFamily="18" charset="0"/>
                        <a:cs typeface="Times New Roman" panose="02020603050405020304" pitchFamily="18" charset="0"/>
                      </a:endParaRPr>
                    </a:p>
                    <a:p>
                      <a:pPr marL="0" marR="0" lvl="0" indent="0" algn="l" defTabSz="503238" rtl="0" eaLnBrk="1" fontAlgn="base" latinLnBrk="0" hangingPunct="1">
                        <a:lnSpc>
                          <a:spcPct val="100000"/>
                        </a:lnSpc>
                        <a:spcBef>
                          <a:spcPts val="13"/>
                        </a:spcBef>
                        <a:spcAft>
                          <a:spcPct val="0"/>
                        </a:spcAft>
                        <a:buClrTx/>
                        <a:buSzTx/>
                        <a:buFontTx/>
                        <a:buNone/>
                        <a:tabLst/>
                      </a:pPr>
                      <a:endPar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5" marR="68575"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0000"/>
                        </a:lnSpc>
                        <a:spcBef>
                          <a:spcPts val="13"/>
                        </a:spcBef>
                        <a:spcAft>
                          <a:spcPct val="0"/>
                        </a:spcAft>
                        <a:buClrTx/>
                        <a:buSzTx/>
                        <a:buFontTx/>
                        <a:buNone/>
                        <a:tabLst/>
                      </a:pPr>
                      <a:r>
                        <a:rPr lang="en-AU" sz="1400">
                          <a:latin typeface="Times New Roman" panose="02020603050405020304" pitchFamily="18" charset="0"/>
                          <a:cs typeface="Times New Roman" panose="02020603050405020304" pitchFamily="18" charset="0"/>
                        </a:rPr>
                        <a:t>2024</a:t>
                      </a:r>
                      <a:endPar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5" marR="68575"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342900" indent="-342900">
                        <a:buClrTx/>
                        <a:buSzPct val="100000"/>
                        <a:buFont typeface="+mj-lt"/>
                        <a:buAutoNum type="arabicPeriod"/>
                      </a:pPr>
                      <a:r>
                        <a:rPr lang="en-AU" sz="1400">
                          <a:latin typeface="Times New Roman" panose="02020603050405020304" pitchFamily="18" charset="0"/>
                          <a:cs typeface="Times New Roman" panose="02020603050405020304" pitchFamily="18" charset="0"/>
                        </a:rPr>
                        <a:t>Combines TLSTM (</a:t>
                      </a:r>
                      <a:r>
                        <a:rPr lang="en-AU" sz="1400" err="1">
                          <a:latin typeface="Times New Roman" panose="02020603050405020304" pitchFamily="18" charset="0"/>
                          <a:cs typeface="Times New Roman" panose="02020603050405020304" pitchFamily="18" charset="0"/>
                        </a:rPr>
                        <a:t>Transductive</a:t>
                      </a:r>
                      <a:r>
                        <a:rPr lang="en-AU" sz="1400">
                          <a:latin typeface="Times New Roman" panose="02020603050405020304" pitchFamily="18" charset="0"/>
                          <a:cs typeface="Times New Roman" panose="02020603050405020304" pitchFamily="18" charset="0"/>
                        </a:rPr>
                        <a:t> LSTM) for stock price prediction with social media sentiment analysis. </a:t>
                      </a:r>
                    </a:p>
                    <a:p>
                      <a:pPr marL="342900" indent="-342900">
                        <a:buClrTx/>
                        <a:buSzPct val="100000"/>
                        <a:buFont typeface="+mj-lt"/>
                        <a:buAutoNum type="arabicPeriod"/>
                      </a:pPr>
                      <a:r>
                        <a:rPr lang="en-AU" sz="1400">
                          <a:latin typeface="Times New Roman" panose="02020603050405020304" pitchFamily="18" charset="0"/>
                          <a:cs typeface="Times New Roman" panose="02020603050405020304" pitchFamily="18" charset="0"/>
                        </a:rPr>
                        <a:t>Uses Off-Policy Proximal Policy Optimization (PPO) to handle class imbalances.</a:t>
                      </a:r>
                    </a:p>
                    <a:p>
                      <a:pPr marL="342900" marR="0" lvl="0" indent="-342900" algn="l" defTabSz="503238" rtl="0" eaLnBrk="1" fontAlgn="base" latinLnBrk="0" hangingPunct="1">
                        <a:lnSpc>
                          <a:spcPct val="107000"/>
                        </a:lnSpc>
                        <a:spcBef>
                          <a:spcPct val="0"/>
                        </a:spcBef>
                        <a:spcAft>
                          <a:spcPts val="800"/>
                        </a:spcAft>
                        <a:buClrTx/>
                        <a:buSzPct val="100000"/>
                        <a:buFont typeface="+mj-lt"/>
                        <a:buAutoNum type="arabicPeriod"/>
                        <a:tabLst/>
                      </a:pPr>
                      <a:endParaRPr kumimoji="0" lang="en-IN" altLang="en-US" sz="14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5" marR="68575"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228600" indent="-228600">
                        <a:buClrTx/>
                        <a:buSzPct val="100000"/>
                        <a:buFont typeface="+mj-lt"/>
                        <a:buAutoNum type="arabicPeriod"/>
                      </a:pPr>
                      <a:r>
                        <a:rPr lang="en-US" sz="1400">
                          <a:latin typeface="Times New Roman" panose="02020603050405020304" pitchFamily="18" charset="0"/>
                          <a:cs typeface="Times New Roman" panose="02020603050405020304" pitchFamily="18" charset="0"/>
                        </a:rPr>
                        <a:t>Over-reliance on sentiment from social media.</a:t>
                      </a:r>
                    </a:p>
                    <a:p>
                      <a:pPr marL="228600" indent="-228600">
                        <a:buClrTx/>
                        <a:buSzPct val="100000"/>
                        <a:buFont typeface="+mj-lt"/>
                        <a:buAutoNum type="arabicPeriod"/>
                      </a:pPr>
                      <a:r>
                        <a:rPr lang="en-US" sz="1400">
                          <a:latin typeface="Times New Roman" panose="02020603050405020304" pitchFamily="18" charset="0"/>
                          <a:cs typeface="Times New Roman" panose="02020603050405020304" pitchFamily="18" charset="0"/>
                        </a:rPr>
                        <a:t>Complex architecture requires significant computational resources. </a:t>
                      </a:r>
                    </a:p>
                    <a:p>
                      <a:pPr marL="228600" indent="-228600">
                        <a:buClrTx/>
                        <a:buSzPct val="100000"/>
                        <a:buFont typeface="+mj-lt"/>
                        <a:buAutoNum type="arabicPeriod"/>
                      </a:pPr>
                      <a:r>
                        <a:rPr lang="en-US" sz="1400">
                          <a:latin typeface="Times New Roman" panose="02020603050405020304" pitchFamily="18" charset="0"/>
                          <a:cs typeface="Times New Roman" panose="02020603050405020304" pitchFamily="18" charset="0"/>
                        </a:rPr>
                        <a:t>Data imbalances in sentiment analysis can still affect the model's performance.</a:t>
                      </a:r>
                    </a:p>
                    <a:p>
                      <a:pPr marL="0" marR="0" lvl="0" indent="0" algn="l" defTabSz="503238" rtl="0" eaLnBrk="1" fontAlgn="base" latinLnBrk="0" hangingPunct="1">
                        <a:lnSpc>
                          <a:spcPct val="100000"/>
                        </a:lnSpc>
                        <a:spcBef>
                          <a:spcPts val="13"/>
                        </a:spcBef>
                        <a:spcAft>
                          <a:spcPct val="0"/>
                        </a:spcAft>
                        <a:buClrTx/>
                        <a:buSzPct val="100000"/>
                        <a:buFont typeface="+mj-lt"/>
                        <a:buNone/>
                        <a:tabLst/>
                      </a:pPr>
                      <a:endPar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5" marR="68575" marT="0" marB="0" horzOverflow="overflow"/>
                </a:tc>
                <a:extLst>
                  <a:ext uri="{0D108BD9-81ED-4DB2-BD59-A6C34878D82A}">
                    <a16:rowId xmlns:a16="http://schemas.microsoft.com/office/drawing/2014/main" val="10001"/>
                  </a:ext>
                </a:extLst>
              </a:tr>
              <a:tr h="3195015">
                <a:tc>
                  <a:txBody>
                    <a:body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a:t>
                      </a:r>
                    </a:p>
                  </a:txBody>
                  <a:tcPr marL="68575" marR="68575" marT="0" marB="0" horzOverflow="overflow"/>
                </a:tc>
                <a:tc>
                  <a:txBody>
                    <a:bodyPr/>
                    <a:lstStyle/>
                    <a:p>
                      <a:r>
                        <a:rPr lang="en-US" sz="1400">
                          <a:latin typeface="Times New Roman" panose="02020603050405020304" pitchFamily="18" charset="0"/>
                          <a:cs typeface="Times New Roman" panose="02020603050405020304" pitchFamily="18" charset="0"/>
                        </a:rPr>
                        <a:t>A Stock Price Prediction Model Based on Investor Sentiment and Optimized Deep Learning</a:t>
                      </a:r>
                    </a:p>
                  </a:txBody>
                  <a:tcPr marL="91432" marR="91432" marT="45712" marB="45712"/>
                </a:tc>
                <a:tc>
                  <a:txBody>
                    <a:bodyPr/>
                    <a:lstStyle/>
                    <a:p>
                      <a:pPr marL="0" marR="0" lvl="0" indent="0" algn="l" defTabSz="503238" rtl="0" eaLnBrk="1" fontAlgn="base" latinLnBrk="0" hangingPunct="1">
                        <a:lnSpc>
                          <a:spcPct val="100000"/>
                        </a:lnSpc>
                        <a:spcBef>
                          <a:spcPts val="13"/>
                        </a:spcBef>
                        <a:spcAft>
                          <a:spcPct val="0"/>
                        </a:spcAft>
                        <a:buClrTx/>
                        <a:buSzTx/>
                        <a:buFontTx/>
                        <a:buNone/>
                        <a:tabLst/>
                        <a:defRPr/>
                      </a:pPr>
                      <a:r>
                        <a:rPr lang="de-DE" sz="1400">
                          <a:latin typeface="Times New Roman" panose="02020603050405020304" pitchFamily="18" charset="0"/>
                          <a:cs typeface="Times New Roman" panose="02020603050405020304" pitchFamily="18" charset="0"/>
                        </a:rPr>
                        <a:t>Guangyu Mu, Nan Gao, Yuhan Wang, Li Dai</a:t>
                      </a:r>
                    </a:p>
                    <a:p>
                      <a:pPr marL="0" marR="0" lvl="0" indent="0" algn="l" defTabSz="503238" rtl="0" eaLnBrk="1" fontAlgn="base" latinLnBrk="0" hangingPunct="1">
                        <a:lnSpc>
                          <a:spcPct val="100000"/>
                        </a:lnSpc>
                        <a:spcBef>
                          <a:spcPts val="13"/>
                        </a:spcBef>
                        <a:spcAft>
                          <a:spcPct val="0"/>
                        </a:spcAft>
                        <a:buClrTx/>
                        <a:buSzTx/>
                        <a:buFontTx/>
                        <a:buNone/>
                        <a:tabLst/>
                      </a:pPr>
                      <a:endPar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5" marR="68575" marT="0" marB="0" horzOverflow="overflow"/>
                </a:tc>
                <a:tc>
                  <a:txBody>
                    <a:bodyPr/>
                    <a:lstStyle/>
                    <a:p>
                      <a:pPr marL="0" marR="0" lvl="0" indent="0" algn="l"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2023</a:t>
                      </a:r>
                    </a:p>
                  </a:txBody>
                  <a:tcPr marL="68575" marR="68575" marT="0" marB="0" horzOverflow="overflow"/>
                </a:tc>
                <a:tc>
                  <a:txBody>
                    <a:bodyPr/>
                    <a:lstStyle/>
                    <a:p>
                      <a:pPr marL="342900" indent="-342900">
                        <a:buClrTx/>
                        <a:buSzPct val="100000"/>
                        <a:buFont typeface="+mj-lt"/>
                        <a:buAutoNum type="arabicPeriod"/>
                      </a:pPr>
                      <a:r>
                        <a:rPr lang="en-AU" sz="1400">
                          <a:solidFill>
                            <a:schemeClr val="tx1"/>
                          </a:solidFill>
                          <a:latin typeface="Times New Roman" panose="02020603050405020304" pitchFamily="18" charset="0"/>
                          <a:cs typeface="Times New Roman" panose="02020603050405020304" pitchFamily="18" charset="0"/>
                        </a:rPr>
                        <a:t>MS-SSA-LSTM model integrates multi-source data, such as: Investor sentiment from forums , </a:t>
                      </a:r>
                      <a:r>
                        <a:rPr lang="en-AU" sz="1400">
                          <a:latin typeface="Times New Roman" panose="02020603050405020304" pitchFamily="18" charset="0"/>
                          <a:cs typeface="Times New Roman" panose="02020603050405020304" pitchFamily="18" charset="0"/>
                        </a:rPr>
                        <a:t>Stock trading data.</a:t>
                      </a:r>
                    </a:p>
                    <a:p>
                      <a:pPr marL="342900" indent="-342900">
                        <a:buClrTx/>
                        <a:buSzPct val="100000"/>
                        <a:buFont typeface="+mj-lt"/>
                        <a:buAutoNum type="arabicPeriod"/>
                      </a:pPr>
                      <a:r>
                        <a:rPr lang="en-AU" sz="1400">
                          <a:latin typeface="Times New Roman" panose="02020603050405020304" pitchFamily="18" charset="0"/>
                          <a:cs typeface="Times New Roman" panose="02020603050405020304" pitchFamily="18" charset="0"/>
                        </a:rPr>
                        <a:t>Optimizes LSTM (Long Short-Term Memory) using the Sparrow Search Algorithm.</a:t>
                      </a:r>
                    </a:p>
                    <a:p>
                      <a:pPr marL="342900" indent="-342900">
                        <a:buClrTx/>
                        <a:buSzPct val="100000"/>
                        <a:buFont typeface="+mj-lt"/>
                        <a:buAutoNum type="arabicPeriod"/>
                      </a:pPr>
                      <a:r>
                        <a:rPr lang="en-AU" sz="1400">
                          <a:latin typeface="Times New Roman" panose="02020603050405020304" pitchFamily="18" charset="0"/>
                          <a:cs typeface="Times New Roman" panose="02020603050405020304" pitchFamily="18" charset="0"/>
                        </a:rPr>
                        <a:t>Uses a sentiment dictionary to improve prediction accuracy.</a:t>
                      </a:r>
                      <a:endParaRPr kumimoji="0" lang="en-IN" altLang="en-US" sz="14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5" marR="68575" marT="0" marB="0" horzOverflow="overflow"/>
                </a:tc>
                <a:tc>
                  <a:txBody>
                    <a:bodyPr/>
                    <a:lstStyle/>
                    <a:p>
                      <a:pPr marL="228600" indent="-228600">
                        <a:buFont typeface="+mj-lt"/>
                        <a:buAutoNum type="arabicPeriod"/>
                      </a:pPr>
                      <a:r>
                        <a:rPr lang="en-US" sz="1400">
                          <a:latin typeface="Times New Roman" panose="02020603050405020304" pitchFamily="18" charset="0"/>
                          <a:cs typeface="Times New Roman" panose="02020603050405020304" pitchFamily="18" charset="0"/>
                        </a:rPr>
                        <a:t>model heavily depends on sentiment data</a:t>
                      </a:r>
                    </a:p>
                    <a:p>
                      <a:pPr marL="228600" indent="-228600">
                        <a:buFont typeface="+mj-lt"/>
                        <a:buAutoNum type="arabicPeriod"/>
                      </a:pPr>
                      <a:r>
                        <a:rPr lang="en-US" sz="1400">
                          <a:latin typeface="Times New Roman" panose="02020603050405020304" pitchFamily="18" charset="0"/>
                          <a:cs typeface="Times New Roman" panose="02020603050405020304" pitchFamily="18" charset="0"/>
                        </a:rPr>
                        <a:t>Sentiment categorization is limited to positive and negative emotions.</a:t>
                      </a:r>
                    </a:p>
                    <a:p>
                      <a:pPr marL="228600" indent="-228600">
                        <a:buFont typeface="+mj-lt"/>
                        <a:buAutoNum type="arabicPeriod"/>
                      </a:pPr>
                      <a:r>
                        <a:rPr lang="en-US" sz="1400">
                          <a:latin typeface="Times New Roman" panose="02020603050405020304" pitchFamily="18" charset="0"/>
                          <a:cs typeface="Times New Roman" panose="02020603050405020304" pitchFamily="18" charset="0"/>
                        </a:rPr>
                        <a:t>Lacks integration of more complex emotional aspects such as fear, anger, etc.</a:t>
                      </a:r>
                    </a:p>
                  </a:txBody>
                  <a:tcPr marL="68575" marR="68575" marT="0" marB="0" horzOverflow="overflow"/>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7F7C2-1399-A7E9-05F7-5CD416099FC0}"/>
              </a:ext>
            </a:extLst>
          </p:cNvPr>
          <p:cNvSpPr>
            <a:spLocks noGrp="1"/>
          </p:cNvSpPr>
          <p:nvPr>
            <p:ph type="title"/>
          </p:nvPr>
        </p:nvSpPr>
        <p:spPr>
          <a:xfrm>
            <a:off x="671513" y="671513"/>
            <a:ext cx="6997700" cy="1455737"/>
          </a:xfrm>
        </p:spPr>
        <p:txBody>
          <a:bodyPr/>
          <a:lstStyle/>
          <a:p>
            <a:pPr>
              <a:defRPr/>
            </a:pPr>
            <a:r>
              <a:rPr lang="en-IN" altLang="en-US" sz="4000" b="1">
                <a:solidFill>
                  <a:srgbClr val="000000"/>
                </a:solidFill>
                <a:effectLst>
                  <a:outerShdw blurRad="38100" dist="38100" dir="2700000" algn="tl">
                    <a:srgbClr val="000000">
                      <a:alpha val="43137"/>
                    </a:srgbClr>
                  </a:outerShdw>
                </a:effectLst>
                <a:latin typeface="Times New Roman" panose="02020603050405020304" pitchFamily="18" charset="0"/>
                <a:ea typeface="+mn-ea"/>
              </a:rPr>
              <a:t>Literature Review </a:t>
            </a:r>
            <a:endParaRPr lang="en-AU"/>
          </a:p>
        </p:txBody>
      </p:sp>
      <p:graphicFrame>
        <p:nvGraphicFramePr>
          <p:cNvPr id="5" name="Table 4">
            <a:extLst>
              <a:ext uri="{FF2B5EF4-FFF2-40B4-BE49-F238E27FC236}">
                <a16:creationId xmlns:a16="http://schemas.microsoft.com/office/drawing/2014/main" id="{A40D9C08-1DB6-CA1F-A81A-3EA5045273B4}"/>
              </a:ext>
            </a:extLst>
          </p:cNvPr>
          <p:cNvGraphicFramePr>
            <a:graphicFrameLocks noGrp="1"/>
          </p:cNvGraphicFramePr>
          <p:nvPr>
            <p:extLst>
              <p:ext uri="{D42A27DB-BD31-4B8C-83A1-F6EECF244321}">
                <p14:modId xmlns:p14="http://schemas.microsoft.com/office/powerpoint/2010/main" val="1581906395"/>
              </p:ext>
            </p:extLst>
          </p:nvPr>
        </p:nvGraphicFramePr>
        <p:xfrm>
          <a:off x="519113" y="1474788"/>
          <a:ext cx="8624887" cy="5870221"/>
        </p:xfrm>
        <a:graphic>
          <a:graphicData uri="http://schemas.openxmlformats.org/drawingml/2006/table">
            <a:tbl>
              <a:tblPr>
                <a:tableStyleId>{D7AC3CCA-C797-4891-BE02-D94E43425B78}</a:tableStyleId>
              </a:tblPr>
              <a:tblGrid>
                <a:gridCol w="561193">
                  <a:extLst>
                    <a:ext uri="{9D8B030D-6E8A-4147-A177-3AD203B41FA5}">
                      <a16:colId xmlns:a16="http://schemas.microsoft.com/office/drawing/2014/main" val="20000"/>
                    </a:ext>
                  </a:extLst>
                </a:gridCol>
                <a:gridCol w="1655937">
                  <a:extLst>
                    <a:ext uri="{9D8B030D-6E8A-4147-A177-3AD203B41FA5}">
                      <a16:colId xmlns:a16="http://schemas.microsoft.com/office/drawing/2014/main" val="20001"/>
                    </a:ext>
                  </a:extLst>
                </a:gridCol>
                <a:gridCol w="1911002">
                  <a:extLst>
                    <a:ext uri="{9D8B030D-6E8A-4147-A177-3AD203B41FA5}">
                      <a16:colId xmlns:a16="http://schemas.microsoft.com/office/drawing/2014/main" val="20002"/>
                    </a:ext>
                  </a:extLst>
                </a:gridCol>
                <a:gridCol w="544357">
                  <a:extLst>
                    <a:ext uri="{9D8B030D-6E8A-4147-A177-3AD203B41FA5}">
                      <a16:colId xmlns:a16="http://schemas.microsoft.com/office/drawing/2014/main" val="20003"/>
                    </a:ext>
                  </a:extLst>
                </a:gridCol>
                <a:gridCol w="2135774">
                  <a:extLst>
                    <a:ext uri="{9D8B030D-6E8A-4147-A177-3AD203B41FA5}">
                      <a16:colId xmlns:a16="http://schemas.microsoft.com/office/drawing/2014/main" val="20004"/>
                    </a:ext>
                  </a:extLst>
                </a:gridCol>
                <a:gridCol w="1816624">
                  <a:extLst>
                    <a:ext uri="{9D8B030D-6E8A-4147-A177-3AD203B41FA5}">
                      <a16:colId xmlns:a16="http://schemas.microsoft.com/office/drawing/2014/main" val="20005"/>
                    </a:ext>
                  </a:extLst>
                </a:gridCol>
              </a:tblGrid>
              <a:tr h="617635">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Sr.no</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Title</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Author(s)</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Year</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Methodology</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Drawback</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extLst>
                  <a:ext uri="{0D108BD9-81ED-4DB2-BD59-A6C34878D82A}">
                    <a16:rowId xmlns:a16="http://schemas.microsoft.com/office/drawing/2014/main" val="10000"/>
                  </a:ext>
                </a:extLst>
              </a:tr>
              <a:tr h="2119348">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a:t>
                      </a:r>
                    </a:p>
                  </a:txBody>
                  <a:tcPr marL="68571" marR="68571" marT="0" marB="0" horzOverflow="overflow"/>
                </a:tc>
                <a:tc>
                  <a:txBody>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lang="en-US" sz="1400">
                          <a:latin typeface="Times New Roman" panose="02020603050405020304" pitchFamily="18" charset="0"/>
                          <a:cs typeface="Times New Roman" panose="02020603050405020304" pitchFamily="18" charset="0"/>
                        </a:rPr>
                        <a:t>A Deep Reinforcement Learning-Based Decision Support System for Automated Stock Market Trading</a:t>
                      </a:r>
                    </a:p>
                    <a:p>
                      <a:pPr lvl="0" algn="l"/>
                      <a:endParaRPr lang="en-US" sz="1400">
                        <a:latin typeface="Times New Roman" panose="02020603050405020304" pitchFamily="18" charset="0"/>
                        <a:cs typeface="Times New Roman" panose="02020603050405020304" pitchFamily="18" charset="0"/>
                      </a:endParaRPr>
                    </a:p>
                  </a:txBody>
                  <a:tcPr marL="91426" marR="91426" marT="45731" marB="45731"/>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0000"/>
                        </a:lnSpc>
                        <a:spcBef>
                          <a:spcPts val="13"/>
                        </a:spcBef>
                        <a:spcAft>
                          <a:spcPct val="0"/>
                        </a:spcAft>
                        <a:buClrTx/>
                        <a:buSzTx/>
                        <a:buFontTx/>
                        <a:buNone/>
                        <a:tabLst/>
                        <a:defRPr/>
                      </a:pPr>
                      <a:r>
                        <a:rPr lang="en-AU" sz="1400">
                          <a:latin typeface="Times New Roman" panose="02020603050405020304" pitchFamily="18" charset="0"/>
                          <a:cs typeface="Times New Roman" panose="02020603050405020304" pitchFamily="18" charset="0"/>
                        </a:rPr>
                        <a:t>Yasmeen Ansari, Sadaf Yasmin, </a:t>
                      </a:r>
                      <a:r>
                        <a:rPr lang="en-AU" sz="1400" err="1">
                          <a:latin typeface="Times New Roman" panose="02020603050405020304" pitchFamily="18" charset="0"/>
                          <a:cs typeface="Times New Roman" panose="02020603050405020304" pitchFamily="18" charset="0"/>
                        </a:rPr>
                        <a:t>Sheneela</a:t>
                      </a:r>
                      <a:r>
                        <a:rPr lang="en-AU" sz="1400">
                          <a:latin typeface="Times New Roman" panose="02020603050405020304" pitchFamily="18" charset="0"/>
                          <a:cs typeface="Times New Roman" panose="02020603050405020304" pitchFamily="18" charset="0"/>
                        </a:rPr>
                        <a:t> Naz, Hira </a:t>
                      </a:r>
                      <a:r>
                        <a:rPr lang="en-AU" sz="1400" err="1">
                          <a:latin typeface="Times New Roman" panose="02020603050405020304" pitchFamily="18" charset="0"/>
                          <a:cs typeface="Times New Roman" panose="02020603050405020304" pitchFamily="18" charset="0"/>
                        </a:rPr>
                        <a:t>Zaffar</a:t>
                      </a:r>
                      <a:r>
                        <a:rPr lang="en-AU" sz="1400">
                          <a:latin typeface="Times New Roman" panose="02020603050405020304" pitchFamily="18" charset="0"/>
                          <a:cs typeface="Times New Roman" panose="02020603050405020304" pitchFamily="18" charset="0"/>
                        </a:rPr>
                        <a:t>, Zeeshan Ali, </a:t>
                      </a:r>
                      <a:r>
                        <a:rPr lang="en-AU" sz="1400" err="1">
                          <a:latin typeface="Times New Roman" panose="02020603050405020304" pitchFamily="18" charset="0"/>
                          <a:cs typeface="Times New Roman" panose="02020603050405020304" pitchFamily="18" charset="0"/>
                        </a:rPr>
                        <a:t>Jihoon</a:t>
                      </a:r>
                      <a:r>
                        <a:rPr lang="en-AU" sz="1400">
                          <a:latin typeface="Times New Roman" panose="02020603050405020304" pitchFamily="18" charset="0"/>
                          <a:cs typeface="Times New Roman" panose="02020603050405020304" pitchFamily="18" charset="0"/>
                        </a:rPr>
                        <a:t> Moon, </a:t>
                      </a:r>
                      <a:r>
                        <a:rPr lang="en-AU" sz="1400" err="1">
                          <a:latin typeface="Times New Roman" panose="02020603050405020304" pitchFamily="18" charset="0"/>
                          <a:cs typeface="Times New Roman" panose="02020603050405020304" pitchFamily="18" charset="0"/>
                        </a:rPr>
                        <a:t>Seungmin</a:t>
                      </a:r>
                      <a:r>
                        <a:rPr lang="en-AU" sz="1400">
                          <a:latin typeface="Times New Roman" panose="02020603050405020304" pitchFamily="18" charset="0"/>
                          <a:cs typeface="Times New Roman" panose="02020603050405020304" pitchFamily="18" charset="0"/>
                        </a:rPr>
                        <a:t> Rho</a:t>
                      </a:r>
                    </a:p>
                    <a:p>
                      <a:pPr marL="0" marR="0" lvl="0" indent="0" algn="l" defTabSz="503238" rtl="0" eaLnBrk="1" fontAlgn="base" latinLnBrk="0" hangingPunct="1">
                        <a:lnSpc>
                          <a:spcPct val="100000"/>
                        </a:lnSpc>
                        <a:spcBef>
                          <a:spcPts val="13"/>
                        </a:spcBef>
                        <a:spcAft>
                          <a:spcPct val="0"/>
                        </a:spcAft>
                        <a:buClrTx/>
                        <a:buSzTx/>
                        <a:buFontTx/>
                        <a:buNone/>
                        <a:tabLst/>
                      </a:pPr>
                      <a:endPar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a:t>
                      </a:r>
                      <a:r>
                        <a:rPr kumimoji="0" lang="en-AU"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022</a:t>
                      </a:r>
                      <a:endPar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228600" indent="-228600">
                        <a:buClrTx/>
                        <a:buSzPct val="100000"/>
                        <a:buFont typeface="+mj-lt"/>
                        <a:buAutoNum type="arabicPeriod"/>
                      </a:pPr>
                      <a:r>
                        <a:rPr lang="en-US" sz="1400">
                          <a:latin typeface="Times New Roman" panose="02020603050405020304" pitchFamily="18" charset="0"/>
                          <a:cs typeface="Times New Roman" panose="02020603050405020304" pitchFamily="18" charset="0"/>
                        </a:rPr>
                        <a:t>Deep Reinforcement Learning (DRL) framework using Deep-Q Networks with Gated Recurrent Unit (GRU) forecasting. </a:t>
                      </a:r>
                    </a:p>
                    <a:p>
                      <a:pPr marL="228600" indent="-228600">
                        <a:buClrTx/>
                        <a:buSzPct val="100000"/>
                        <a:buFont typeface="+mj-lt"/>
                        <a:buAutoNum type="arabicPeriod"/>
                      </a:pPr>
                      <a:r>
                        <a:rPr lang="en-US" sz="1400">
                          <a:latin typeface="Times New Roman" panose="02020603050405020304" pitchFamily="18" charset="0"/>
                          <a:cs typeface="Times New Roman" panose="02020603050405020304" pitchFamily="18" charset="0"/>
                        </a:rPr>
                        <a:t>The model uses both past and future stock trends to make trading decisions.</a:t>
                      </a:r>
                    </a:p>
                    <a:p>
                      <a:pPr marL="0" marR="0" lvl="0" indent="0" algn="l" defTabSz="503238" rtl="0" eaLnBrk="1" fontAlgn="base" latinLnBrk="0" hangingPunct="1">
                        <a:lnSpc>
                          <a:spcPct val="107000"/>
                        </a:lnSpc>
                        <a:spcBef>
                          <a:spcPct val="0"/>
                        </a:spcBef>
                        <a:spcAft>
                          <a:spcPts val="800"/>
                        </a:spcAft>
                        <a:buClrTx/>
                        <a:buSzPct val="100000"/>
                        <a:buFont typeface="Arial" panose="020B0604020202020204" pitchFamily="34" charset="0"/>
                        <a:buNone/>
                        <a:tabLst/>
                      </a:pPr>
                      <a:endParaRPr kumimoji="0" lang="en-IN" altLang="en-US" sz="14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228600" indent="-228600">
                        <a:buClrTx/>
                        <a:buSzPct val="100000"/>
                        <a:buFont typeface="+mj-lt"/>
                        <a:buAutoNum type="arabicPeriod"/>
                      </a:pPr>
                      <a:r>
                        <a:rPr lang="en-US" sz="1400">
                          <a:latin typeface="Times New Roman" panose="02020603050405020304" pitchFamily="18" charset="0"/>
                          <a:cs typeface="Times New Roman" panose="02020603050405020304" pitchFamily="18" charset="0"/>
                        </a:rPr>
                        <a:t>Model performance is volatile and may vary with different training attempts. </a:t>
                      </a:r>
                    </a:p>
                    <a:p>
                      <a:pPr marL="228600" indent="-228600">
                        <a:buClrTx/>
                        <a:buSzPct val="100000"/>
                        <a:buFont typeface="+mj-lt"/>
                        <a:buAutoNum type="arabicPeriod"/>
                      </a:pPr>
                      <a:r>
                        <a:rPr lang="en-US" sz="1400">
                          <a:latin typeface="Times New Roman" panose="02020603050405020304" pitchFamily="18" charset="0"/>
                          <a:cs typeface="Times New Roman" panose="02020603050405020304" pitchFamily="18" charset="0"/>
                        </a:rPr>
                        <a:t>Lacks robustness in highly volatile markets, and future price predictions are sometimes inaccurate, affecting trading decisions.</a:t>
                      </a:r>
                    </a:p>
                    <a:p>
                      <a:pPr marL="228600" marR="0" lvl="0" indent="-228600" algn="l" defTabSz="503238" rtl="0" eaLnBrk="1" fontAlgn="base" latinLnBrk="0" hangingPunct="1">
                        <a:lnSpc>
                          <a:spcPct val="100000"/>
                        </a:lnSpc>
                        <a:spcBef>
                          <a:spcPts val="13"/>
                        </a:spcBef>
                        <a:spcAft>
                          <a:spcPct val="0"/>
                        </a:spcAft>
                        <a:buClrTx/>
                        <a:buSzPct val="100000"/>
                        <a:buFont typeface="+mj-lt"/>
                        <a:buAutoNum type="arabicPeriod"/>
                        <a:tabLst/>
                      </a:pPr>
                      <a:endPar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extLst>
                  <a:ext uri="{0D108BD9-81ED-4DB2-BD59-A6C34878D82A}">
                    <a16:rowId xmlns:a16="http://schemas.microsoft.com/office/drawing/2014/main" val="10001"/>
                  </a:ext>
                </a:extLst>
              </a:tr>
              <a:tr h="2552566">
                <a:tc>
                  <a:txBody>
                    <a:body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a:t>
                      </a:r>
                    </a:p>
                  </a:txBody>
                  <a:tcPr marL="68571" marR="68571" marT="0" marB="0" horzOverflow="overflow"/>
                </a:tc>
                <a:tc>
                  <a:txBody>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lang="en-US" sz="1400">
                          <a:latin typeface="Times New Roman" panose="02020603050405020304" pitchFamily="18" charset="0"/>
                          <a:cs typeface="Times New Roman" panose="02020603050405020304" pitchFamily="18" charset="0"/>
                        </a:rPr>
                        <a:t>Decision Fusion for Stock Market Prediction: A Systematic Review</a:t>
                      </a:r>
                    </a:p>
                    <a:p>
                      <a:endParaRPr lang="en-US" sz="1400">
                        <a:latin typeface="Times New Roman" panose="02020603050405020304" pitchFamily="18" charset="0"/>
                        <a:cs typeface="Times New Roman" panose="02020603050405020304" pitchFamily="18" charset="0"/>
                      </a:endParaRPr>
                    </a:p>
                  </a:txBody>
                  <a:tcPr marL="91426" marR="91426" marT="45731" marB="45731"/>
                </a:tc>
                <a:tc>
                  <a:txBody>
                    <a:bodyPr/>
                    <a:lstStyle/>
                    <a:p>
                      <a:pPr marL="0" marR="0" lvl="0" indent="0" algn="l" defTabSz="503238" rtl="0" eaLnBrk="1" fontAlgn="base" latinLnBrk="0" hangingPunct="1">
                        <a:lnSpc>
                          <a:spcPct val="100000"/>
                        </a:lnSpc>
                        <a:spcBef>
                          <a:spcPts val="13"/>
                        </a:spcBef>
                        <a:spcAft>
                          <a:spcPct val="0"/>
                        </a:spcAft>
                        <a:buClrTx/>
                        <a:buSzTx/>
                        <a:buFontTx/>
                        <a:buNone/>
                        <a:tabLst/>
                        <a:defRPr/>
                      </a:pPr>
                      <a:r>
                        <a:rPr lang="en-AU" sz="1400">
                          <a:latin typeface="Times New Roman" panose="02020603050405020304" pitchFamily="18" charset="0"/>
                          <a:cs typeface="Times New Roman" panose="02020603050405020304" pitchFamily="18" charset="0"/>
                        </a:rPr>
                        <a:t>Cheng Zhang, </a:t>
                      </a:r>
                      <a:r>
                        <a:rPr lang="en-AU" sz="1400" err="1">
                          <a:latin typeface="Times New Roman" panose="02020603050405020304" pitchFamily="18" charset="0"/>
                          <a:cs typeface="Times New Roman" panose="02020603050405020304" pitchFamily="18" charset="0"/>
                        </a:rPr>
                        <a:t>Nilam</a:t>
                      </a:r>
                      <a:r>
                        <a:rPr lang="en-AU" sz="1400">
                          <a:latin typeface="Times New Roman" panose="02020603050405020304" pitchFamily="18" charset="0"/>
                          <a:cs typeface="Times New Roman" panose="02020603050405020304" pitchFamily="18" charset="0"/>
                        </a:rPr>
                        <a:t> N. A. </a:t>
                      </a:r>
                      <a:r>
                        <a:rPr lang="en-AU" sz="1400" err="1">
                          <a:latin typeface="Times New Roman" panose="02020603050405020304" pitchFamily="18" charset="0"/>
                          <a:cs typeface="Times New Roman" panose="02020603050405020304" pitchFamily="18" charset="0"/>
                        </a:rPr>
                        <a:t>Sjarif</a:t>
                      </a:r>
                      <a:r>
                        <a:rPr lang="en-AU" sz="1400">
                          <a:latin typeface="Times New Roman" panose="02020603050405020304" pitchFamily="18" charset="0"/>
                          <a:cs typeface="Times New Roman" panose="02020603050405020304" pitchFamily="18" charset="0"/>
                        </a:rPr>
                        <a:t>, </a:t>
                      </a:r>
                      <a:r>
                        <a:rPr lang="en-AU" sz="1400" err="1">
                          <a:latin typeface="Times New Roman" panose="02020603050405020304" pitchFamily="18" charset="0"/>
                          <a:cs typeface="Times New Roman" panose="02020603050405020304" pitchFamily="18" charset="0"/>
                        </a:rPr>
                        <a:t>Roslina</a:t>
                      </a:r>
                      <a:r>
                        <a:rPr lang="en-AU" sz="1400">
                          <a:latin typeface="Times New Roman" panose="02020603050405020304" pitchFamily="18" charset="0"/>
                          <a:cs typeface="Times New Roman" panose="02020603050405020304" pitchFamily="18" charset="0"/>
                        </a:rPr>
                        <a:t> B. Ibrahim</a:t>
                      </a:r>
                    </a:p>
                    <a:p>
                      <a:pPr marL="0" marR="0" lvl="0" indent="0" algn="l" defTabSz="503238" rtl="0" eaLnBrk="1" fontAlgn="base" latinLnBrk="0" hangingPunct="1">
                        <a:lnSpc>
                          <a:spcPct val="100000"/>
                        </a:lnSpc>
                        <a:spcBef>
                          <a:spcPts val="13"/>
                        </a:spcBef>
                        <a:spcAft>
                          <a:spcPct val="0"/>
                        </a:spcAft>
                        <a:buClrTx/>
                        <a:buSzTx/>
                        <a:buFontTx/>
                        <a:buNone/>
                        <a:tabLst/>
                      </a:pPr>
                      <a:endPar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p>
                      <a:pPr marL="0" marR="0" lvl="0" indent="0" algn="l"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2022</a:t>
                      </a:r>
                    </a:p>
                  </a:txBody>
                  <a:tcPr marL="68571" marR="68571" marT="0" marB="0" horzOverflow="overflow"/>
                </a:tc>
                <a:tc>
                  <a:txBody>
                    <a:bodyPr/>
                    <a:lstStyle/>
                    <a:p>
                      <a:pPr marL="0" marR="0" lvl="0" indent="0" algn="l" defTabSz="503238" rtl="0" eaLnBrk="1" fontAlgn="base" latinLnBrk="0" hangingPunct="1">
                        <a:lnSpc>
                          <a:spcPct val="107000"/>
                        </a:lnSpc>
                        <a:spcBef>
                          <a:spcPct val="0"/>
                        </a:spcBef>
                        <a:spcAft>
                          <a:spcPts val="800"/>
                        </a:spcAft>
                        <a:buClrTx/>
                        <a:buSzTx/>
                        <a:buFont typeface="Arial" panose="020B0604020202020204" pitchFamily="34" charset="0"/>
                        <a:buNone/>
                        <a:tabLst/>
                        <a:defRPr/>
                      </a:pPr>
                      <a:r>
                        <a:rPr lang="en-US" sz="1400">
                          <a:latin typeface="Times New Roman" panose="02020603050405020304" pitchFamily="18" charset="0"/>
                          <a:cs typeface="Times New Roman" panose="02020603050405020304" pitchFamily="18" charset="0"/>
                        </a:rPr>
                        <a:t>Decision fusion: Combines forecasts from multiple models using base learners and fusion methods</a:t>
                      </a:r>
                    </a:p>
                    <a:p>
                      <a:pPr marL="0" marR="0" lvl="0" indent="0" algn="l" defTabSz="503238" rtl="0" eaLnBrk="1" fontAlgn="base" latinLnBrk="0" hangingPunct="1">
                        <a:lnSpc>
                          <a:spcPct val="107000"/>
                        </a:lnSpc>
                        <a:spcBef>
                          <a:spcPct val="0"/>
                        </a:spcBef>
                        <a:spcAft>
                          <a:spcPts val="800"/>
                        </a:spcAft>
                        <a:buClrTx/>
                        <a:buSzTx/>
                        <a:buFont typeface="Arial" panose="020B0604020202020204" pitchFamily="34" charset="0"/>
                        <a:buNone/>
                        <a:tabLst/>
                      </a:pPr>
                      <a:endParaRPr kumimoji="0" lang="en-IN" altLang="en-US" sz="14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1" marR="68571" marT="0" marB="0" horzOverflow="overflow"/>
                </a:tc>
                <a:tc>
                  <a:txBody>
                    <a:bodyPr/>
                    <a:lstStyle/>
                    <a:p>
                      <a:pPr marL="228600" indent="-228600">
                        <a:buFont typeface="+mj-lt"/>
                        <a:buAutoNum type="arabicPeriod"/>
                      </a:pPr>
                      <a:r>
                        <a:rPr lang="en-US" sz="1400">
                          <a:latin typeface="Times New Roman" panose="02020603050405020304" pitchFamily="18" charset="0"/>
                          <a:cs typeface="Times New Roman" panose="02020603050405020304" pitchFamily="18" charset="0"/>
                        </a:rPr>
                        <a:t>Few studies use decision fusion.</a:t>
                      </a:r>
                    </a:p>
                    <a:p>
                      <a:pPr marL="228600" indent="-228600">
                        <a:buFont typeface="+mj-lt"/>
                        <a:buAutoNum type="arabicPeriod"/>
                      </a:pPr>
                      <a:endParaRPr lang="en-US" sz="1400">
                        <a:latin typeface="Times New Roman" panose="02020603050405020304" pitchFamily="18" charset="0"/>
                        <a:cs typeface="Times New Roman" panose="02020603050405020304" pitchFamily="18" charset="0"/>
                      </a:endParaRPr>
                    </a:p>
                    <a:p>
                      <a:pPr marL="228600" indent="-228600">
                        <a:buFont typeface="+mj-lt"/>
                        <a:buAutoNum type="arabicPeriod"/>
                      </a:pPr>
                      <a:r>
                        <a:rPr lang="en-US" sz="1400">
                          <a:latin typeface="Times New Roman" panose="02020603050405020304" pitchFamily="18" charset="0"/>
                          <a:cs typeface="Times New Roman" panose="02020603050405020304" pitchFamily="18" charset="0"/>
                        </a:rPr>
                        <a:t>Lack of diversity in ensemble models.</a:t>
                      </a:r>
                    </a:p>
                    <a:p>
                      <a:pPr marL="228600" indent="-228600">
                        <a:buFont typeface="+mj-lt"/>
                        <a:buAutoNum type="arabicPeriod"/>
                      </a:pPr>
                      <a:endParaRPr lang="en-US" sz="1400">
                        <a:latin typeface="Times New Roman" panose="02020603050405020304" pitchFamily="18" charset="0"/>
                        <a:cs typeface="Times New Roman" panose="02020603050405020304" pitchFamily="18" charset="0"/>
                      </a:endParaRPr>
                    </a:p>
                    <a:p>
                      <a:pPr marL="228600" indent="-228600">
                        <a:buFont typeface="+mj-lt"/>
                        <a:buAutoNum type="arabicPeriod"/>
                      </a:pPr>
                      <a:r>
                        <a:rPr lang="en-US" sz="1400">
                          <a:latin typeface="Times New Roman" panose="02020603050405020304" pitchFamily="18" charset="0"/>
                          <a:cs typeface="Times New Roman" panose="02020603050405020304" pitchFamily="18" charset="0"/>
                        </a:rPr>
                        <a:t>Minimal integration of sentiment analysis.</a:t>
                      </a:r>
                    </a:p>
                    <a:p>
                      <a:pPr marL="0" marR="0" lvl="0" indent="0" algn="l" defTabSz="503238" rtl="0" eaLnBrk="1" fontAlgn="base" latinLnBrk="0" hangingPunct="1">
                        <a:lnSpc>
                          <a:spcPct val="100000"/>
                        </a:lnSpc>
                        <a:spcBef>
                          <a:spcPts val="13"/>
                        </a:spcBef>
                        <a:spcAft>
                          <a:spcPct val="0"/>
                        </a:spcAft>
                        <a:buClrTx/>
                        <a:buSzTx/>
                        <a:buFont typeface="+mj-lt"/>
                        <a:buNone/>
                        <a:tabLst/>
                      </a:pPr>
                      <a:endPar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F4EEF-195C-E832-B1FF-DB864FA65E2C}"/>
              </a:ext>
            </a:extLst>
          </p:cNvPr>
          <p:cNvSpPr>
            <a:spLocks noGrp="1"/>
          </p:cNvSpPr>
          <p:nvPr>
            <p:ph type="title"/>
          </p:nvPr>
        </p:nvSpPr>
        <p:spPr>
          <a:xfrm>
            <a:off x="671513" y="1"/>
            <a:ext cx="6997700" cy="2127250"/>
          </a:xfrm>
        </p:spPr>
        <p:txBody>
          <a:bodyPr/>
          <a:lstStyle/>
          <a:p>
            <a:pPr>
              <a:defRPr/>
            </a:pPr>
            <a:r>
              <a:rPr lang="en-IN" altLang="en-US" sz="4000" b="1">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Literature Review</a:t>
            </a:r>
            <a:endParaRPr lang="en-AU"/>
          </a:p>
        </p:txBody>
      </p:sp>
      <p:graphicFrame>
        <p:nvGraphicFramePr>
          <p:cNvPr id="3" name="Table 2">
            <a:extLst>
              <a:ext uri="{FF2B5EF4-FFF2-40B4-BE49-F238E27FC236}">
                <a16:creationId xmlns:a16="http://schemas.microsoft.com/office/drawing/2014/main" id="{387972D0-F5D3-7917-042B-546EB6B267F5}"/>
              </a:ext>
            </a:extLst>
          </p:cNvPr>
          <p:cNvGraphicFramePr>
            <a:graphicFrameLocks noGrp="1"/>
          </p:cNvGraphicFramePr>
          <p:nvPr>
            <p:extLst>
              <p:ext uri="{D42A27DB-BD31-4B8C-83A1-F6EECF244321}">
                <p14:modId xmlns:p14="http://schemas.microsoft.com/office/powerpoint/2010/main" val="3357452148"/>
              </p:ext>
            </p:extLst>
          </p:nvPr>
        </p:nvGraphicFramePr>
        <p:xfrm>
          <a:off x="519113" y="711201"/>
          <a:ext cx="8624888" cy="6815272"/>
        </p:xfrm>
        <a:graphic>
          <a:graphicData uri="http://schemas.openxmlformats.org/drawingml/2006/table">
            <a:tbl>
              <a:tblPr>
                <a:tableStyleId>{D7AC3CCA-C797-4891-BE02-D94E43425B78}</a:tableStyleId>
              </a:tblPr>
              <a:tblGrid>
                <a:gridCol w="633540">
                  <a:extLst>
                    <a:ext uri="{9D8B030D-6E8A-4147-A177-3AD203B41FA5}">
                      <a16:colId xmlns:a16="http://schemas.microsoft.com/office/drawing/2014/main" val="20000"/>
                    </a:ext>
                  </a:extLst>
                </a:gridCol>
                <a:gridCol w="1600580">
                  <a:extLst>
                    <a:ext uri="{9D8B030D-6E8A-4147-A177-3AD203B41FA5}">
                      <a16:colId xmlns:a16="http://schemas.microsoft.com/office/drawing/2014/main" val="20001"/>
                    </a:ext>
                  </a:extLst>
                </a:gridCol>
                <a:gridCol w="1894013">
                  <a:extLst>
                    <a:ext uri="{9D8B030D-6E8A-4147-A177-3AD203B41FA5}">
                      <a16:colId xmlns:a16="http://schemas.microsoft.com/office/drawing/2014/main" val="20002"/>
                    </a:ext>
                  </a:extLst>
                </a:gridCol>
                <a:gridCol w="544357">
                  <a:extLst>
                    <a:ext uri="{9D8B030D-6E8A-4147-A177-3AD203B41FA5}">
                      <a16:colId xmlns:a16="http://schemas.microsoft.com/office/drawing/2014/main" val="20003"/>
                    </a:ext>
                  </a:extLst>
                </a:gridCol>
                <a:gridCol w="2135774">
                  <a:extLst>
                    <a:ext uri="{9D8B030D-6E8A-4147-A177-3AD203B41FA5}">
                      <a16:colId xmlns:a16="http://schemas.microsoft.com/office/drawing/2014/main" val="20004"/>
                    </a:ext>
                  </a:extLst>
                </a:gridCol>
                <a:gridCol w="1816624">
                  <a:extLst>
                    <a:ext uri="{9D8B030D-6E8A-4147-A177-3AD203B41FA5}">
                      <a16:colId xmlns:a16="http://schemas.microsoft.com/office/drawing/2014/main" val="20005"/>
                    </a:ext>
                  </a:extLst>
                </a:gridCol>
              </a:tblGrid>
              <a:tr h="561792">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Sr.no</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Title</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Author(s)</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Year</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Methodology</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Drawback</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extLst>
                  <a:ext uri="{0D108BD9-81ED-4DB2-BD59-A6C34878D82A}">
                    <a16:rowId xmlns:a16="http://schemas.microsoft.com/office/drawing/2014/main" val="10000"/>
                  </a:ext>
                </a:extLst>
              </a:tr>
              <a:tr h="3191463">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a:t>
                      </a: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lvl="0" algn="l"/>
                      <a:r>
                        <a:rPr lang="en-US" sz="1400">
                          <a:latin typeface="Times New Roman" panose="02020603050405020304" pitchFamily="18" charset="0"/>
                          <a:cs typeface="Times New Roman" panose="02020603050405020304" pitchFamily="18" charset="0"/>
                        </a:rPr>
                        <a:t>Stock Price Prediction Based on Morphological Similarity Clustering and Hierarchical Temporal Memory</a:t>
                      </a: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0000"/>
                        </a:lnSpc>
                        <a:spcBef>
                          <a:spcPts val="13"/>
                        </a:spcBef>
                        <a:spcAft>
                          <a:spcPct val="0"/>
                        </a:spcAft>
                        <a:buClrTx/>
                        <a:buSzTx/>
                        <a:buFontTx/>
                        <a:buNone/>
                        <a:tabLst/>
                        <a:defRPr/>
                      </a:pPr>
                      <a:r>
                        <a:rPr lang="sv-SE" sz="1400">
                          <a:latin typeface="Times New Roman" panose="02020603050405020304" pitchFamily="18" charset="0"/>
                          <a:cs typeface="Times New Roman" panose="02020603050405020304" pitchFamily="18" charset="0"/>
                        </a:rPr>
                        <a:t>Xingqi Wang, Kai Yang, Tailian Liu</a:t>
                      </a:r>
                      <a:endPar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503238" rtl="0" eaLnBrk="1" fontAlgn="base" latinLnBrk="0" hangingPunct="1">
                        <a:lnSpc>
                          <a:spcPct val="100000"/>
                        </a:lnSpc>
                        <a:spcBef>
                          <a:spcPts val="13"/>
                        </a:spcBef>
                        <a:spcAft>
                          <a:spcPct val="0"/>
                        </a:spcAft>
                        <a:buClrTx/>
                        <a:buSzTx/>
                        <a:buFontTx/>
                        <a:buNone/>
                        <a:tabLst/>
                      </a:pPr>
                      <a:endPar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2021</a:t>
                      </a: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7000"/>
                        </a:lnSpc>
                        <a:spcBef>
                          <a:spcPct val="0"/>
                        </a:spcBef>
                        <a:spcAft>
                          <a:spcPts val="800"/>
                        </a:spcAft>
                        <a:buClrTx/>
                        <a:buSzTx/>
                        <a:buFont typeface="Arial" panose="020B0604020202020204" pitchFamily="34" charset="0"/>
                        <a:buNone/>
                        <a:tabLst/>
                        <a:defRPr/>
                      </a:pPr>
                      <a:r>
                        <a:rPr lang="en-US" sz="1400">
                          <a:latin typeface="Times New Roman" panose="02020603050405020304" pitchFamily="18" charset="0"/>
                          <a:cs typeface="Times New Roman" panose="02020603050405020304" pitchFamily="18" charset="0"/>
                        </a:rPr>
                        <a:t>K-means clustering with Morphological Similarity Distance (MSD) to group stocks, followed by Hierarchical Temporal Memory (HTM) for prediction</a:t>
                      </a:r>
                      <a:endParaRPr kumimoji="0" lang="en-IN" altLang="en-US" sz="14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503238" rtl="0" eaLnBrk="1" fontAlgn="base" latinLnBrk="0" hangingPunct="1">
                        <a:lnSpc>
                          <a:spcPct val="107000"/>
                        </a:lnSpc>
                        <a:spcBef>
                          <a:spcPct val="0"/>
                        </a:spcBef>
                        <a:spcAft>
                          <a:spcPts val="800"/>
                        </a:spcAft>
                        <a:buClrTx/>
                        <a:buSzTx/>
                        <a:buFont typeface="Arial" panose="020B0604020202020204" pitchFamily="34" charset="0"/>
                        <a:buNone/>
                        <a:tabLst/>
                      </a:pPr>
                      <a:endParaRPr kumimoji="0" lang="en-IN" altLang="en-US" sz="14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228600" indent="-228600">
                        <a:buClrTx/>
                        <a:buSzPct val="100000"/>
                        <a:buFont typeface="+mj-lt"/>
                        <a:buAutoNum type="arabicPeriod"/>
                      </a:pPr>
                      <a:r>
                        <a:rPr lang="en-US" sz="1400">
                          <a:latin typeface="Times New Roman" panose="02020603050405020304" pitchFamily="18" charset="0"/>
                          <a:cs typeface="Times New Roman" panose="02020603050405020304" pitchFamily="18" charset="0"/>
                        </a:rPr>
                        <a:t>. The method may not generalize well to long-term predictions.</a:t>
                      </a:r>
                    </a:p>
                    <a:p>
                      <a:pPr marL="228600" indent="-228600">
                        <a:buClrTx/>
                        <a:buSzPct val="100000"/>
                        <a:buFont typeface="+mj-lt"/>
                        <a:buAutoNum type="arabicPeriod"/>
                      </a:pPr>
                      <a:r>
                        <a:rPr lang="en-US" sz="1400">
                          <a:latin typeface="Times New Roman" panose="02020603050405020304" pitchFamily="18" charset="0"/>
                          <a:cs typeface="Times New Roman" panose="02020603050405020304" pitchFamily="18" charset="0"/>
                        </a:rPr>
                        <a:t>Multivariate input had minimal benefit for HTM. </a:t>
                      </a:r>
                    </a:p>
                    <a:p>
                      <a:pPr marL="228600" indent="-228600">
                        <a:buClrTx/>
                        <a:buSzPct val="100000"/>
                        <a:buFont typeface="+mj-lt"/>
                        <a:buAutoNum type="arabicPeriod"/>
                      </a:pPr>
                      <a:r>
                        <a:rPr lang="en-US" sz="1400">
                          <a:latin typeface="Times New Roman" panose="02020603050405020304" pitchFamily="18" charset="0"/>
                          <a:cs typeface="Times New Roman" panose="02020603050405020304" pitchFamily="18" charset="0"/>
                        </a:rPr>
                        <a:t>Potential underfitting or overfitting of baseline models due to lack of parameter tuning.</a:t>
                      </a:r>
                    </a:p>
                    <a:p>
                      <a:pPr marL="228600" marR="0" lvl="0" indent="-228600" algn="l" defTabSz="503238" rtl="0" eaLnBrk="1" fontAlgn="base" latinLnBrk="0" hangingPunct="1">
                        <a:lnSpc>
                          <a:spcPct val="100000"/>
                        </a:lnSpc>
                        <a:spcBef>
                          <a:spcPts val="13"/>
                        </a:spcBef>
                        <a:spcAft>
                          <a:spcPct val="0"/>
                        </a:spcAft>
                        <a:buClrTx/>
                        <a:buSzTx/>
                        <a:buFont typeface="+mj-lt"/>
                        <a:buAutoNum type="arabicPeriod"/>
                        <a:tabLst/>
                      </a:pPr>
                      <a:endParaRPr lang="en-US" sz="1400">
                        <a:latin typeface="Times New Roman" panose="02020603050405020304" pitchFamily="18" charset="0"/>
                        <a:cs typeface="Times New Roman" panose="02020603050405020304" pitchFamily="18" charset="0"/>
                      </a:endParaRPr>
                    </a:p>
                  </a:txBody>
                  <a:tcPr marL="68571" marR="68571" marT="0" marB="0" horzOverflow="overflow"/>
                </a:tc>
                <a:extLst>
                  <a:ext uri="{0D108BD9-81ED-4DB2-BD59-A6C34878D82A}">
                    <a16:rowId xmlns:a16="http://schemas.microsoft.com/office/drawing/2014/main" val="10001"/>
                  </a:ext>
                </a:extLst>
              </a:tr>
              <a:tr h="2918477">
                <a:tc>
                  <a:txBody>
                    <a:body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a:t>
                      </a: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7000"/>
                        </a:lnSpc>
                        <a:spcBef>
                          <a:spcPct val="0"/>
                        </a:spcBef>
                        <a:spcAft>
                          <a:spcPts val="800"/>
                        </a:spcAft>
                        <a:buClrTx/>
                        <a:buSzTx/>
                        <a:buFontTx/>
                        <a:buNone/>
                        <a:tabLst/>
                      </a:pPr>
                      <a:r>
                        <a:rPr lang="en-US" sz="1400">
                          <a:latin typeface="Times New Roman" panose="02020603050405020304" pitchFamily="18" charset="0"/>
                          <a:cs typeface="Times New Roman" panose="02020603050405020304" pitchFamily="18" charset="0"/>
                        </a:rPr>
                        <a:t>A Deep Learning-Based Approach for Stock Price Prediction Using Bidirectional Gated Recurrent Unit and Bidirectional Long Short Term Memory Model</a:t>
                      </a:r>
                      <a:endParaRPr kumimoji="0" lang="en-US" altLang="en-US" sz="14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5" marR="68575"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0000"/>
                        </a:lnSpc>
                        <a:spcBef>
                          <a:spcPts val="13"/>
                        </a:spcBef>
                        <a:spcAft>
                          <a:spcPct val="0"/>
                        </a:spcAft>
                        <a:buClrTx/>
                        <a:buSzTx/>
                        <a:buFontTx/>
                        <a:buNone/>
                        <a:tabLst/>
                      </a:pPr>
                      <a:r>
                        <a:rPr lang="en-AU" sz="1400">
                          <a:latin typeface="Times New Roman" panose="02020603050405020304" pitchFamily="18" charset="0"/>
                          <a:cs typeface="Times New Roman" panose="02020603050405020304" pitchFamily="18" charset="0"/>
                        </a:rPr>
                        <a:t>Md. Ebtidaul Karim, Sabrina Ahmed</a:t>
                      </a:r>
                      <a:endPar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5" marR="68575"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0000"/>
                        </a:lnSpc>
                        <a:spcBef>
                          <a:spcPts val="13"/>
                        </a:spcBef>
                        <a:spcAft>
                          <a:spcPct val="0"/>
                        </a:spcAft>
                        <a:buClrTx/>
                        <a:buSzTx/>
                        <a:buFontTx/>
                        <a:buNone/>
                        <a:tabLst/>
                      </a:pPr>
                      <a:r>
                        <a:rPr lang="en-AU" sz="1400">
                          <a:latin typeface="Times New Roman" panose="02020603050405020304" pitchFamily="18" charset="0"/>
                          <a:cs typeface="Times New Roman" panose="02020603050405020304" pitchFamily="18" charset="0"/>
                        </a:rPr>
                        <a:t>2021</a:t>
                      </a:r>
                      <a:endPar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5" marR="68575"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7000"/>
                        </a:lnSpc>
                        <a:spcBef>
                          <a:spcPct val="0"/>
                        </a:spcBef>
                        <a:spcAft>
                          <a:spcPts val="800"/>
                        </a:spcAft>
                        <a:buClrTx/>
                        <a:buSzTx/>
                        <a:buFont typeface="Arial" panose="020B0604020202020204" pitchFamily="34" charset="0"/>
                        <a:buNone/>
                        <a:tabLst/>
                      </a:pPr>
                      <a:r>
                        <a:rPr lang="en-US" sz="1400">
                          <a:latin typeface="Times New Roman" panose="02020603050405020304" pitchFamily="18" charset="0"/>
                          <a:cs typeface="Times New Roman" panose="02020603050405020304" pitchFamily="18" charset="0"/>
                        </a:rPr>
                        <a:t>BiGRU (Bidirectional Gated Recurrent Unit) with activation layer and</a:t>
                      </a:r>
                      <a:br>
                        <a:rPr lang="en-US" sz="1400">
                          <a:latin typeface="Times New Roman" panose="02020603050405020304" pitchFamily="18" charset="0"/>
                          <a:cs typeface="Times New Roman" panose="02020603050405020304" pitchFamily="18" charset="0"/>
                        </a:rPr>
                      </a:br>
                      <a:r>
                        <a:rPr lang="en-US" sz="1400">
                          <a:latin typeface="Times New Roman" panose="02020603050405020304" pitchFamily="18" charset="0"/>
                          <a:cs typeface="Times New Roman" panose="02020603050405020304" pitchFamily="18" charset="0"/>
                        </a:rPr>
                        <a:t>BiLSTM (Bidirectional Long Short Term Memory).</a:t>
                      </a:r>
                      <a:br>
                        <a:rPr lang="en-US" sz="1400">
                          <a:latin typeface="Times New Roman" panose="02020603050405020304" pitchFamily="18" charset="0"/>
                          <a:cs typeface="Times New Roman" panose="02020603050405020304" pitchFamily="18" charset="0"/>
                        </a:rPr>
                      </a:br>
                      <a:endParaRPr kumimoji="0" lang="en-IN" altLang="en-US" sz="14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5" marR="68575"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228600" marR="0" lvl="0" indent="-228600" algn="l" defTabSz="503238" rtl="0" eaLnBrk="1" fontAlgn="base" latinLnBrk="0" hangingPunct="1">
                        <a:lnSpc>
                          <a:spcPct val="100000"/>
                        </a:lnSpc>
                        <a:spcBef>
                          <a:spcPts val="13"/>
                        </a:spcBef>
                        <a:spcAft>
                          <a:spcPct val="0"/>
                        </a:spcAft>
                        <a:buClrTx/>
                        <a:buSzTx/>
                        <a:buFont typeface="+mj-lt"/>
                        <a:buAutoNum type="arabicPeriod"/>
                        <a:tabLst/>
                      </a:pPr>
                      <a:r>
                        <a:rPr lang="en-US" sz="1400">
                          <a:latin typeface="Times New Roman" panose="02020603050405020304" pitchFamily="18" charset="0"/>
                          <a:cs typeface="Times New Roman" panose="02020603050405020304" pitchFamily="18" charset="0"/>
                        </a:rPr>
                        <a:t>Increased complexity with more hidden layers.</a:t>
                      </a:r>
                    </a:p>
                    <a:p>
                      <a:pPr marL="228600" marR="0" lvl="0" indent="-228600" algn="l" defTabSz="503238" rtl="0" eaLnBrk="1" fontAlgn="base" latinLnBrk="0" hangingPunct="1">
                        <a:lnSpc>
                          <a:spcPct val="100000"/>
                        </a:lnSpc>
                        <a:spcBef>
                          <a:spcPts val="13"/>
                        </a:spcBef>
                        <a:spcAft>
                          <a:spcPct val="0"/>
                        </a:spcAft>
                        <a:buClrTx/>
                        <a:buSzTx/>
                        <a:buFont typeface="+mj-lt"/>
                        <a:buAutoNum type="arabicPeriod"/>
                        <a:tabLst/>
                      </a:pPr>
                      <a:r>
                        <a:rPr lang="en-US" sz="1400">
                          <a:latin typeface="Times New Roman" panose="02020603050405020304" pitchFamily="18" charset="0"/>
                          <a:cs typeface="Times New Roman" panose="02020603050405020304" pitchFamily="18" charset="0"/>
                        </a:rPr>
                        <a:t>Trainable parameters grow with additional layers, which can increase computation cost.</a:t>
                      </a:r>
                    </a:p>
                    <a:p>
                      <a:pPr marL="228600" marR="0" lvl="0" indent="-228600" algn="l" defTabSz="503238" rtl="0" eaLnBrk="1" fontAlgn="base" latinLnBrk="0" hangingPunct="1">
                        <a:lnSpc>
                          <a:spcPct val="100000"/>
                        </a:lnSpc>
                        <a:spcBef>
                          <a:spcPts val="13"/>
                        </a:spcBef>
                        <a:spcAft>
                          <a:spcPct val="0"/>
                        </a:spcAft>
                        <a:buClrTx/>
                        <a:buSzTx/>
                        <a:buFont typeface="+mj-lt"/>
                        <a:buAutoNum type="arabicPeriod"/>
                        <a:tabLst/>
                      </a:pPr>
                      <a:r>
                        <a:rPr lang="en-US" sz="1400">
                          <a:latin typeface="Times New Roman" panose="02020603050405020304" pitchFamily="18" charset="0"/>
                          <a:cs typeface="Times New Roman" panose="02020603050405020304" pitchFamily="18" charset="0"/>
                        </a:rPr>
                        <a:t>Limited to comparison between </a:t>
                      </a:r>
                      <a:r>
                        <a:rPr lang="en-US" sz="1400" err="1">
                          <a:latin typeface="Times New Roman" panose="02020603050405020304" pitchFamily="18" charset="0"/>
                          <a:cs typeface="Times New Roman" panose="02020603050405020304" pitchFamily="18" charset="0"/>
                        </a:rPr>
                        <a:t>BiGRU</a:t>
                      </a:r>
                      <a:r>
                        <a:rPr lang="en-US" sz="1400">
                          <a:latin typeface="Times New Roman" panose="02020603050405020304" pitchFamily="18" charset="0"/>
                          <a:cs typeface="Times New Roman" panose="02020603050405020304" pitchFamily="18" charset="0"/>
                        </a:rPr>
                        <a:t> and </a:t>
                      </a:r>
                      <a:r>
                        <a:rPr lang="en-US" sz="1400" err="1">
                          <a:latin typeface="Times New Roman" panose="02020603050405020304" pitchFamily="18" charset="0"/>
                          <a:cs typeface="Times New Roman" panose="02020603050405020304" pitchFamily="18" charset="0"/>
                        </a:rPr>
                        <a:t>BiLSTM</a:t>
                      </a:r>
                      <a:r>
                        <a:rPr lang="en-US" sz="1400">
                          <a:latin typeface="Times New Roman" panose="02020603050405020304" pitchFamily="18" charset="0"/>
                          <a:cs typeface="Times New Roman" panose="02020603050405020304" pitchFamily="18" charset="0"/>
                        </a:rPr>
                        <a:t> models.</a:t>
                      </a:r>
                      <a:endPar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5" marR="68575" marT="0" marB="0" horzOverflow="overflow"/>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CCE3D-65CE-E660-2E48-80EB25499CD6}"/>
              </a:ext>
            </a:extLst>
          </p:cNvPr>
          <p:cNvSpPr>
            <a:spLocks noGrp="1"/>
          </p:cNvSpPr>
          <p:nvPr>
            <p:ph type="title"/>
          </p:nvPr>
        </p:nvSpPr>
        <p:spPr>
          <a:xfrm>
            <a:off x="671513" y="179388"/>
            <a:ext cx="6997700" cy="1947862"/>
          </a:xfrm>
        </p:spPr>
        <p:txBody>
          <a:bodyPr/>
          <a:lstStyle/>
          <a:p>
            <a:pPr>
              <a:defRPr/>
            </a:pPr>
            <a:r>
              <a:rPr lang="en-IN" altLang="en-US" sz="4000" b="1">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Literature Review</a:t>
            </a:r>
            <a:endParaRPr lang="en-AU"/>
          </a:p>
        </p:txBody>
      </p:sp>
      <p:graphicFrame>
        <p:nvGraphicFramePr>
          <p:cNvPr id="3" name="Table 2">
            <a:extLst>
              <a:ext uri="{FF2B5EF4-FFF2-40B4-BE49-F238E27FC236}">
                <a16:creationId xmlns:a16="http://schemas.microsoft.com/office/drawing/2014/main" id="{17C78009-65F5-AD61-416F-36DC62AB4B31}"/>
              </a:ext>
            </a:extLst>
          </p:cNvPr>
          <p:cNvGraphicFramePr>
            <a:graphicFrameLocks noGrp="1"/>
          </p:cNvGraphicFramePr>
          <p:nvPr>
            <p:extLst>
              <p:ext uri="{D42A27DB-BD31-4B8C-83A1-F6EECF244321}">
                <p14:modId xmlns:p14="http://schemas.microsoft.com/office/powerpoint/2010/main" val="2552181197"/>
              </p:ext>
            </p:extLst>
          </p:nvPr>
        </p:nvGraphicFramePr>
        <p:xfrm>
          <a:off x="519113" y="971550"/>
          <a:ext cx="8624887" cy="6521450"/>
        </p:xfrm>
        <a:graphic>
          <a:graphicData uri="http://schemas.openxmlformats.org/drawingml/2006/table">
            <a:tbl>
              <a:tblPr>
                <a:tableStyleId>{D7AC3CCA-C797-4891-BE02-D94E43425B78}</a:tableStyleId>
              </a:tblPr>
              <a:tblGrid>
                <a:gridCol w="561193">
                  <a:extLst>
                    <a:ext uri="{9D8B030D-6E8A-4147-A177-3AD203B41FA5}">
                      <a16:colId xmlns:a16="http://schemas.microsoft.com/office/drawing/2014/main" val="20000"/>
                    </a:ext>
                  </a:extLst>
                </a:gridCol>
                <a:gridCol w="1655937">
                  <a:extLst>
                    <a:ext uri="{9D8B030D-6E8A-4147-A177-3AD203B41FA5}">
                      <a16:colId xmlns:a16="http://schemas.microsoft.com/office/drawing/2014/main" val="20001"/>
                    </a:ext>
                  </a:extLst>
                </a:gridCol>
                <a:gridCol w="1911002">
                  <a:extLst>
                    <a:ext uri="{9D8B030D-6E8A-4147-A177-3AD203B41FA5}">
                      <a16:colId xmlns:a16="http://schemas.microsoft.com/office/drawing/2014/main" val="20002"/>
                    </a:ext>
                  </a:extLst>
                </a:gridCol>
                <a:gridCol w="544357">
                  <a:extLst>
                    <a:ext uri="{9D8B030D-6E8A-4147-A177-3AD203B41FA5}">
                      <a16:colId xmlns:a16="http://schemas.microsoft.com/office/drawing/2014/main" val="20003"/>
                    </a:ext>
                  </a:extLst>
                </a:gridCol>
                <a:gridCol w="2135774">
                  <a:extLst>
                    <a:ext uri="{9D8B030D-6E8A-4147-A177-3AD203B41FA5}">
                      <a16:colId xmlns:a16="http://schemas.microsoft.com/office/drawing/2014/main" val="20004"/>
                    </a:ext>
                  </a:extLst>
                </a:gridCol>
                <a:gridCol w="1816624">
                  <a:extLst>
                    <a:ext uri="{9D8B030D-6E8A-4147-A177-3AD203B41FA5}">
                      <a16:colId xmlns:a16="http://schemas.microsoft.com/office/drawing/2014/main" val="20005"/>
                    </a:ext>
                  </a:extLst>
                </a:gridCol>
              </a:tblGrid>
              <a:tr h="610856">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Sr.no</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Title</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Author(s)</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Year</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Methodology</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Drawback</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extLst>
                  <a:ext uri="{0D108BD9-81ED-4DB2-BD59-A6C34878D82A}">
                    <a16:rowId xmlns:a16="http://schemas.microsoft.com/office/drawing/2014/main" val="10000"/>
                  </a:ext>
                </a:extLst>
              </a:tr>
              <a:tr h="2865144">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7</a:t>
                      </a:r>
                    </a:p>
                  </a:txBody>
                  <a:tcPr marL="68571" marR="68571" marT="0" marB="0" horzOverflow="overflow"/>
                </a:tc>
                <a:tc>
                  <a:txBody>
                    <a:bodyPr/>
                    <a:lstStyle/>
                    <a:p>
                      <a:r>
                        <a:rPr lang="en-US" sz="1400">
                          <a:latin typeface="Times New Roman" panose="02020603050405020304" pitchFamily="18" charset="0"/>
                          <a:cs typeface="Times New Roman" panose="02020603050405020304" pitchFamily="18" charset="0"/>
                        </a:rPr>
                        <a:t>Literature Survey on Stock Price Prediction Using Machine Learning</a:t>
                      </a:r>
                    </a:p>
                  </a:txBody>
                  <a:tcPr marL="91426" marR="91426" marT="45729" marB="45729"/>
                </a:tc>
                <a:tc>
                  <a:txBody>
                    <a:bodyPr/>
                    <a:lstStyle/>
                    <a:p>
                      <a:r>
                        <a:rPr lang="en-AU" sz="1400">
                          <a:latin typeface="Times New Roman" panose="02020603050405020304" pitchFamily="18" charset="0"/>
                          <a:cs typeface="Times New Roman" panose="02020603050405020304" pitchFamily="18" charset="0"/>
                        </a:rPr>
                        <a:t>Anusha J </a:t>
                      </a:r>
                      <a:r>
                        <a:rPr lang="en-AU" sz="1400" err="1">
                          <a:latin typeface="Times New Roman" panose="02020603050405020304" pitchFamily="18" charset="0"/>
                          <a:cs typeface="Times New Roman" panose="02020603050405020304" pitchFamily="18" charset="0"/>
                        </a:rPr>
                        <a:t>Adhikar</a:t>
                      </a:r>
                      <a:r>
                        <a:rPr lang="en-AU" sz="1400">
                          <a:latin typeface="Times New Roman" panose="02020603050405020304" pitchFamily="18" charset="0"/>
                          <a:cs typeface="Times New Roman" panose="02020603050405020304" pitchFamily="18" charset="0"/>
                        </a:rPr>
                        <a:t>, </a:t>
                      </a:r>
                      <a:r>
                        <a:rPr lang="en-AU" sz="1400" err="1">
                          <a:latin typeface="Times New Roman" panose="02020603050405020304" pitchFamily="18" charset="0"/>
                          <a:cs typeface="Times New Roman" panose="02020603050405020304" pitchFamily="18" charset="0"/>
                        </a:rPr>
                        <a:t>Apeksha</a:t>
                      </a:r>
                      <a:r>
                        <a:rPr lang="en-AU" sz="1400">
                          <a:latin typeface="Times New Roman" panose="02020603050405020304" pitchFamily="18" charset="0"/>
                          <a:cs typeface="Times New Roman" panose="02020603050405020304" pitchFamily="18" charset="0"/>
                        </a:rPr>
                        <a:t> K Jadhav, </a:t>
                      </a:r>
                      <a:r>
                        <a:rPr lang="en-AU" sz="1400" err="1">
                          <a:latin typeface="Times New Roman" panose="02020603050405020304" pitchFamily="18" charset="0"/>
                          <a:cs typeface="Times New Roman" panose="02020603050405020304" pitchFamily="18" charset="0"/>
                        </a:rPr>
                        <a:t>Charitha</a:t>
                      </a:r>
                      <a:r>
                        <a:rPr lang="en-AU" sz="1400">
                          <a:latin typeface="Times New Roman" panose="02020603050405020304" pitchFamily="18" charset="0"/>
                          <a:cs typeface="Times New Roman" panose="02020603050405020304" pitchFamily="18" charset="0"/>
                        </a:rPr>
                        <a:t> G, Karishma KH, Mrs. Supriya HS</a:t>
                      </a:r>
                    </a:p>
                  </a:txBody>
                  <a:tcPr marL="91426" marR="91426" marT="45729" marB="45729"/>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2020</a:t>
                      </a:r>
                    </a:p>
                  </a:txBody>
                  <a:tcPr marL="68571" marR="68571" marT="0" marB="0" horzOverflow="overflow"/>
                </a:tc>
                <a:tc>
                  <a:txBody>
                    <a:bodyPr/>
                    <a:lstStyle/>
                    <a:p>
                      <a:pPr marL="228600" indent="-228600">
                        <a:buFont typeface="+mj-lt"/>
                        <a:buAutoNum type="arabicPeriod"/>
                      </a:pPr>
                      <a:r>
                        <a:rPr lang="en-US" sz="1400">
                          <a:latin typeface="Times New Roman" panose="02020603050405020304" pitchFamily="18" charset="0"/>
                          <a:cs typeface="Times New Roman" panose="02020603050405020304" pitchFamily="18" charset="0"/>
                        </a:rPr>
                        <a:t>Machine Learning: Recurrent Neural Networks (RNN), Long Short Term Memory (LSTM). </a:t>
                      </a:r>
                    </a:p>
                    <a:p>
                      <a:pPr marL="228600" indent="-228600">
                        <a:buFont typeface="+mj-lt"/>
                        <a:buAutoNum type="arabicPeriod"/>
                      </a:pPr>
                      <a:endParaRPr lang="en-US" sz="1400">
                        <a:latin typeface="Times New Roman" panose="02020603050405020304" pitchFamily="18" charset="0"/>
                        <a:cs typeface="Times New Roman" panose="02020603050405020304" pitchFamily="18" charset="0"/>
                      </a:endParaRPr>
                    </a:p>
                    <a:p>
                      <a:pPr marL="228600" indent="-228600">
                        <a:buFont typeface="+mj-lt"/>
                        <a:buAutoNum type="arabicPeriod"/>
                      </a:pPr>
                      <a:r>
                        <a:rPr lang="en-US" sz="1400">
                          <a:latin typeface="Times New Roman" panose="02020603050405020304" pitchFamily="18" charset="0"/>
                          <a:cs typeface="Times New Roman" panose="02020603050405020304" pitchFamily="18" charset="0"/>
                        </a:rPr>
                        <a:t>Data collected from Yahoo Finance.</a:t>
                      </a:r>
                      <a:endParaRPr lang="en-AU" sz="1400">
                        <a:latin typeface="Times New Roman" panose="02020603050405020304" pitchFamily="18" charset="0"/>
                        <a:cs typeface="Times New Roman" panose="02020603050405020304" pitchFamily="18" charset="0"/>
                      </a:endParaRPr>
                    </a:p>
                  </a:txBody>
                  <a:tcPr marL="91426" marR="91426" marT="45729" marB="45729"/>
                </a:tc>
                <a:tc>
                  <a:txBody>
                    <a:bodyPr/>
                    <a:lstStyle/>
                    <a:p>
                      <a:pPr marL="228600" indent="-228600">
                        <a:buFont typeface="+mj-lt"/>
                        <a:buAutoNum type="arabicPeriod"/>
                      </a:pPr>
                      <a:r>
                        <a:rPr lang="en-US" sz="1400">
                          <a:latin typeface="Times New Roman" panose="02020603050405020304" pitchFamily="18" charset="0"/>
                          <a:cs typeface="Times New Roman" panose="02020603050405020304" pitchFamily="18" charset="0"/>
                        </a:rPr>
                        <a:t>Python libraries used were not optimal for training speed. </a:t>
                      </a:r>
                    </a:p>
                    <a:p>
                      <a:pPr marL="228600" indent="-228600">
                        <a:buFont typeface="+mj-lt"/>
                        <a:buAutoNum type="arabicPeriod"/>
                      </a:pPr>
                      <a:endParaRPr lang="en-US" sz="1400">
                        <a:latin typeface="Times New Roman" panose="02020603050405020304" pitchFamily="18" charset="0"/>
                        <a:cs typeface="Times New Roman" panose="02020603050405020304" pitchFamily="18" charset="0"/>
                      </a:endParaRPr>
                    </a:p>
                    <a:p>
                      <a:pPr marL="228600" indent="-228600">
                        <a:buFont typeface="+mj-lt"/>
                        <a:buAutoNum type="arabicPeriod"/>
                      </a:pPr>
                      <a:r>
                        <a:rPr lang="en-US" sz="1400">
                          <a:latin typeface="Times New Roman" panose="02020603050405020304" pitchFamily="18" charset="0"/>
                          <a:cs typeface="Times New Roman" panose="02020603050405020304" pitchFamily="18" charset="0"/>
                        </a:rPr>
                        <a:t>Need for optimization of neural network parameters.</a:t>
                      </a:r>
                    </a:p>
                  </a:txBody>
                  <a:tcPr marL="91426" marR="91426" marT="45729" marB="45729"/>
                </a:tc>
                <a:extLst>
                  <a:ext uri="{0D108BD9-81ED-4DB2-BD59-A6C34878D82A}">
                    <a16:rowId xmlns:a16="http://schemas.microsoft.com/office/drawing/2014/main" val="10001"/>
                  </a:ext>
                </a:extLst>
              </a:tr>
              <a:tr h="3045450">
                <a:tc>
                  <a:txBody>
                    <a:body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a:t>
                      </a: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7000"/>
                        </a:lnSpc>
                        <a:spcBef>
                          <a:spcPct val="0"/>
                        </a:spcBef>
                        <a:spcAft>
                          <a:spcPts val="800"/>
                        </a:spcAft>
                        <a:buClrTx/>
                        <a:buSzTx/>
                        <a:buFontTx/>
                        <a:buNone/>
                        <a:tabLst/>
                      </a:pPr>
                      <a:r>
                        <a:rPr lang="en-US" sz="1400">
                          <a:latin typeface="Times New Roman" panose="02020603050405020304" pitchFamily="18" charset="0"/>
                          <a:cs typeface="Times New Roman" panose="02020603050405020304" pitchFamily="18" charset="0"/>
                        </a:rPr>
                        <a:t>Augmented Textual Features-Based Stock Market Prediction</a:t>
                      </a:r>
                      <a:endParaRPr kumimoji="0" lang="en-US" altLang="en-US" sz="14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0000"/>
                        </a:lnSpc>
                        <a:spcBef>
                          <a:spcPts val="13"/>
                        </a:spcBef>
                        <a:spcAft>
                          <a:spcPct val="0"/>
                        </a:spcAft>
                        <a:buClrTx/>
                        <a:buSzTx/>
                        <a:buFontTx/>
                        <a:buNone/>
                        <a:tabLst/>
                      </a:pPr>
                      <a:r>
                        <a:rPr lang="en-US" sz="1400">
                          <a:latin typeface="Times New Roman" panose="02020603050405020304" pitchFamily="18" charset="0"/>
                          <a:cs typeface="Times New Roman" panose="02020603050405020304" pitchFamily="18" charset="0"/>
                        </a:rPr>
                        <a:t>Salah </a:t>
                      </a:r>
                      <a:r>
                        <a:rPr lang="en-US" sz="1400" err="1">
                          <a:latin typeface="Times New Roman" panose="02020603050405020304" pitchFamily="18" charset="0"/>
                          <a:cs typeface="Times New Roman" panose="02020603050405020304" pitchFamily="18" charset="0"/>
                        </a:rPr>
                        <a:t>Bouktif</a:t>
                      </a:r>
                      <a:r>
                        <a:rPr lang="en-US" sz="1400">
                          <a:latin typeface="Times New Roman" panose="02020603050405020304" pitchFamily="18" charset="0"/>
                          <a:cs typeface="Times New Roman" panose="02020603050405020304" pitchFamily="18" charset="0"/>
                        </a:rPr>
                        <a:t>, Ali </a:t>
                      </a:r>
                      <a:r>
                        <a:rPr lang="en-US" sz="1400" err="1">
                          <a:latin typeface="Times New Roman" panose="02020603050405020304" pitchFamily="18" charset="0"/>
                          <a:cs typeface="Times New Roman" panose="02020603050405020304" pitchFamily="18" charset="0"/>
                        </a:rPr>
                        <a:t>Fiaz</a:t>
                      </a:r>
                      <a:r>
                        <a:rPr lang="en-US" sz="1400">
                          <a:latin typeface="Times New Roman" panose="02020603050405020304" pitchFamily="18" charset="0"/>
                          <a:cs typeface="Times New Roman" panose="02020603050405020304" pitchFamily="18" charset="0"/>
                        </a:rPr>
                        <a:t>, </a:t>
                      </a:r>
                      <a:r>
                        <a:rPr lang="en-US" sz="1400" err="1">
                          <a:latin typeface="Times New Roman" panose="02020603050405020304" pitchFamily="18" charset="0"/>
                          <a:cs typeface="Times New Roman" panose="02020603050405020304" pitchFamily="18" charset="0"/>
                        </a:rPr>
                        <a:t>Mamoun</a:t>
                      </a:r>
                      <a:r>
                        <a:rPr lang="en-US" sz="1400">
                          <a:latin typeface="Times New Roman" panose="02020603050405020304" pitchFamily="18" charset="0"/>
                          <a:cs typeface="Times New Roman" panose="02020603050405020304" pitchFamily="18" charset="0"/>
                        </a:rPr>
                        <a:t> Awad</a:t>
                      </a:r>
                      <a:endPar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2020</a:t>
                      </a: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7000"/>
                        </a:lnSpc>
                        <a:spcBef>
                          <a:spcPct val="0"/>
                        </a:spcBef>
                        <a:spcAft>
                          <a:spcPts val="800"/>
                        </a:spcAft>
                        <a:buClrTx/>
                        <a:buSzTx/>
                        <a:buFont typeface="Arial" panose="020B0604020202020204" pitchFamily="34" charset="0"/>
                        <a:buNone/>
                        <a:tabLst/>
                      </a:pPr>
                      <a:r>
                        <a:rPr lang="en-US" sz="1400">
                          <a:latin typeface="Times New Roman" panose="02020603050405020304" pitchFamily="18" charset="0"/>
                          <a:cs typeface="Times New Roman" panose="02020603050405020304" pitchFamily="18" charset="0"/>
                        </a:rPr>
                        <a:t>Sentiment analysis using tweets and stock data combined with machine learning techniques such as SVM, Naive Bayes, ANN, and </a:t>
                      </a:r>
                      <a:r>
                        <a:rPr lang="en-US" sz="1400" err="1">
                          <a:latin typeface="Times New Roman" panose="02020603050405020304" pitchFamily="18" charset="0"/>
                          <a:cs typeface="Times New Roman" panose="02020603050405020304" pitchFamily="18" charset="0"/>
                        </a:rPr>
                        <a:t>XGBoost</a:t>
                      </a:r>
                      <a:r>
                        <a:rPr lang="en-US" sz="1400">
                          <a:latin typeface="Times New Roman" panose="02020603050405020304" pitchFamily="18" charset="0"/>
                          <a:cs typeface="Times New Roman" panose="02020603050405020304" pitchFamily="18" charset="0"/>
                        </a:rPr>
                        <a:t> with model stacking.</a:t>
                      </a:r>
                      <a:endParaRPr kumimoji="0" lang="en-IN" altLang="en-US" sz="14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228600" marR="0" lvl="0" indent="-228600" algn="l" defTabSz="503238" rtl="0" eaLnBrk="1" fontAlgn="base" latinLnBrk="0" hangingPunct="1">
                        <a:lnSpc>
                          <a:spcPct val="100000"/>
                        </a:lnSpc>
                        <a:spcBef>
                          <a:spcPts val="13"/>
                        </a:spcBef>
                        <a:spcAft>
                          <a:spcPct val="0"/>
                        </a:spcAft>
                        <a:buClrTx/>
                        <a:buSzTx/>
                        <a:buFont typeface="+mj-lt"/>
                        <a:buAutoNum type="arabicPeriod"/>
                        <a:tabLst/>
                      </a:pPr>
                      <a:r>
                        <a:rPr lang="en-US" sz="1400">
                          <a:latin typeface="Times New Roman" panose="02020603050405020304" pitchFamily="18" charset="0"/>
                          <a:cs typeface="Times New Roman" panose="02020603050405020304" pitchFamily="18" charset="0"/>
                        </a:rPr>
                        <a:t>Limited by the text features extraction approach, </a:t>
                      </a:r>
                    </a:p>
                    <a:p>
                      <a:pPr marL="228600" marR="0" lvl="0" indent="-228600" algn="l" defTabSz="503238" rtl="0" eaLnBrk="1" fontAlgn="base" latinLnBrk="0" hangingPunct="1">
                        <a:lnSpc>
                          <a:spcPct val="100000"/>
                        </a:lnSpc>
                        <a:spcBef>
                          <a:spcPts val="13"/>
                        </a:spcBef>
                        <a:spcAft>
                          <a:spcPct val="0"/>
                        </a:spcAft>
                        <a:buClrTx/>
                        <a:buSzTx/>
                        <a:buFont typeface="+mj-lt"/>
                        <a:buAutoNum type="arabicPeriod"/>
                        <a:tabLst/>
                      </a:pPr>
                      <a:endParaRPr lang="en-US" sz="1400">
                        <a:latin typeface="Times New Roman" panose="02020603050405020304" pitchFamily="18" charset="0"/>
                        <a:cs typeface="Times New Roman" panose="02020603050405020304" pitchFamily="18" charset="0"/>
                      </a:endParaRPr>
                    </a:p>
                    <a:p>
                      <a:pPr marL="228600" marR="0" lvl="0" indent="-228600" algn="l" defTabSz="503238" rtl="0" eaLnBrk="1" fontAlgn="base" latinLnBrk="0" hangingPunct="1">
                        <a:lnSpc>
                          <a:spcPct val="100000"/>
                        </a:lnSpc>
                        <a:spcBef>
                          <a:spcPts val="13"/>
                        </a:spcBef>
                        <a:spcAft>
                          <a:spcPct val="0"/>
                        </a:spcAft>
                        <a:buClrTx/>
                        <a:buSzTx/>
                        <a:buFont typeface="+mj-lt"/>
                        <a:buAutoNum type="arabicPeriod"/>
                        <a:tabLst/>
                      </a:pPr>
                      <a:r>
                        <a:rPr lang="en-US" sz="1400">
                          <a:latin typeface="Times New Roman" panose="02020603050405020304" pitchFamily="18" charset="0"/>
                          <a:cs typeface="Times New Roman" panose="02020603050405020304" pitchFamily="18" charset="0"/>
                        </a:rPr>
                        <a:t>Detailed analysis of sentiments is needed to improve prediction accuracy.</a:t>
                      </a:r>
                    </a:p>
                  </a:txBody>
                  <a:tcPr marL="68571" marR="68571" marT="0" marB="0" horzOverflow="overflow"/>
                </a:tc>
                <a:extLst>
                  <a:ext uri="{0D108BD9-81ED-4DB2-BD59-A6C34878D82A}">
                    <a16:rowId xmlns:a16="http://schemas.microsoft.com/office/drawing/2014/main" val="1000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0E088-C1D9-B511-5381-36E822F774FB}"/>
              </a:ext>
            </a:extLst>
          </p:cNvPr>
          <p:cNvSpPr>
            <a:spLocks noGrp="1"/>
          </p:cNvSpPr>
          <p:nvPr>
            <p:ph type="title"/>
          </p:nvPr>
        </p:nvSpPr>
        <p:spPr>
          <a:xfrm>
            <a:off x="647700" y="611188"/>
            <a:ext cx="6997700" cy="1455737"/>
          </a:xfrm>
        </p:spPr>
        <p:txBody>
          <a:bodyPr/>
          <a:lstStyle/>
          <a:p>
            <a:pPr>
              <a:defRPr/>
            </a:pPr>
            <a:r>
              <a:rPr lang="en-IN" altLang="en-US" sz="3600" b="1">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Literature Review</a:t>
            </a:r>
            <a:endParaRPr lang="en-AU"/>
          </a:p>
        </p:txBody>
      </p:sp>
      <p:graphicFrame>
        <p:nvGraphicFramePr>
          <p:cNvPr id="3" name="Table 2">
            <a:extLst>
              <a:ext uri="{FF2B5EF4-FFF2-40B4-BE49-F238E27FC236}">
                <a16:creationId xmlns:a16="http://schemas.microsoft.com/office/drawing/2014/main" id="{D1F3283D-3D8C-D1F5-2F92-6F015D97ED90}"/>
              </a:ext>
            </a:extLst>
          </p:cNvPr>
          <p:cNvGraphicFramePr>
            <a:graphicFrameLocks noGrp="1"/>
          </p:cNvGraphicFramePr>
          <p:nvPr>
            <p:extLst>
              <p:ext uri="{D42A27DB-BD31-4B8C-83A1-F6EECF244321}">
                <p14:modId xmlns:p14="http://schemas.microsoft.com/office/powerpoint/2010/main" val="3140740475"/>
              </p:ext>
            </p:extLst>
          </p:nvPr>
        </p:nvGraphicFramePr>
        <p:xfrm>
          <a:off x="519113" y="1474788"/>
          <a:ext cx="8624887" cy="6437312"/>
        </p:xfrm>
        <a:graphic>
          <a:graphicData uri="http://schemas.openxmlformats.org/drawingml/2006/table">
            <a:tbl>
              <a:tblPr>
                <a:tableStyleId>{D7AC3CCA-C797-4891-BE02-D94E43425B78}</a:tableStyleId>
              </a:tblPr>
              <a:tblGrid>
                <a:gridCol w="561193">
                  <a:extLst>
                    <a:ext uri="{9D8B030D-6E8A-4147-A177-3AD203B41FA5}">
                      <a16:colId xmlns:a16="http://schemas.microsoft.com/office/drawing/2014/main" val="20000"/>
                    </a:ext>
                  </a:extLst>
                </a:gridCol>
                <a:gridCol w="1655937">
                  <a:extLst>
                    <a:ext uri="{9D8B030D-6E8A-4147-A177-3AD203B41FA5}">
                      <a16:colId xmlns:a16="http://schemas.microsoft.com/office/drawing/2014/main" val="20001"/>
                    </a:ext>
                  </a:extLst>
                </a:gridCol>
                <a:gridCol w="1911002">
                  <a:extLst>
                    <a:ext uri="{9D8B030D-6E8A-4147-A177-3AD203B41FA5}">
                      <a16:colId xmlns:a16="http://schemas.microsoft.com/office/drawing/2014/main" val="20002"/>
                    </a:ext>
                  </a:extLst>
                </a:gridCol>
                <a:gridCol w="544357">
                  <a:extLst>
                    <a:ext uri="{9D8B030D-6E8A-4147-A177-3AD203B41FA5}">
                      <a16:colId xmlns:a16="http://schemas.microsoft.com/office/drawing/2014/main" val="20003"/>
                    </a:ext>
                  </a:extLst>
                </a:gridCol>
                <a:gridCol w="2135774">
                  <a:extLst>
                    <a:ext uri="{9D8B030D-6E8A-4147-A177-3AD203B41FA5}">
                      <a16:colId xmlns:a16="http://schemas.microsoft.com/office/drawing/2014/main" val="20004"/>
                    </a:ext>
                  </a:extLst>
                </a:gridCol>
                <a:gridCol w="1816624">
                  <a:extLst>
                    <a:ext uri="{9D8B030D-6E8A-4147-A177-3AD203B41FA5}">
                      <a16:colId xmlns:a16="http://schemas.microsoft.com/office/drawing/2014/main" val="20005"/>
                    </a:ext>
                  </a:extLst>
                </a:gridCol>
              </a:tblGrid>
              <a:tr h="617622">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Sr.no</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Title</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Author(s)</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Year</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Methodology</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Drawback</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extLst>
                  <a:ext uri="{0D108BD9-81ED-4DB2-BD59-A6C34878D82A}">
                    <a16:rowId xmlns:a16="http://schemas.microsoft.com/office/drawing/2014/main" val="10000"/>
                  </a:ext>
                </a:extLst>
              </a:tr>
              <a:tr h="3267180">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a:t>
                      </a:r>
                    </a:p>
                  </a:txBody>
                  <a:tcPr marL="68571" marR="68571" marT="0" marB="0" horzOverflow="overflow"/>
                </a:tc>
                <a:tc>
                  <a:txBody>
                    <a:bodyPr/>
                    <a:lstStyle/>
                    <a:p>
                      <a:r>
                        <a:rPr lang="en-US" sz="1400">
                          <a:latin typeface="Times New Roman" panose="02020603050405020304" pitchFamily="18" charset="0"/>
                          <a:cs typeface="Times New Roman" panose="02020603050405020304" pitchFamily="18" charset="0"/>
                        </a:rPr>
                        <a:t>Stock Price Prediction Using Convolutional Neural Networks on a Multivariate Timeseries</a:t>
                      </a:r>
                    </a:p>
                  </a:txBody>
                  <a:tcPr marL="91426" marR="91426" marT="45730" marB="45730"/>
                </a:tc>
                <a:tc>
                  <a:txBody>
                    <a:bodyPr/>
                    <a:lstStyle/>
                    <a:p>
                      <a:r>
                        <a:rPr lang="en-AU" sz="1400">
                          <a:latin typeface="Times New Roman" panose="02020603050405020304" pitchFamily="18" charset="0"/>
                          <a:cs typeface="Times New Roman" panose="02020603050405020304" pitchFamily="18" charset="0"/>
                        </a:rPr>
                        <a:t>Sidra </a:t>
                      </a:r>
                      <a:r>
                        <a:rPr lang="en-AU" sz="1400" err="1">
                          <a:latin typeface="Times New Roman" panose="02020603050405020304" pitchFamily="18" charset="0"/>
                          <a:cs typeface="Times New Roman" panose="02020603050405020304" pitchFamily="18" charset="0"/>
                        </a:rPr>
                        <a:t>Mehtab</a:t>
                      </a:r>
                      <a:r>
                        <a:rPr lang="en-AU" sz="1400">
                          <a:latin typeface="Times New Roman" panose="02020603050405020304" pitchFamily="18" charset="0"/>
                          <a:cs typeface="Times New Roman" panose="02020603050405020304" pitchFamily="18" charset="0"/>
                        </a:rPr>
                        <a:t>, </a:t>
                      </a:r>
                      <a:r>
                        <a:rPr lang="en-AU" sz="1400" err="1">
                          <a:latin typeface="Times New Roman" panose="02020603050405020304" pitchFamily="18" charset="0"/>
                          <a:cs typeface="Times New Roman" panose="02020603050405020304" pitchFamily="18" charset="0"/>
                        </a:rPr>
                        <a:t>Jaydip</a:t>
                      </a:r>
                      <a:r>
                        <a:rPr lang="en-AU" sz="1400">
                          <a:latin typeface="Times New Roman" panose="02020603050405020304" pitchFamily="18" charset="0"/>
                          <a:cs typeface="Times New Roman" panose="02020603050405020304" pitchFamily="18" charset="0"/>
                        </a:rPr>
                        <a:t> Sen</a:t>
                      </a:r>
                    </a:p>
                  </a:txBody>
                  <a:tcPr marL="91426" marR="91426" marT="45730" marB="45730"/>
                </a:tc>
                <a:tc>
                  <a:txBody>
                    <a:bodyPr/>
                    <a:lstStyle/>
                    <a:p>
                      <a:pPr marL="0" marR="0" lvl="0" indent="0" algn="l"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2019</a:t>
                      </a:r>
                    </a:p>
                  </a:txBody>
                  <a:tcPr marL="68571" marR="68571" marT="0" marB="0" horzOverflow="overflow"/>
                </a:tc>
                <a:tc>
                  <a:txBody>
                    <a:bodyPr/>
                    <a:lstStyle/>
                    <a:p>
                      <a:pPr marL="228600" indent="-228600">
                        <a:buFont typeface="+mj-lt"/>
                        <a:buAutoNum type="arabicPeriod"/>
                      </a:pPr>
                      <a:r>
                        <a:rPr lang="en-AU" sz="1400">
                          <a:latin typeface="Times New Roman" panose="02020603050405020304" pitchFamily="18" charset="0"/>
                          <a:cs typeface="Times New Roman" panose="02020603050405020304" pitchFamily="18" charset="0"/>
                        </a:rPr>
                        <a:t>Machine Learning: Logistic Regression, KNN, Decision Tree, Bagging, Boosting, Random Forest, ANN, SVM. </a:t>
                      </a:r>
                    </a:p>
                    <a:p>
                      <a:pPr marL="228600" indent="-228600">
                        <a:buFont typeface="+mj-lt"/>
                        <a:buAutoNum type="arabicPeriod"/>
                      </a:pPr>
                      <a:r>
                        <a:rPr lang="en-AU" sz="1400">
                          <a:latin typeface="Times New Roman" panose="02020603050405020304" pitchFamily="18" charset="0"/>
                          <a:cs typeface="Times New Roman" panose="02020603050405020304" pitchFamily="18" charset="0"/>
                        </a:rPr>
                        <a:t>Deep Learning: CNN with three approaches: univariate, multivariate, and multi-model. </a:t>
                      </a:r>
                    </a:p>
                    <a:p>
                      <a:pPr marL="228600" indent="-228600">
                        <a:buFont typeface="+mj-lt"/>
                        <a:buAutoNum type="arabicPeriod"/>
                      </a:pPr>
                      <a:r>
                        <a:rPr lang="en-AU" sz="1400">
                          <a:latin typeface="Times New Roman" panose="02020603050405020304" pitchFamily="18" charset="0"/>
                          <a:cs typeface="Times New Roman" panose="02020603050405020304" pitchFamily="18" charset="0"/>
                        </a:rPr>
                        <a:t>Data from NIFTY 50 index (2015-2019).</a:t>
                      </a:r>
                      <a:endParaRPr lang="en-US" sz="1400">
                        <a:latin typeface="Times New Roman" panose="02020603050405020304" pitchFamily="18" charset="0"/>
                        <a:cs typeface="Times New Roman" panose="02020603050405020304" pitchFamily="18" charset="0"/>
                      </a:endParaRPr>
                    </a:p>
                  </a:txBody>
                  <a:tcPr marL="91426" marR="91426" marT="45730" marB="45730"/>
                </a:tc>
                <a:tc>
                  <a:txBody>
                    <a:bodyPr/>
                    <a:lstStyle/>
                    <a:p>
                      <a:pPr marL="228600" indent="-228600">
                        <a:buFont typeface="+mj-lt"/>
                        <a:buAutoNum type="arabicPeriod"/>
                      </a:pPr>
                      <a:r>
                        <a:rPr lang="en-US" sz="1400">
                          <a:latin typeface="Times New Roman" panose="02020603050405020304" pitchFamily="18" charset="0"/>
                          <a:cs typeface="Times New Roman" panose="02020603050405020304" pitchFamily="18" charset="0"/>
                        </a:rPr>
                        <a:t>Difficulty in predicting rapid stock price changes.</a:t>
                      </a:r>
                    </a:p>
                    <a:p>
                      <a:pPr marL="228600" indent="-228600">
                        <a:buFont typeface="+mj-lt"/>
                        <a:buAutoNum type="arabicPeriod"/>
                      </a:pPr>
                      <a:r>
                        <a:rPr lang="en-US" sz="1400">
                          <a:latin typeface="Times New Roman" panose="02020603050405020304" pitchFamily="18" charset="0"/>
                          <a:cs typeface="Times New Roman" panose="02020603050405020304" pitchFamily="18" charset="0"/>
                        </a:rPr>
                        <a:t>Performance varies with data size and model settings.</a:t>
                      </a:r>
                    </a:p>
                    <a:p>
                      <a:pPr marL="228600" indent="-228600">
                        <a:buFont typeface="+mj-lt"/>
                        <a:buAutoNum type="arabicPeriod"/>
                      </a:pPr>
                      <a:r>
                        <a:rPr lang="en-US" sz="1400">
                          <a:latin typeface="Times New Roman" panose="02020603050405020304" pitchFamily="18" charset="0"/>
                          <a:cs typeface="Times New Roman" panose="02020603050405020304" pitchFamily="18" charset="0"/>
                        </a:rPr>
                        <a:t>Higher prediction errors (RMSE) in some CNN configurations.</a:t>
                      </a:r>
                    </a:p>
                  </a:txBody>
                  <a:tcPr marL="91426" marR="91426" marT="45730" marB="45730"/>
                </a:tc>
                <a:extLst>
                  <a:ext uri="{0D108BD9-81ED-4DB2-BD59-A6C34878D82A}">
                    <a16:rowId xmlns:a16="http://schemas.microsoft.com/office/drawing/2014/main" val="10001"/>
                  </a:ext>
                </a:extLst>
              </a:tr>
              <a:tr h="2552510">
                <a:tc>
                  <a:txBody>
                    <a:body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a:t>
                      </a:r>
                    </a:p>
                  </a:txBody>
                  <a:tcPr marL="68571" marR="68571" marT="0" marB="0" horzOverflow="overflow"/>
                </a:tc>
                <a:tc>
                  <a:txBody>
                    <a:bodyPr/>
                    <a:lstStyle/>
                    <a:p>
                      <a:r>
                        <a:rPr lang="en-US" sz="1400">
                          <a:latin typeface="Times New Roman" panose="02020603050405020304" pitchFamily="18" charset="0"/>
                          <a:cs typeface="Times New Roman" panose="02020603050405020304" pitchFamily="18" charset="0"/>
                        </a:rPr>
                        <a:t>A Prediction Approach for Stock Market Volatility Based on Time Series Data</a:t>
                      </a:r>
                    </a:p>
                  </a:txBody>
                  <a:tcPr marL="91426" marR="91426" marT="45731" marB="45731"/>
                </a:tc>
                <a:tc>
                  <a:txBody>
                    <a:bodyPr/>
                    <a:lstStyle/>
                    <a:p>
                      <a:pPr marL="0" marR="0" lvl="0" indent="0" algn="l" defTabSz="503238" rtl="0" eaLnBrk="1" fontAlgn="base" latinLnBrk="0" hangingPunct="1">
                        <a:lnSpc>
                          <a:spcPct val="100000"/>
                        </a:lnSpc>
                        <a:spcBef>
                          <a:spcPts val="13"/>
                        </a:spcBef>
                        <a:spcAft>
                          <a:spcPct val="0"/>
                        </a:spcAft>
                        <a:buClrTx/>
                        <a:buSzTx/>
                        <a:buFontTx/>
                        <a:buNone/>
                        <a:tabLst/>
                      </a:pPr>
                      <a:r>
                        <a:rPr lang="en-AU" sz="1400">
                          <a:latin typeface="Times New Roman" panose="02020603050405020304" pitchFamily="18" charset="0"/>
                          <a:cs typeface="Times New Roman" panose="02020603050405020304" pitchFamily="18" charset="0"/>
                        </a:rPr>
                        <a:t>Sheikh Mohammad Idrees, M. Afshar Alam, Parul Agarwal</a:t>
                      </a:r>
                      <a:endPar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p>
                      <a:pPr marL="0" marR="0" lvl="0" indent="0" algn="l"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2019</a:t>
                      </a:r>
                    </a:p>
                  </a:txBody>
                  <a:tcPr marL="68571" marR="68571" marT="0" marB="0" horzOverflow="overflow"/>
                </a:tc>
                <a:tc>
                  <a:txBody>
                    <a:bodyPr/>
                    <a:lstStyle/>
                    <a:p>
                      <a:pPr marL="0" marR="0" lvl="0" indent="0" algn="l" defTabSz="503238" rtl="0" eaLnBrk="1" fontAlgn="base" latinLnBrk="0" hangingPunct="1">
                        <a:lnSpc>
                          <a:spcPct val="107000"/>
                        </a:lnSpc>
                        <a:spcBef>
                          <a:spcPct val="0"/>
                        </a:spcBef>
                        <a:spcAft>
                          <a:spcPts val="800"/>
                        </a:spcAft>
                        <a:buClrTx/>
                        <a:buSzTx/>
                        <a:buFont typeface="Arial" panose="020B0604020202020204" pitchFamily="34" charset="0"/>
                        <a:buNone/>
                        <a:tabLst/>
                      </a:pPr>
                      <a:r>
                        <a:rPr lang="en-US" sz="1400">
                          <a:latin typeface="Times New Roman" panose="02020603050405020304" pitchFamily="18" charset="0"/>
                          <a:cs typeface="Times New Roman" panose="02020603050405020304" pitchFamily="18" charset="0"/>
                        </a:rPr>
                        <a:t>ARIMA (Auto-Regressive Integrated Moving Average) model for time series data prediction</a:t>
                      </a:r>
                      <a:endParaRPr kumimoji="0" lang="en-IN" altLang="en-US" sz="14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1" marR="68571" marT="0" marB="0" horzOverflow="overflow"/>
                </a:tc>
                <a:tc>
                  <a:txBody>
                    <a:bodyPr/>
                    <a:lstStyle/>
                    <a:p>
                      <a:pPr marL="0" marR="0" lvl="0" indent="0" algn="l" defTabSz="503238" rtl="0" eaLnBrk="1" fontAlgn="base" latinLnBrk="0" hangingPunct="1">
                        <a:lnSpc>
                          <a:spcPct val="100000"/>
                        </a:lnSpc>
                        <a:spcBef>
                          <a:spcPts val="13"/>
                        </a:spcBef>
                        <a:spcAft>
                          <a:spcPct val="0"/>
                        </a:spcAft>
                        <a:buClrTx/>
                        <a:buSzTx/>
                        <a:buFont typeface="+mj-lt"/>
                        <a:buNone/>
                        <a:tabLst/>
                      </a:pPr>
                      <a:r>
                        <a:rPr lang="en-US" sz="1400">
                          <a:latin typeface="Times New Roman" panose="02020603050405020304" pitchFamily="18" charset="0"/>
                          <a:cs typeface="Times New Roman" panose="02020603050405020304" pitchFamily="18" charset="0"/>
                        </a:rPr>
                        <a:t>Limited to univariate data, assuming no external factors like social or economic events.</a:t>
                      </a:r>
                      <a:endPar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CF5DD-4A97-6161-A660-1C4BB3A279C1}"/>
              </a:ext>
            </a:extLst>
          </p:cNvPr>
          <p:cNvSpPr>
            <a:spLocks noGrp="1"/>
          </p:cNvSpPr>
          <p:nvPr>
            <p:ph type="title"/>
          </p:nvPr>
        </p:nvSpPr>
        <p:spPr>
          <a:xfrm>
            <a:off x="671513" y="671513"/>
            <a:ext cx="6997700" cy="1455737"/>
          </a:xfrm>
        </p:spPr>
        <p:txBody>
          <a:bodyPr/>
          <a:lstStyle/>
          <a:p>
            <a:pPr>
              <a:defRPr/>
            </a:pPr>
            <a:r>
              <a:rPr lang="en-IN" altLang="en-US" sz="4000" b="1">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Literature Review</a:t>
            </a:r>
            <a:endParaRPr lang="en-AU"/>
          </a:p>
        </p:txBody>
      </p:sp>
      <p:graphicFrame>
        <p:nvGraphicFramePr>
          <p:cNvPr id="3" name="Table 2">
            <a:extLst>
              <a:ext uri="{FF2B5EF4-FFF2-40B4-BE49-F238E27FC236}">
                <a16:creationId xmlns:a16="http://schemas.microsoft.com/office/drawing/2014/main" id="{C92D243C-E132-C8E6-3D97-BE2446D1A3AF}"/>
              </a:ext>
            </a:extLst>
          </p:cNvPr>
          <p:cNvGraphicFramePr>
            <a:graphicFrameLocks noGrp="1"/>
          </p:cNvGraphicFramePr>
          <p:nvPr>
            <p:extLst>
              <p:ext uri="{D42A27DB-BD31-4B8C-83A1-F6EECF244321}">
                <p14:modId xmlns:p14="http://schemas.microsoft.com/office/powerpoint/2010/main" val="3960297564"/>
              </p:ext>
            </p:extLst>
          </p:nvPr>
        </p:nvGraphicFramePr>
        <p:xfrm>
          <a:off x="519113" y="1474788"/>
          <a:ext cx="8624887" cy="6135687"/>
        </p:xfrm>
        <a:graphic>
          <a:graphicData uri="http://schemas.openxmlformats.org/drawingml/2006/table">
            <a:tbl>
              <a:tblPr>
                <a:tableStyleId>{D7AC3CCA-C797-4891-BE02-D94E43425B78}</a:tableStyleId>
              </a:tblPr>
              <a:tblGrid>
                <a:gridCol w="561193">
                  <a:extLst>
                    <a:ext uri="{9D8B030D-6E8A-4147-A177-3AD203B41FA5}">
                      <a16:colId xmlns:a16="http://schemas.microsoft.com/office/drawing/2014/main" val="20000"/>
                    </a:ext>
                  </a:extLst>
                </a:gridCol>
                <a:gridCol w="1655937">
                  <a:extLst>
                    <a:ext uri="{9D8B030D-6E8A-4147-A177-3AD203B41FA5}">
                      <a16:colId xmlns:a16="http://schemas.microsoft.com/office/drawing/2014/main" val="20001"/>
                    </a:ext>
                  </a:extLst>
                </a:gridCol>
                <a:gridCol w="1911002">
                  <a:extLst>
                    <a:ext uri="{9D8B030D-6E8A-4147-A177-3AD203B41FA5}">
                      <a16:colId xmlns:a16="http://schemas.microsoft.com/office/drawing/2014/main" val="20002"/>
                    </a:ext>
                  </a:extLst>
                </a:gridCol>
                <a:gridCol w="544357">
                  <a:extLst>
                    <a:ext uri="{9D8B030D-6E8A-4147-A177-3AD203B41FA5}">
                      <a16:colId xmlns:a16="http://schemas.microsoft.com/office/drawing/2014/main" val="20003"/>
                    </a:ext>
                  </a:extLst>
                </a:gridCol>
                <a:gridCol w="2135774">
                  <a:extLst>
                    <a:ext uri="{9D8B030D-6E8A-4147-A177-3AD203B41FA5}">
                      <a16:colId xmlns:a16="http://schemas.microsoft.com/office/drawing/2014/main" val="20004"/>
                    </a:ext>
                  </a:extLst>
                </a:gridCol>
                <a:gridCol w="1816624">
                  <a:extLst>
                    <a:ext uri="{9D8B030D-6E8A-4147-A177-3AD203B41FA5}">
                      <a16:colId xmlns:a16="http://schemas.microsoft.com/office/drawing/2014/main" val="20005"/>
                    </a:ext>
                  </a:extLst>
                </a:gridCol>
              </a:tblGrid>
              <a:tr h="617615">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Sr.no</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Title</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Author(s)</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Year</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Methodology</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Drawback</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extLst>
                  <a:ext uri="{0D108BD9-81ED-4DB2-BD59-A6C34878D82A}">
                    <a16:rowId xmlns:a16="http://schemas.microsoft.com/office/drawing/2014/main" val="10000"/>
                  </a:ext>
                </a:extLst>
              </a:tr>
              <a:tr h="2865739">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11</a:t>
                      </a:r>
                    </a:p>
                  </a:txBody>
                  <a:tcPr marL="68571" marR="68571" marT="0" marB="0" horzOverflow="overflow"/>
                </a:tc>
                <a:tc>
                  <a:txBody>
                    <a:bodyPr/>
                    <a:lstStyle/>
                    <a:p>
                      <a:pPr lvl="0"/>
                      <a:r>
                        <a:rPr lang="en-US" sz="1400">
                          <a:latin typeface="Times New Roman" panose="02020603050405020304" pitchFamily="18" charset="0"/>
                          <a:cs typeface="Times New Roman" panose="02020603050405020304" pitchFamily="18" charset="0"/>
                        </a:rPr>
                        <a:t>Predicting Prices of Stock Market using Gated Recurrent Units (GRUs) Neural Networks</a:t>
                      </a:r>
                      <a:endParaRPr lang="en-AU" sz="1400">
                        <a:latin typeface="Times New Roman" panose="02020603050405020304" pitchFamily="18" charset="0"/>
                        <a:cs typeface="Times New Roman" panose="02020603050405020304" pitchFamily="18" charset="0"/>
                      </a:endParaRPr>
                    </a:p>
                  </a:txBody>
                  <a:tcPr marL="91432" marR="91432" marT="45712" marB="45712"/>
                </a:tc>
                <a:tc>
                  <a:txBody>
                    <a:bodyPr/>
                    <a:lstStyle/>
                    <a:p>
                      <a:pPr marL="0" marR="0" lvl="0" indent="0" algn="l" defTabSz="503238" rtl="0" eaLnBrk="1" fontAlgn="base" latinLnBrk="0" hangingPunct="1">
                        <a:lnSpc>
                          <a:spcPct val="100000"/>
                        </a:lnSpc>
                        <a:spcBef>
                          <a:spcPts val="13"/>
                        </a:spcBef>
                        <a:spcAft>
                          <a:spcPct val="0"/>
                        </a:spcAft>
                        <a:buClrTx/>
                        <a:buSzTx/>
                        <a:buFontTx/>
                        <a:buNone/>
                        <a:tabLst/>
                      </a:pPr>
                      <a:r>
                        <a:rPr lang="en-AU" sz="1400">
                          <a:latin typeface="Times New Roman" panose="02020603050405020304" pitchFamily="18" charset="0"/>
                          <a:cs typeface="Times New Roman" panose="02020603050405020304" pitchFamily="18" charset="0"/>
                        </a:rPr>
                        <a:t>Mohammad </a:t>
                      </a:r>
                      <a:r>
                        <a:rPr lang="en-AU" sz="1400" err="1">
                          <a:latin typeface="Times New Roman" panose="02020603050405020304" pitchFamily="18" charset="0"/>
                          <a:cs typeface="Times New Roman" panose="02020603050405020304" pitchFamily="18" charset="0"/>
                        </a:rPr>
                        <a:t>Obaidur</a:t>
                      </a:r>
                      <a:r>
                        <a:rPr lang="en-AU" sz="1400">
                          <a:latin typeface="Times New Roman" panose="02020603050405020304" pitchFamily="18" charset="0"/>
                          <a:cs typeface="Times New Roman" panose="02020603050405020304" pitchFamily="18" charset="0"/>
                        </a:rPr>
                        <a:t> Rahman, Md. Sabir Hossain, Ta-Seen Junaid, Md. Shafiul Alam </a:t>
                      </a:r>
                      <a:r>
                        <a:rPr lang="en-AU" sz="1400" err="1">
                          <a:latin typeface="Times New Roman" panose="02020603050405020304" pitchFamily="18" charset="0"/>
                          <a:cs typeface="Times New Roman" panose="02020603050405020304" pitchFamily="18" charset="0"/>
                        </a:rPr>
                        <a:t>Forhad</a:t>
                      </a:r>
                      <a:r>
                        <a:rPr lang="en-AU" sz="1400">
                          <a:latin typeface="Times New Roman" panose="02020603050405020304" pitchFamily="18" charset="0"/>
                          <a:cs typeface="Times New Roman" panose="02020603050405020304" pitchFamily="18" charset="0"/>
                        </a:rPr>
                        <a:t>, Muhammad Kamal </a:t>
                      </a:r>
                      <a:r>
                        <a:rPr lang="en-AU" sz="1400" err="1">
                          <a:latin typeface="Times New Roman" panose="02020603050405020304" pitchFamily="18" charset="0"/>
                          <a:cs typeface="Times New Roman" panose="02020603050405020304" pitchFamily="18" charset="0"/>
                        </a:rPr>
                        <a:t>Hossen</a:t>
                      </a:r>
                      <a:endPar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5" marR="68575" marT="0" marB="0" horzOverflow="overflow"/>
                </a:tc>
                <a:tc>
                  <a:txBody>
                    <a:bodyPr/>
                    <a:lstStyle/>
                    <a:p>
                      <a:pPr marL="0" marR="0" lvl="0" indent="0" algn="l"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2019</a:t>
                      </a:r>
                    </a:p>
                  </a:txBody>
                  <a:tcPr marL="68575" marR="68575" marT="0" marB="0" horzOverflow="overflow"/>
                </a:tc>
                <a:tc>
                  <a:txBody>
                    <a:bodyPr/>
                    <a:lstStyle/>
                    <a:p>
                      <a:pPr marL="228600" marR="0" lvl="0" indent="-228600" algn="l" defTabSz="503238" rtl="0" eaLnBrk="1" fontAlgn="base" latinLnBrk="0" hangingPunct="1">
                        <a:lnSpc>
                          <a:spcPct val="107000"/>
                        </a:lnSpc>
                        <a:spcBef>
                          <a:spcPct val="0"/>
                        </a:spcBef>
                        <a:spcAft>
                          <a:spcPts val="800"/>
                        </a:spcAft>
                        <a:buClrTx/>
                        <a:buSzTx/>
                        <a:buFont typeface="+mj-lt"/>
                        <a:buAutoNum type="arabicPeriod"/>
                        <a:tabLst/>
                      </a:pPr>
                      <a:r>
                        <a:rPr lang="en-US" sz="1400">
                          <a:latin typeface="Times New Roman" panose="02020603050405020304" pitchFamily="18" charset="0"/>
                          <a:cs typeface="Times New Roman" panose="02020603050405020304" pitchFamily="18" charset="0"/>
                        </a:rPr>
                        <a:t>Gated Recurrent Units (GRUs) for stock price prediction</a:t>
                      </a:r>
                    </a:p>
                    <a:p>
                      <a:pPr marL="228600" marR="0" lvl="0" indent="-228600" algn="l" defTabSz="503238" rtl="0" eaLnBrk="1" fontAlgn="base" latinLnBrk="0" hangingPunct="1">
                        <a:lnSpc>
                          <a:spcPct val="107000"/>
                        </a:lnSpc>
                        <a:spcBef>
                          <a:spcPct val="0"/>
                        </a:spcBef>
                        <a:spcAft>
                          <a:spcPts val="800"/>
                        </a:spcAft>
                        <a:buClrTx/>
                        <a:buSzTx/>
                        <a:buFont typeface="+mj-lt"/>
                        <a:buAutoNum type="arabicPeriod"/>
                        <a:tabLst/>
                      </a:pPr>
                      <a:r>
                        <a:rPr lang="en-US" sz="1400">
                          <a:latin typeface="Times New Roman" panose="02020603050405020304" pitchFamily="18" charset="0"/>
                          <a:cs typeface="Times New Roman" panose="02020603050405020304" pitchFamily="18" charset="0"/>
                        </a:rPr>
                        <a:t>Mini-batch gradient descent</a:t>
                      </a:r>
                    </a:p>
                    <a:p>
                      <a:pPr marL="228600" marR="0" lvl="0" indent="-228600" algn="l" defTabSz="503238" rtl="0" eaLnBrk="1" fontAlgn="base" latinLnBrk="0" hangingPunct="1">
                        <a:lnSpc>
                          <a:spcPct val="107000"/>
                        </a:lnSpc>
                        <a:spcBef>
                          <a:spcPct val="0"/>
                        </a:spcBef>
                        <a:spcAft>
                          <a:spcPts val="800"/>
                        </a:spcAft>
                        <a:buClrTx/>
                        <a:buSzTx/>
                        <a:buFont typeface="+mj-lt"/>
                        <a:buAutoNum type="arabicPeriod"/>
                        <a:tabLst/>
                      </a:pPr>
                      <a:r>
                        <a:rPr lang="en-US" sz="1400">
                          <a:latin typeface="Times New Roman" panose="02020603050405020304" pitchFamily="18" charset="0"/>
                          <a:cs typeface="Times New Roman" panose="02020603050405020304" pitchFamily="18" charset="0"/>
                        </a:rPr>
                        <a:t>Real-time dataset from Yahoo Finance</a:t>
                      </a:r>
                      <a:endParaRPr kumimoji="0" lang="en-IN" altLang="en-US" sz="14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5" marR="68575" marT="0" marB="0" horzOverflow="overflow"/>
                </a:tc>
                <a:tc>
                  <a:txBody>
                    <a:bodyPr/>
                    <a:lstStyle/>
                    <a:p>
                      <a:pPr marL="0" marR="0" lvl="0" indent="0" algn="l" defTabSz="503238" rtl="0" eaLnBrk="1" fontAlgn="base" latinLnBrk="0" hangingPunct="1">
                        <a:lnSpc>
                          <a:spcPct val="100000"/>
                        </a:lnSpc>
                        <a:spcBef>
                          <a:spcPts val="13"/>
                        </a:spcBef>
                        <a:spcAft>
                          <a:spcPct val="0"/>
                        </a:spcAft>
                        <a:buClrTx/>
                        <a:buSzTx/>
                        <a:buFont typeface="+mj-lt"/>
                        <a:buNone/>
                        <a:tabLst/>
                      </a:pPr>
                      <a:r>
                        <a:rPr lang="en-US" sz="1400">
                          <a:latin typeface="Times New Roman" panose="02020603050405020304" pitchFamily="18" charset="0"/>
                          <a:cs typeface="Times New Roman" panose="02020603050405020304" pitchFamily="18" charset="0"/>
                        </a:rPr>
                        <a:t>Local minima problem and time complexity of stochastic gradient descent were </a:t>
                      </a:r>
                      <a:r>
                        <a:rPr lang="en-US" sz="1400" b="0">
                          <a:latin typeface="Times New Roman" panose="02020603050405020304" pitchFamily="18" charset="0"/>
                          <a:cs typeface="Times New Roman" panose="02020603050405020304" pitchFamily="18" charset="0"/>
                        </a:rPr>
                        <a:t>reduced</a:t>
                      </a:r>
                      <a:r>
                        <a:rPr lang="en-US" sz="1400">
                          <a:latin typeface="Times New Roman" panose="02020603050405020304" pitchFamily="18" charset="0"/>
                          <a:cs typeface="Times New Roman" panose="02020603050405020304" pitchFamily="18" charset="0"/>
                        </a:rPr>
                        <a:t> but still may arise.</a:t>
                      </a:r>
                      <a:endPar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5" marR="68575" marT="0" marB="0" horzOverflow="overflow"/>
                </a:tc>
                <a:extLst>
                  <a:ext uri="{0D108BD9-81ED-4DB2-BD59-A6C34878D82A}">
                    <a16:rowId xmlns:a16="http://schemas.microsoft.com/office/drawing/2014/main" val="10001"/>
                  </a:ext>
                </a:extLst>
              </a:tr>
              <a:tr h="2652333">
                <a:tc>
                  <a:txBody>
                    <a:body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12</a:t>
                      </a:r>
                    </a:p>
                  </a:txBody>
                  <a:tcPr marL="68571" marR="68571" marT="0" marB="0" horzOverflow="overflow"/>
                </a:tc>
                <a:tc>
                  <a:txBody>
                    <a:bodyPr/>
                    <a:lstStyle/>
                    <a:p>
                      <a:pPr lvl="0"/>
                      <a:r>
                        <a:rPr lang="en-US" sz="1400">
                          <a:latin typeface="Times New Roman" panose="02020603050405020304" pitchFamily="18" charset="0"/>
                          <a:cs typeface="Times New Roman" panose="02020603050405020304" pitchFamily="18" charset="0"/>
                        </a:rPr>
                        <a:t>Deep Learning Approach for Short-Term Stock Trends Prediction Based on Two-Stream Gated Recurrent Unit Network</a:t>
                      </a:r>
                      <a:endParaRPr lang="en-AU" sz="1400">
                        <a:latin typeface="Times New Roman" panose="02020603050405020304" pitchFamily="18" charset="0"/>
                        <a:cs typeface="Times New Roman" panose="02020603050405020304" pitchFamily="18" charset="0"/>
                      </a:endParaRPr>
                    </a:p>
                  </a:txBody>
                  <a:tcPr marL="91426" marR="91426" marT="45716" marB="45716"/>
                </a:tc>
                <a:tc>
                  <a:txBody>
                    <a:bodyPr/>
                    <a:lstStyle/>
                    <a:p>
                      <a:pPr marL="0" marR="0" lvl="0" indent="0" algn="l" defTabSz="503238" rtl="0" eaLnBrk="1" fontAlgn="base" latinLnBrk="0" hangingPunct="1">
                        <a:lnSpc>
                          <a:spcPct val="100000"/>
                        </a:lnSpc>
                        <a:spcBef>
                          <a:spcPts val="13"/>
                        </a:spcBef>
                        <a:spcAft>
                          <a:spcPct val="0"/>
                        </a:spcAft>
                        <a:buClrTx/>
                        <a:buSzTx/>
                        <a:buFontTx/>
                        <a:buNone/>
                        <a:tabLst/>
                      </a:pPr>
                      <a:r>
                        <a:rPr lang="en-AU" sz="1400">
                          <a:latin typeface="Times New Roman" panose="02020603050405020304" pitchFamily="18" charset="0"/>
                          <a:cs typeface="Times New Roman" panose="02020603050405020304" pitchFamily="18" charset="0"/>
                        </a:rPr>
                        <a:t>Dang Lien Minh, </a:t>
                      </a:r>
                      <a:r>
                        <a:rPr lang="en-AU" sz="1400" err="1">
                          <a:latin typeface="Times New Roman" panose="02020603050405020304" pitchFamily="18" charset="0"/>
                          <a:cs typeface="Times New Roman" panose="02020603050405020304" pitchFamily="18" charset="0"/>
                        </a:rPr>
                        <a:t>Abolghasem</a:t>
                      </a:r>
                      <a:r>
                        <a:rPr lang="en-AU" sz="1400">
                          <a:latin typeface="Times New Roman" panose="02020603050405020304" pitchFamily="18" charset="0"/>
                          <a:cs typeface="Times New Roman" panose="02020603050405020304" pitchFamily="18" charset="0"/>
                        </a:rPr>
                        <a:t> Sadeghi-</a:t>
                      </a:r>
                      <a:r>
                        <a:rPr lang="en-AU" sz="1400" err="1">
                          <a:latin typeface="Times New Roman" panose="02020603050405020304" pitchFamily="18" charset="0"/>
                          <a:cs typeface="Times New Roman" panose="02020603050405020304" pitchFamily="18" charset="0"/>
                        </a:rPr>
                        <a:t>Niaraki</a:t>
                      </a:r>
                      <a:r>
                        <a:rPr lang="en-AU" sz="1400">
                          <a:latin typeface="Times New Roman" panose="02020603050405020304" pitchFamily="18" charset="0"/>
                          <a:cs typeface="Times New Roman" panose="02020603050405020304" pitchFamily="18" charset="0"/>
                        </a:rPr>
                        <a:t>, Huynh Duc Huy, </a:t>
                      </a:r>
                      <a:r>
                        <a:rPr lang="en-AU" sz="1400" err="1">
                          <a:latin typeface="Times New Roman" panose="02020603050405020304" pitchFamily="18" charset="0"/>
                          <a:cs typeface="Times New Roman" panose="02020603050405020304" pitchFamily="18" charset="0"/>
                        </a:rPr>
                        <a:t>Kyungbok</a:t>
                      </a:r>
                      <a:r>
                        <a:rPr lang="en-AU" sz="1400">
                          <a:latin typeface="Times New Roman" panose="02020603050405020304" pitchFamily="18" charset="0"/>
                          <a:cs typeface="Times New Roman" panose="02020603050405020304" pitchFamily="18" charset="0"/>
                        </a:rPr>
                        <a:t> Min, </a:t>
                      </a:r>
                      <a:r>
                        <a:rPr lang="en-AU" sz="1400" err="1">
                          <a:latin typeface="Times New Roman" panose="02020603050405020304" pitchFamily="18" charset="0"/>
                          <a:cs typeface="Times New Roman" panose="02020603050405020304" pitchFamily="18" charset="0"/>
                        </a:rPr>
                        <a:t>Hyeonjoon</a:t>
                      </a:r>
                      <a:r>
                        <a:rPr lang="en-AU" sz="1400">
                          <a:latin typeface="Times New Roman" panose="02020603050405020304" pitchFamily="18" charset="0"/>
                          <a:cs typeface="Times New Roman" panose="02020603050405020304" pitchFamily="18" charset="0"/>
                        </a:rPr>
                        <a:t> Moon</a:t>
                      </a:r>
                      <a:endPar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p>
                      <a:pPr marL="0" marR="0" lvl="0" indent="0" algn="l"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2018</a:t>
                      </a:r>
                    </a:p>
                  </a:txBody>
                  <a:tcPr marL="68571" marR="68571" marT="0" marB="0" horzOverflow="overflow"/>
                </a:tc>
                <a:tc>
                  <a:txBody>
                    <a:bodyPr/>
                    <a:lstStyle/>
                    <a:p>
                      <a:r>
                        <a:rPr lang="en-US" sz="1400">
                          <a:latin typeface="Times New Roman" panose="02020603050405020304" pitchFamily="18" charset="0"/>
                          <a:cs typeface="Times New Roman" panose="02020603050405020304" pitchFamily="18" charset="0"/>
                        </a:rPr>
                        <a:t>Two-Stream Gated Recurrent Unit (TGRU) Network, Sentiment analysis with Stock2Vec, financial news data, and technical indicators.</a:t>
                      </a:r>
                    </a:p>
                  </a:txBody>
                  <a:tcPr marL="91426" marR="91426" marT="45716" marB="45716"/>
                </a:tc>
                <a:tc>
                  <a:txBody>
                    <a:bodyPr/>
                    <a:lstStyle/>
                    <a:p>
                      <a:pPr marL="228600" marR="0" lvl="0" indent="-228600" algn="l" defTabSz="503238" rtl="0" eaLnBrk="1" fontAlgn="base" latinLnBrk="0" hangingPunct="1">
                        <a:lnSpc>
                          <a:spcPct val="100000"/>
                        </a:lnSpc>
                        <a:spcBef>
                          <a:spcPts val="13"/>
                        </a:spcBef>
                        <a:spcAft>
                          <a:spcPct val="0"/>
                        </a:spcAft>
                        <a:buClrTx/>
                        <a:buSzTx/>
                        <a:buFont typeface="+mj-lt"/>
                        <a:buAutoNum type="arabicPeriod"/>
                        <a:tabLst/>
                      </a:pPr>
                      <a:r>
                        <a:rPr lang="en-US" sz="1400">
                          <a:latin typeface="Times New Roman" panose="02020603050405020304" pitchFamily="18" charset="0"/>
                          <a:cs typeface="Times New Roman" panose="02020603050405020304" pitchFamily="18" charset="0"/>
                        </a:rPr>
                        <a:t>Complexity of TGRU model, requiring long training times and computational resources</a:t>
                      </a:r>
                    </a:p>
                    <a:p>
                      <a:pPr marL="228600" marR="0" lvl="0" indent="-228600" algn="l" defTabSz="503238" rtl="0" eaLnBrk="1" fontAlgn="base" latinLnBrk="0" hangingPunct="1">
                        <a:lnSpc>
                          <a:spcPct val="100000"/>
                        </a:lnSpc>
                        <a:spcBef>
                          <a:spcPts val="13"/>
                        </a:spcBef>
                        <a:spcAft>
                          <a:spcPct val="0"/>
                        </a:spcAft>
                        <a:buClrTx/>
                        <a:buSzTx/>
                        <a:buFont typeface="+mj-lt"/>
                        <a:buAutoNum type="arabicPeriod"/>
                        <a:tabLst/>
                      </a:pPr>
                      <a:endParaRPr lang="en-US" sz="1400">
                        <a:latin typeface="Times New Roman" panose="02020603050405020304" pitchFamily="18" charset="0"/>
                        <a:cs typeface="Times New Roman" panose="02020603050405020304" pitchFamily="18" charset="0"/>
                      </a:endParaRPr>
                    </a:p>
                    <a:p>
                      <a:pPr marL="228600" marR="0" lvl="0" indent="-228600" algn="l" defTabSz="503238" rtl="0" eaLnBrk="1" fontAlgn="base" latinLnBrk="0" hangingPunct="1">
                        <a:lnSpc>
                          <a:spcPct val="100000"/>
                        </a:lnSpc>
                        <a:spcBef>
                          <a:spcPts val="13"/>
                        </a:spcBef>
                        <a:spcAft>
                          <a:spcPct val="0"/>
                        </a:spcAft>
                        <a:buClrTx/>
                        <a:buSzTx/>
                        <a:buFont typeface="+mj-lt"/>
                        <a:buAutoNum type="arabicPeriod"/>
                        <a:tabLst/>
                      </a:pPr>
                      <a:r>
                        <a:rPr lang="en-US" sz="1400">
                          <a:latin typeface="Times New Roman" panose="02020603050405020304" pitchFamily="18" charset="0"/>
                          <a:cs typeface="Times New Roman" panose="02020603050405020304" pitchFamily="18" charset="0"/>
                        </a:rPr>
                        <a:t>Limited to daily stock movements rather than intra-day trading.</a:t>
                      </a:r>
                      <a:endPar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extLst>
                  <a:ext uri="{0D108BD9-81ED-4DB2-BD59-A6C34878D82A}">
                    <a16:rowId xmlns:a16="http://schemas.microsoft.com/office/drawing/2014/main" val="1000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28CC0-0EC1-C678-ED25-E2B16729E51F}"/>
              </a:ext>
            </a:extLst>
          </p:cNvPr>
          <p:cNvSpPr>
            <a:spLocks noGrp="1"/>
          </p:cNvSpPr>
          <p:nvPr>
            <p:ph type="title"/>
          </p:nvPr>
        </p:nvSpPr>
        <p:spPr>
          <a:xfrm>
            <a:off x="671513" y="671513"/>
            <a:ext cx="6997700" cy="1455737"/>
          </a:xfrm>
        </p:spPr>
        <p:txBody>
          <a:bodyPr/>
          <a:lstStyle/>
          <a:p>
            <a:pPr>
              <a:defRPr/>
            </a:pPr>
            <a:r>
              <a:rPr lang="en-IN" altLang="en-US" sz="3600" b="1">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Literature Review</a:t>
            </a:r>
            <a:endParaRPr lang="en-AU"/>
          </a:p>
        </p:txBody>
      </p:sp>
      <p:graphicFrame>
        <p:nvGraphicFramePr>
          <p:cNvPr id="3" name="Table 2">
            <a:extLst>
              <a:ext uri="{FF2B5EF4-FFF2-40B4-BE49-F238E27FC236}">
                <a16:creationId xmlns:a16="http://schemas.microsoft.com/office/drawing/2014/main" id="{4AD7103B-AC2F-EECE-7C21-6E7B0D985FDD}"/>
              </a:ext>
            </a:extLst>
          </p:cNvPr>
          <p:cNvGraphicFramePr>
            <a:graphicFrameLocks noGrp="1"/>
          </p:cNvGraphicFramePr>
          <p:nvPr>
            <p:extLst>
              <p:ext uri="{D42A27DB-BD31-4B8C-83A1-F6EECF244321}">
                <p14:modId xmlns:p14="http://schemas.microsoft.com/office/powerpoint/2010/main" val="2734271356"/>
              </p:ext>
            </p:extLst>
          </p:nvPr>
        </p:nvGraphicFramePr>
        <p:xfrm>
          <a:off x="519113" y="1474788"/>
          <a:ext cx="8624887" cy="3281362"/>
        </p:xfrm>
        <a:graphic>
          <a:graphicData uri="http://schemas.openxmlformats.org/drawingml/2006/table">
            <a:tbl>
              <a:tblPr>
                <a:tableStyleId>{D7AC3CCA-C797-4891-BE02-D94E43425B78}</a:tableStyleId>
              </a:tblPr>
              <a:tblGrid>
                <a:gridCol w="561193">
                  <a:extLst>
                    <a:ext uri="{9D8B030D-6E8A-4147-A177-3AD203B41FA5}">
                      <a16:colId xmlns:a16="http://schemas.microsoft.com/office/drawing/2014/main" val="20000"/>
                    </a:ext>
                  </a:extLst>
                </a:gridCol>
                <a:gridCol w="1655937">
                  <a:extLst>
                    <a:ext uri="{9D8B030D-6E8A-4147-A177-3AD203B41FA5}">
                      <a16:colId xmlns:a16="http://schemas.microsoft.com/office/drawing/2014/main" val="20001"/>
                    </a:ext>
                  </a:extLst>
                </a:gridCol>
                <a:gridCol w="1911002">
                  <a:extLst>
                    <a:ext uri="{9D8B030D-6E8A-4147-A177-3AD203B41FA5}">
                      <a16:colId xmlns:a16="http://schemas.microsoft.com/office/drawing/2014/main" val="20002"/>
                    </a:ext>
                  </a:extLst>
                </a:gridCol>
                <a:gridCol w="544357">
                  <a:extLst>
                    <a:ext uri="{9D8B030D-6E8A-4147-A177-3AD203B41FA5}">
                      <a16:colId xmlns:a16="http://schemas.microsoft.com/office/drawing/2014/main" val="20003"/>
                    </a:ext>
                  </a:extLst>
                </a:gridCol>
                <a:gridCol w="2135774">
                  <a:extLst>
                    <a:ext uri="{9D8B030D-6E8A-4147-A177-3AD203B41FA5}">
                      <a16:colId xmlns:a16="http://schemas.microsoft.com/office/drawing/2014/main" val="20004"/>
                    </a:ext>
                  </a:extLst>
                </a:gridCol>
                <a:gridCol w="1816624">
                  <a:extLst>
                    <a:ext uri="{9D8B030D-6E8A-4147-A177-3AD203B41FA5}">
                      <a16:colId xmlns:a16="http://schemas.microsoft.com/office/drawing/2014/main" val="20005"/>
                    </a:ext>
                  </a:extLst>
                </a:gridCol>
              </a:tblGrid>
              <a:tr h="617604">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Sr.no</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Title</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Author(s)</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Year</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Methodology</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US" altLang="en-US" sz="1400" u="none" strike="noStrike" cap="none" normalizeH="0" baseline="0">
                          <a:ln>
                            <a:noFill/>
                          </a:ln>
                          <a:effectLst/>
                          <a:latin typeface="Times New Roman" panose="02020603050405020304" pitchFamily="18" charset="0"/>
                          <a:cs typeface="Times New Roman" panose="02020603050405020304" pitchFamily="18" charset="0"/>
                        </a:rPr>
                        <a:t>Drawback</a:t>
                      </a:r>
                      <a:endParaRPr kumimoji="0" lang="en-IN"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extLst>
                  <a:ext uri="{0D108BD9-81ED-4DB2-BD59-A6C34878D82A}">
                    <a16:rowId xmlns:a16="http://schemas.microsoft.com/office/drawing/2014/main" val="10000"/>
                  </a:ext>
                </a:extLst>
              </a:tr>
              <a:tr h="2663758">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ctr"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13</a:t>
                      </a:r>
                    </a:p>
                  </a:txBody>
                  <a:tcPr marL="68571" marR="68571" marT="0" marB="0" horzOverflow="overflow"/>
                </a:tc>
                <a:tc>
                  <a:txBody>
                    <a:bodyPr/>
                    <a:lstStyle/>
                    <a:p>
                      <a:pPr lvl="0" algn="l"/>
                      <a:r>
                        <a:rPr lang="en-US" sz="1400">
                          <a:latin typeface="Times New Roman" panose="02020603050405020304" pitchFamily="18" charset="0"/>
                          <a:cs typeface="Times New Roman" panose="02020603050405020304" pitchFamily="18" charset="0"/>
                        </a:rPr>
                        <a:t>Forecasting Stock Prices from the Limit Order Book using Convolutional Neural Networks</a:t>
                      </a:r>
                    </a:p>
                  </a:txBody>
                  <a:tcPr marL="91426" marR="91426" marT="45731" marB="45731"/>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0000"/>
                        </a:lnSpc>
                        <a:spcBef>
                          <a:spcPts val="13"/>
                        </a:spcBef>
                        <a:spcAft>
                          <a:spcPct val="0"/>
                        </a:spcAft>
                        <a:buClrTx/>
                        <a:buSzTx/>
                        <a:buFontTx/>
                        <a:buNone/>
                        <a:tabLst/>
                      </a:pPr>
                      <a:r>
                        <a:rPr lang="en-AU" sz="1400">
                          <a:latin typeface="Times New Roman" panose="02020603050405020304" pitchFamily="18" charset="0"/>
                          <a:cs typeface="Times New Roman" panose="02020603050405020304" pitchFamily="18" charset="0"/>
                        </a:rPr>
                        <a:t>Avraam </a:t>
                      </a:r>
                      <a:r>
                        <a:rPr lang="en-AU" sz="1400" err="1">
                          <a:latin typeface="Times New Roman" panose="02020603050405020304" pitchFamily="18" charset="0"/>
                          <a:cs typeface="Times New Roman" panose="02020603050405020304" pitchFamily="18" charset="0"/>
                        </a:rPr>
                        <a:t>Tsantekidis</a:t>
                      </a:r>
                      <a:r>
                        <a:rPr lang="en-AU" sz="1400">
                          <a:latin typeface="Times New Roman" panose="02020603050405020304" pitchFamily="18" charset="0"/>
                          <a:cs typeface="Times New Roman" panose="02020603050405020304" pitchFamily="18" charset="0"/>
                        </a:rPr>
                        <a:t>, Nikolaos </a:t>
                      </a:r>
                      <a:r>
                        <a:rPr lang="en-AU" sz="1400" err="1">
                          <a:latin typeface="Times New Roman" panose="02020603050405020304" pitchFamily="18" charset="0"/>
                          <a:cs typeface="Times New Roman" panose="02020603050405020304" pitchFamily="18" charset="0"/>
                        </a:rPr>
                        <a:t>Passalis</a:t>
                      </a:r>
                      <a:r>
                        <a:rPr lang="en-AU" sz="1400">
                          <a:latin typeface="Times New Roman" panose="02020603050405020304" pitchFamily="18" charset="0"/>
                          <a:cs typeface="Times New Roman" panose="02020603050405020304" pitchFamily="18" charset="0"/>
                        </a:rPr>
                        <a:t>, Anastasios </a:t>
                      </a:r>
                      <a:r>
                        <a:rPr lang="en-AU" sz="1400" err="1">
                          <a:latin typeface="Times New Roman" panose="02020603050405020304" pitchFamily="18" charset="0"/>
                          <a:cs typeface="Times New Roman" panose="02020603050405020304" pitchFamily="18" charset="0"/>
                        </a:rPr>
                        <a:t>Tefas</a:t>
                      </a:r>
                      <a:r>
                        <a:rPr lang="en-AU" sz="1400">
                          <a:latin typeface="Times New Roman" panose="02020603050405020304" pitchFamily="18" charset="0"/>
                          <a:cs typeface="Times New Roman" panose="02020603050405020304" pitchFamily="18" charset="0"/>
                        </a:rPr>
                        <a:t>, Juho </a:t>
                      </a:r>
                      <a:r>
                        <a:rPr lang="en-AU" sz="1400" err="1">
                          <a:latin typeface="Times New Roman" panose="02020603050405020304" pitchFamily="18" charset="0"/>
                          <a:cs typeface="Times New Roman" panose="02020603050405020304" pitchFamily="18" charset="0"/>
                        </a:rPr>
                        <a:t>Kanniainen</a:t>
                      </a:r>
                      <a:r>
                        <a:rPr lang="en-AU" sz="1400">
                          <a:latin typeface="Times New Roman" panose="02020603050405020304" pitchFamily="18" charset="0"/>
                          <a:cs typeface="Times New Roman" panose="02020603050405020304" pitchFamily="18" charset="0"/>
                        </a:rPr>
                        <a:t>, </a:t>
                      </a:r>
                      <a:r>
                        <a:rPr lang="en-AU" sz="1400" err="1">
                          <a:latin typeface="Times New Roman" panose="02020603050405020304" pitchFamily="18" charset="0"/>
                          <a:cs typeface="Times New Roman" panose="02020603050405020304" pitchFamily="18" charset="0"/>
                        </a:rPr>
                        <a:t>Moncef</a:t>
                      </a:r>
                      <a:r>
                        <a:rPr lang="en-AU" sz="1400">
                          <a:latin typeface="Times New Roman" panose="02020603050405020304" pitchFamily="18" charset="0"/>
                          <a:cs typeface="Times New Roman" panose="02020603050405020304" pitchFamily="18" charset="0"/>
                        </a:rPr>
                        <a:t> </a:t>
                      </a:r>
                      <a:r>
                        <a:rPr lang="en-AU" sz="1400" err="1">
                          <a:latin typeface="Times New Roman" panose="02020603050405020304" pitchFamily="18" charset="0"/>
                          <a:cs typeface="Times New Roman" panose="02020603050405020304" pitchFamily="18" charset="0"/>
                        </a:rPr>
                        <a:t>Gabbouj</a:t>
                      </a:r>
                      <a:r>
                        <a:rPr lang="en-AU" sz="1400">
                          <a:latin typeface="Times New Roman" panose="02020603050405020304" pitchFamily="18" charset="0"/>
                          <a:cs typeface="Times New Roman" panose="02020603050405020304" pitchFamily="18" charset="0"/>
                        </a:rPr>
                        <a:t>, Alexandros </a:t>
                      </a:r>
                      <a:r>
                        <a:rPr lang="en-AU" sz="1400" err="1">
                          <a:latin typeface="Times New Roman" panose="02020603050405020304" pitchFamily="18" charset="0"/>
                          <a:cs typeface="Times New Roman" panose="02020603050405020304" pitchFamily="18" charset="0"/>
                        </a:rPr>
                        <a:t>Iosifidis</a:t>
                      </a:r>
                      <a:endPar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0000"/>
                        </a:lnSpc>
                        <a:spcBef>
                          <a:spcPts val="13"/>
                        </a:spcBef>
                        <a:spcAft>
                          <a:spcPct val="0"/>
                        </a:spcAft>
                        <a:buClrTx/>
                        <a:buSzTx/>
                        <a:buFontTx/>
                        <a:buNone/>
                        <a:tabLst/>
                      </a:pPr>
                      <a:r>
                        <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a:t>
                      </a:r>
                      <a:r>
                        <a:rPr kumimoji="0" lang="en-AU"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017</a:t>
                      </a:r>
                      <a:endPar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0" marR="0" lvl="0" indent="0" algn="l" defTabSz="503238" rtl="0" eaLnBrk="1" fontAlgn="base" latinLnBrk="0" hangingPunct="1">
                        <a:lnSpc>
                          <a:spcPct val="107000"/>
                        </a:lnSpc>
                        <a:spcBef>
                          <a:spcPct val="0"/>
                        </a:spcBef>
                        <a:spcAft>
                          <a:spcPts val="800"/>
                        </a:spcAft>
                        <a:buClrTx/>
                        <a:buSzTx/>
                        <a:buFont typeface="Arial" panose="020B0604020202020204" pitchFamily="34" charset="0"/>
                        <a:buNone/>
                        <a:tabLst/>
                      </a:pPr>
                      <a:r>
                        <a:rPr lang="en-US" sz="1400">
                          <a:latin typeface="Times New Roman" panose="02020603050405020304" pitchFamily="18" charset="0"/>
                          <a:cs typeface="Times New Roman" panose="02020603050405020304" pitchFamily="18" charset="0"/>
                        </a:rPr>
                        <a:t>CNNs (Convolutional Neural Networks) and Intelligent normalization for stock prices.</a:t>
                      </a:r>
                      <a:br>
                        <a:rPr lang="en-US" sz="1400">
                          <a:latin typeface="Times New Roman" panose="02020603050405020304" pitchFamily="18" charset="0"/>
                          <a:cs typeface="Times New Roman" panose="02020603050405020304" pitchFamily="18" charset="0"/>
                        </a:rPr>
                      </a:br>
                      <a:endParaRPr kumimoji="0" lang="en-IN" altLang="en-US" sz="14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1" marR="68571" marT="0" marB="0" horzOverflow="overflow"/>
                </a:tc>
                <a:tc>
                  <a:txBody>
                    <a:bodyPr/>
                    <a:lstStyle>
                      <a:lvl1pPr defTabSz="503238">
                        <a:spcBef>
                          <a:spcPts val="1100"/>
                        </a:spcBef>
                        <a:buClr>
                          <a:schemeClr val="accent1"/>
                        </a:buClr>
                        <a:buSzPct val="80000"/>
                        <a:buFont typeface="Wingdings 3" panose="05040102010807070707" pitchFamily="18" charset="2"/>
                        <a:defRPr sz="1700">
                          <a:solidFill>
                            <a:srgbClr val="404040"/>
                          </a:solidFill>
                          <a:latin typeface="Trebuchet MS" panose="020B0603020202020204" pitchFamily="34" charset="0"/>
                        </a:defRPr>
                      </a:lvl1pPr>
                      <a:lvl2pPr marL="742950" indent="-285750" defTabSz="503238">
                        <a:spcBef>
                          <a:spcPts val="1100"/>
                        </a:spcBef>
                        <a:buClr>
                          <a:schemeClr val="accent1"/>
                        </a:buClr>
                        <a:buSzPct val="80000"/>
                        <a:buFont typeface="Wingdings 3" panose="05040102010807070707" pitchFamily="18" charset="2"/>
                        <a:defRPr sz="1500">
                          <a:solidFill>
                            <a:srgbClr val="404040"/>
                          </a:solidFill>
                          <a:latin typeface="Trebuchet MS" panose="020B0603020202020204" pitchFamily="34" charset="0"/>
                        </a:defRPr>
                      </a:lvl2pPr>
                      <a:lvl3pPr marL="1143000" indent="-228600" defTabSz="503238">
                        <a:spcBef>
                          <a:spcPts val="1100"/>
                        </a:spcBef>
                        <a:buClr>
                          <a:schemeClr val="accent1"/>
                        </a:buClr>
                        <a:buSzPct val="80000"/>
                        <a:buFont typeface="Wingdings 3" panose="05040102010807070707" pitchFamily="18" charset="2"/>
                        <a:defRPr sz="1300">
                          <a:solidFill>
                            <a:srgbClr val="404040"/>
                          </a:solidFill>
                          <a:latin typeface="Trebuchet MS" panose="020B0603020202020204" pitchFamily="34" charset="0"/>
                        </a:defRPr>
                      </a:lvl3pPr>
                      <a:lvl4pPr marL="16002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4pPr>
                      <a:lvl5pPr marL="2057400" indent="-228600" defTabSz="503238">
                        <a:spcBef>
                          <a:spcPts val="1100"/>
                        </a:spcBef>
                        <a:buClr>
                          <a:schemeClr val="accent1"/>
                        </a:buClr>
                        <a:buSzPct val="80000"/>
                        <a:buFont typeface="Wingdings 3" panose="05040102010807070707" pitchFamily="18" charset="2"/>
                        <a:defRPr sz="1100">
                          <a:solidFill>
                            <a:srgbClr val="404040"/>
                          </a:solidFill>
                          <a:latin typeface="Trebuchet MS" panose="020B0603020202020204" pitchFamily="34" charset="0"/>
                        </a:defRPr>
                      </a:lvl5pPr>
                      <a:lvl6pPr marL="25146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6pPr>
                      <a:lvl7pPr marL="29718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7pPr>
                      <a:lvl8pPr marL="34290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8pPr>
                      <a:lvl9pPr marL="3886200" indent="-228600" defTabSz="503238" eaLnBrk="0" fontAlgn="base" hangingPunct="0">
                        <a:spcBef>
                          <a:spcPts val="1100"/>
                        </a:spcBef>
                        <a:spcAft>
                          <a:spcPct val="0"/>
                        </a:spcAft>
                        <a:buClr>
                          <a:schemeClr val="accent1"/>
                        </a:buClr>
                        <a:buSzPct val="80000"/>
                        <a:buFont typeface="Wingdings 3" panose="05040102010807070707" pitchFamily="18" charset="2"/>
                        <a:defRPr sz="1100">
                          <a:solidFill>
                            <a:srgbClr val="404040"/>
                          </a:solidFill>
                          <a:latin typeface="Trebuchet MS" panose="020B0603020202020204" pitchFamily="34" charset="0"/>
                        </a:defRPr>
                      </a:lvl9pPr>
                    </a:lstStyle>
                    <a:p>
                      <a:pPr marL="228600" marR="0" lvl="0" indent="-228600" algn="l" defTabSz="503238" rtl="0" eaLnBrk="1" fontAlgn="base" latinLnBrk="0" hangingPunct="1">
                        <a:lnSpc>
                          <a:spcPct val="100000"/>
                        </a:lnSpc>
                        <a:spcBef>
                          <a:spcPts val="13"/>
                        </a:spcBef>
                        <a:spcAft>
                          <a:spcPct val="0"/>
                        </a:spcAft>
                        <a:buClrTx/>
                        <a:buSzTx/>
                        <a:buFont typeface="+mj-lt"/>
                        <a:buAutoNum type="arabicPeriod"/>
                        <a:tabLst/>
                      </a:pPr>
                      <a:r>
                        <a:rPr lang="en-US" sz="1400">
                          <a:latin typeface="Times New Roman" panose="02020603050405020304" pitchFamily="18" charset="0"/>
                          <a:cs typeface="Times New Roman" panose="02020603050405020304" pitchFamily="18" charset="0"/>
                        </a:rPr>
                        <a:t>Limited dataset (10 days, 5 stocks)</a:t>
                      </a:r>
                    </a:p>
                    <a:p>
                      <a:pPr marL="228600" marR="0" lvl="0" indent="-228600" algn="l" defTabSz="503238" rtl="0" eaLnBrk="1" fontAlgn="base" latinLnBrk="0" hangingPunct="1">
                        <a:lnSpc>
                          <a:spcPct val="100000"/>
                        </a:lnSpc>
                        <a:spcBef>
                          <a:spcPts val="13"/>
                        </a:spcBef>
                        <a:spcAft>
                          <a:spcPct val="0"/>
                        </a:spcAft>
                        <a:buClrTx/>
                        <a:buSzTx/>
                        <a:buFont typeface="+mj-lt"/>
                        <a:buAutoNum type="arabicPeriod"/>
                        <a:tabLst/>
                      </a:pPr>
                      <a:endParaRPr lang="en-US" sz="1400">
                        <a:latin typeface="Times New Roman" panose="02020603050405020304" pitchFamily="18" charset="0"/>
                        <a:cs typeface="Times New Roman" panose="02020603050405020304" pitchFamily="18" charset="0"/>
                      </a:endParaRPr>
                    </a:p>
                    <a:p>
                      <a:pPr marL="228600" marR="0" lvl="0" indent="-228600" algn="l" defTabSz="503238" rtl="0" eaLnBrk="1" fontAlgn="base" latinLnBrk="0" hangingPunct="1">
                        <a:lnSpc>
                          <a:spcPct val="100000"/>
                        </a:lnSpc>
                        <a:spcBef>
                          <a:spcPts val="13"/>
                        </a:spcBef>
                        <a:spcAft>
                          <a:spcPct val="0"/>
                        </a:spcAft>
                        <a:buClrTx/>
                        <a:buSzTx/>
                        <a:buFont typeface="+mj-lt"/>
                        <a:buAutoNum type="arabicPeriod"/>
                        <a:tabLst/>
                      </a:pPr>
                      <a:r>
                        <a:rPr lang="en-US" sz="1400">
                          <a:latin typeface="Times New Roman" panose="02020603050405020304" pitchFamily="18" charset="0"/>
                          <a:cs typeface="Times New Roman" panose="02020603050405020304" pitchFamily="18" charset="0"/>
                        </a:rPr>
                        <a:t> High noise in short-term changes; more data required for better generalization.</a:t>
                      </a:r>
                      <a:endPar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1" marR="68571" marT="0" marB="0" horzOverflow="overflow"/>
                </a:tc>
                <a:extLst>
                  <a:ext uri="{0D108BD9-81ED-4DB2-BD59-A6C34878D82A}">
                    <a16:rowId xmlns:a16="http://schemas.microsoft.com/office/drawing/2014/main" val="1000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C2A9FFC0-E268-7D87-ABF6-99C40AA18D08}"/>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Research Gap(</a:t>
            </a: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mj-cs"/>
              </a:rPr>
              <a:t>Limitations of existing systems) </a:t>
            </a:r>
          </a:p>
        </p:txBody>
      </p:sp>
      <p:sp>
        <p:nvSpPr>
          <p:cNvPr id="26627" name="Rectangle 2">
            <a:extLst>
              <a:ext uri="{FF2B5EF4-FFF2-40B4-BE49-F238E27FC236}">
                <a16:creationId xmlns:a16="http://schemas.microsoft.com/office/drawing/2014/main" id="{DEFC41A1-30DC-9DFB-0AB4-D7E45852ABD3}"/>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26628" name="TextBox 4">
            <a:extLst>
              <a:ext uri="{FF2B5EF4-FFF2-40B4-BE49-F238E27FC236}">
                <a16:creationId xmlns:a16="http://schemas.microsoft.com/office/drawing/2014/main" id="{28D2DFF6-8D3C-9AAC-C559-05A46324E9A7}"/>
              </a:ext>
            </a:extLst>
          </p:cNvPr>
          <p:cNvSpPr txBox="1">
            <a:spLocks noChangeArrowheads="1"/>
          </p:cNvSpPr>
          <p:nvPr/>
        </p:nvSpPr>
        <p:spPr bwMode="auto">
          <a:xfrm>
            <a:off x="360363" y="1768475"/>
            <a:ext cx="8783637"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marL="342900" indent="-34290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pPr marL="0" indent="0" algn="just" defTabSz="914400"/>
            <a:r>
              <a:rPr lang="en-US" sz="2000" b="1" dirty="0">
                <a:solidFill>
                  <a:srgbClr val="000000"/>
                </a:solidFill>
                <a:latin typeface="Times New Roman"/>
                <a:ea typeface="Source Sans Pro"/>
                <a:cs typeface="Times New Roman"/>
              </a:rPr>
              <a:t>1.Traditional Models</a:t>
            </a:r>
            <a:r>
              <a:rPr lang="en-US" sz="2000" dirty="0">
                <a:solidFill>
                  <a:srgbClr val="000000"/>
                </a:solidFill>
                <a:latin typeface="Times New Roman"/>
                <a:ea typeface="Source Sans Pro"/>
                <a:cs typeface="Times New Roman"/>
              </a:rPr>
              <a:t>:</a:t>
            </a:r>
          </a:p>
          <a:p>
            <a:pPr marL="1028700" lvl="1" algn="just" defTabSz="914400">
              <a:buFont typeface="Arial,Sans-Serif"/>
              <a:buChar char="•"/>
            </a:pPr>
            <a:r>
              <a:rPr lang="en-US" sz="2000" dirty="0">
                <a:solidFill>
                  <a:srgbClr val="000000"/>
                </a:solidFill>
                <a:latin typeface="Times New Roman"/>
                <a:ea typeface="Source Sans Pro"/>
                <a:cs typeface="Times New Roman"/>
              </a:rPr>
              <a:t>ARIMA: Time-series forecasting, lacks non-linear pattern recognition.</a:t>
            </a:r>
          </a:p>
          <a:p>
            <a:pPr marL="1028700" lvl="1" algn="just" defTabSz="914400">
              <a:buFont typeface="Arial,Sans-Serif"/>
              <a:buChar char="•"/>
            </a:pPr>
            <a:r>
              <a:rPr lang="en-US" sz="2000" dirty="0">
                <a:solidFill>
                  <a:srgbClr val="000000"/>
                </a:solidFill>
                <a:latin typeface="Times New Roman"/>
                <a:ea typeface="Source Sans Pro"/>
                <a:cs typeface="Times New Roman"/>
              </a:rPr>
              <a:t>GARCH: Focuses on volatility, not suitable for predicting price movements.</a:t>
            </a:r>
          </a:p>
          <a:p>
            <a:pPr marL="0" indent="0" algn="just" defTabSz="914400"/>
            <a:r>
              <a:rPr lang="en-US" sz="2000" b="1" dirty="0">
                <a:solidFill>
                  <a:srgbClr val="000000"/>
                </a:solidFill>
                <a:latin typeface="Times New Roman"/>
                <a:ea typeface="Source Sans Pro"/>
                <a:cs typeface="Times New Roman"/>
              </a:rPr>
              <a:t>2.Machine Learning Models</a:t>
            </a:r>
            <a:r>
              <a:rPr lang="en-US" sz="2000" dirty="0">
                <a:solidFill>
                  <a:srgbClr val="000000"/>
                </a:solidFill>
                <a:latin typeface="Times New Roman"/>
                <a:ea typeface="Source Sans Pro"/>
                <a:cs typeface="Times New Roman"/>
              </a:rPr>
              <a:t>:</a:t>
            </a:r>
          </a:p>
          <a:p>
            <a:pPr marL="1028700" lvl="1" algn="just" defTabSz="914400">
              <a:buFont typeface="Arial,Sans-Serif"/>
              <a:buChar char="•"/>
            </a:pPr>
            <a:r>
              <a:rPr lang="en-US" sz="2000" dirty="0">
                <a:solidFill>
                  <a:srgbClr val="000000"/>
                </a:solidFill>
                <a:latin typeface="Times New Roman"/>
                <a:ea typeface="Source Sans Pro"/>
                <a:cs typeface="Times New Roman"/>
              </a:rPr>
              <a:t>SVM: Effective for classification but struggles with scalability.</a:t>
            </a:r>
          </a:p>
          <a:p>
            <a:pPr marL="1028700" lvl="1" algn="just" defTabSz="914400">
              <a:buFont typeface="Arial,Sans-Serif"/>
              <a:buChar char="•"/>
            </a:pPr>
            <a:r>
              <a:rPr lang="en-US" sz="2000" dirty="0">
                <a:solidFill>
                  <a:srgbClr val="000000"/>
                </a:solidFill>
                <a:latin typeface="Times New Roman"/>
                <a:ea typeface="Source Sans Pro"/>
                <a:cs typeface="Times New Roman"/>
              </a:rPr>
              <a:t>Random Forest, </a:t>
            </a:r>
            <a:r>
              <a:rPr lang="en-US" sz="2000" dirty="0" err="1">
                <a:solidFill>
                  <a:srgbClr val="000000"/>
                </a:solidFill>
                <a:latin typeface="Times New Roman"/>
                <a:ea typeface="Source Sans Pro"/>
                <a:cs typeface="Times New Roman"/>
              </a:rPr>
              <a:t>XGBoost</a:t>
            </a:r>
            <a:r>
              <a:rPr lang="en-US" sz="2000" dirty="0">
                <a:solidFill>
                  <a:srgbClr val="000000"/>
                </a:solidFill>
                <a:latin typeface="Times New Roman"/>
                <a:ea typeface="Source Sans Pro"/>
                <a:cs typeface="Times New Roman"/>
              </a:rPr>
              <a:t>: Accurate but limited in handling sequential data.</a:t>
            </a:r>
          </a:p>
          <a:p>
            <a:pPr marL="0" indent="0" algn="just" defTabSz="914400"/>
            <a:r>
              <a:rPr lang="en-US" sz="2000" b="1" dirty="0">
                <a:solidFill>
                  <a:srgbClr val="000000"/>
                </a:solidFill>
                <a:latin typeface="Times New Roman"/>
                <a:ea typeface="Source Sans Pro"/>
                <a:cs typeface="Times New Roman"/>
              </a:rPr>
              <a:t>3.Deep Learning Models</a:t>
            </a:r>
            <a:r>
              <a:rPr lang="en-US" sz="2000" dirty="0">
                <a:solidFill>
                  <a:srgbClr val="000000"/>
                </a:solidFill>
                <a:latin typeface="Times New Roman"/>
                <a:ea typeface="Source Sans Pro"/>
                <a:cs typeface="Times New Roman"/>
              </a:rPr>
              <a:t>:</a:t>
            </a:r>
          </a:p>
          <a:p>
            <a:pPr marL="1028700" lvl="1" algn="just" defTabSz="914400">
              <a:buFont typeface="Arial,Sans-Serif"/>
              <a:buChar char="•"/>
            </a:pPr>
            <a:r>
              <a:rPr lang="en-US" sz="2000" dirty="0">
                <a:solidFill>
                  <a:srgbClr val="000000"/>
                </a:solidFill>
                <a:latin typeface="Times New Roman"/>
                <a:ea typeface="Source Sans Pro"/>
                <a:cs typeface="Times New Roman"/>
              </a:rPr>
              <a:t>LSTM: Handles sequential data, prone to overfitting.</a:t>
            </a:r>
          </a:p>
          <a:p>
            <a:pPr marL="1028700" lvl="1" algn="just" defTabSz="914400">
              <a:buFont typeface="Arial,Sans-Serif"/>
              <a:buChar char="•"/>
            </a:pPr>
            <a:r>
              <a:rPr lang="en-US" sz="2000" dirty="0">
                <a:solidFill>
                  <a:srgbClr val="000000"/>
                </a:solidFill>
                <a:latin typeface="Times New Roman"/>
                <a:ea typeface="Source Sans Pro"/>
                <a:cs typeface="Times New Roman"/>
              </a:rPr>
              <a:t>CNN: Extracts features but cannot capture temporal dependencies effectively.</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C2A9FFC0-E268-7D87-ABF6-99C40AA18D08}"/>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Research Gap(</a:t>
            </a: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mj-cs"/>
              </a:rPr>
              <a:t>Limitations of existing systems) </a:t>
            </a:r>
          </a:p>
        </p:txBody>
      </p:sp>
      <p:sp>
        <p:nvSpPr>
          <p:cNvPr id="26627" name="Rectangle 2">
            <a:extLst>
              <a:ext uri="{FF2B5EF4-FFF2-40B4-BE49-F238E27FC236}">
                <a16:creationId xmlns:a16="http://schemas.microsoft.com/office/drawing/2014/main" id="{DEFC41A1-30DC-9DFB-0AB4-D7E45852ABD3}"/>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26628" name="TextBox 4">
            <a:extLst>
              <a:ext uri="{FF2B5EF4-FFF2-40B4-BE49-F238E27FC236}">
                <a16:creationId xmlns:a16="http://schemas.microsoft.com/office/drawing/2014/main" id="{28D2DFF6-8D3C-9AAC-C559-05A46324E9A7}"/>
              </a:ext>
            </a:extLst>
          </p:cNvPr>
          <p:cNvSpPr txBox="1">
            <a:spLocks noChangeArrowheads="1"/>
          </p:cNvSpPr>
          <p:nvPr/>
        </p:nvSpPr>
        <p:spPr bwMode="auto">
          <a:xfrm>
            <a:off x="360363" y="1768475"/>
            <a:ext cx="8783637"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marL="342900" indent="-34290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pPr algn="just" defTabSz="914400"/>
            <a:r>
              <a:rPr lang="en-US" sz="2000" b="1">
                <a:solidFill>
                  <a:srgbClr val="000000"/>
                </a:solidFill>
                <a:latin typeface="Times New Roman"/>
                <a:ea typeface="Source Sans Pro"/>
                <a:cs typeface="Times New Roman"/>
              </a:rPr>
              <a:t>Challenges Still Faced</a:t>
            </a:r>
            <a:r>
              <a:rPr lang="en-US" sz="2000">
                <a:solidFill>
                  <a:srgbClr val="000000"/>
                </a:solidFill>
                <a:latin typeface="Times New Roman"/>
                <a:ea typeface="Source Sans Pro"/>
                <a:cs typeface="Times New Roman"/>
              </a:rPr>
              <a:t>:</a:t>
            </a:r>
          </a:p>
          <a:p>
            <a:pPr marL="285750" indent="-285750" algn="just" defTabSz="914400">
              <a:buFont typeface="Arial,Sans-Serif"/>
              <a:buChar char="•"/>
            </a:pPr>
            <a:endParaRPr lang="en-US" sz="2000" b="1">
              <a:solidFill>
                <a:srgbClr val="000000"/>
              </a:solidFill>
              <a:latin typeface="Times New Roman"/>
              <a:ea typeface="Source Sans Pro"/>
              <a:cs typeface="Times New Roman"/>
            </a:endParaRPr>
          </a:p>
          <a:p>
            <a:pPr marL="285750" indent="-285750" algn="just" defTabSz="914400">
              <a:buFont typeface="Arial,Sans-Serif"/>
              <a:buChar char="•"/>
            </a:pPr>
            <a:r>
              <a:rPr lang="en-US" sz="2000" b="1">
                <a:solidFill>
                  <a:srgbClr val="000000"/>
                </a:solidFill>
                <a:latin typeface="Times New Roman"/>
                <a:ea typeface="Source Sans Pro"/>
                <a:cs typeface="Times New Roman"/>
              </a:rPr>
              <a:t>Real-time Latency</a:t>
            </a:r>
            <a:r>
              <a:rPr lang="en-US" sz="2000">
                <a:solidFill>
                  <a:srgbClr val="000000"/>
                </a:solidFill>
                <a:latin typeface="Times New Roman"/>
                <a:ea typeface="Source Sans Pro"/>
                <a:cs typeface="Times New Roman"/>
              </a:rPr>
              <a:t>: Systems fail to make timely predictions, affecting actionable insights.</a:t>
            </a:r>
            <a:endParaRPr lang="en-US"/>
          </a:p>
          <a:p>
            <a:pPr marL="285750" indent="-285750" algn="just" defTabSz="914400">
              <a:buFont typeface="Arial,Sans-Serif"/>
              <a:buChar char="•"/>
            </a:pPr>
            <a:endParaRPr lang="en-US" sz="2000" b="1">
              <a:solidFill>
                <a:srgbClr val="000000"/>
              </a:solidFill>
              <a:latin typeface="Times New Roman"/>
              <a:ea typeface="Source Sans Pro"/>
              <a:cs typeface="Times New Roman"/>
            </a:endParaRPr>
          </a:p>
          <a:p>
            <a:pPr marL="285750" indent="-285750" algn="just" defTabSz="914400">
              <a:buFont typeface="Arial,Sans-Serif"/>
              <a:buChar char="•"/>
            </a:pPr>
            <a:r>
              <a:rPr lang="en-US" sz="2000" b="1">
                <a:solidFill>
                  <a:srgbClr val="000000"/>
                </a:solidFill>
                <a:latin typeface="Times New Roman"/>
                <a:ea typeface="Source Sans Pro"/>
                <a:cs typeface="Times New Roman"/>
              </a:rPr>
              <a:t>Volatility &amp; Noise</a:t>
            </a:r>
            <a:r>
              <a:rPr lang="en-US" sz="2000">
                <a:solidFill>
                  <a:srgbClr val="000000"/>
                </a:solidFill>
                <a:latin typeface="Times New Roman"/>
                <a:ea typeface="Source Sans Pro"/>
                <a:cs typeface="Times New Roman"/>
              </a:rPr>
              <a:t>: Stock market data is highly volatile and noisy, which current models struggle to handle.</a:t>
            </a:r>
            <a:endParaRPr lang="en-US"/>
          </a:p>
          <a:p>
            <a:pPr marL="285750" indent="-285750" algn="just" defTabSz="914400">
              <a:buFont typeface="Arial,Sans-Serif"/>
              <a:buChar char="•"/>
            </a:pPr>
            <a:endParaRPr lang="en-US" sz="2000" b="1">
              <a:solidFill>
                <a:srgbClr val="000000"/>
              </a:solidFill>
              <a:latin typeface="Times New Roman"/>
              <a:ea typeface="Source Sans Pro"/>
              <a:cs typeface="Times New Roman"/>
            </a:endParaRPr>
          </a:p>
          <a:p>
            <a:pPr marL="285750" indent="-285750" algn="just" defTabSz="914400">
              <a:buFont typeface="Arial,Sans-Serif"/>
              <a:buChar char="•"/>
            </a:pPr>
            <a:r>
              <a:rPr lang="en-US" sz="2000" b="1">
                <a:solidFill>
                  <a:srgbClr val="000000"/>
                </a:solidFill>
                <a:latin typeface="Times New Roman"/>
                <a:ea typeface="Source Sans Pro"/>
                <a:cs typeface="Times New Roman"/>
              </a:rPr>
              <a:t>Generalization</a:t>
            </a:r>
            <a:r>
              <a:rPr lang="en-US" sz="2000">
                <a:solidFill>
                  <a:srgbClr val="000000"/>
                </a:solidFill>
                <a:latin typeface="Times New Roman"/>
                <a:ea typeface="Source Sans Pro"/>
                <a:cs typeface="Times New Roman"/>
              </a:rPr>
              <a:t>: Models often fail to generalize to unseen market conditions.</a:t>
            </a:r>
            <a:endParaRPr lang="en-US"/>
          </a:p>
          <a:p>
            <a:pPr marL="285750" indent="-285750" algn="just" defTabSz="914400">
              <a:buFont typeface="Arial,Sans-Serif"/>
              <a:buChar char="•"/>
            </a:pPr>
            <a:endParaRPr lang="en-US" sz="2000" b="1">
              <a:solidFill>
                <a:srgbClr val="000000"/>
              </a:solidFill>
              <a:latin typeface="Times New Roman"/>
              <a:ea typeface="Source Sans Pro"/>
              <a:cs typeface="Times New Roman"/>
            </a:endParaRPr>
          </a:p>
          <a:p>
            <a:pPr marL="285750" indent="-285750" algn="just" defTabSz="914400">
              <a:buFont typeface="Arial,Sans-Serif"/>
              <a:buChar char="•"/>
            </a:pPr>
            <a:r>
              <a:rPr lang="en-US" sz="2000" b="1">
                <a:solidFill>
                  <a:srgbClr val="000000"/>
                </a:solidFill>
                <a:latin typeface="Times New Roman"/>
                <a:ea typeface="Source Sans Pro"/>
                <a:cs typeface="Times New Roman"/>
              </a:rPr>
              <a:t>Data Integration</a:t>
            </a:r>
            <a:r>
              <a:rPr lang="en-US" sz="2000">
                <a:solidFill>
                  <a:srgbClr val="000000"/>
                </a:solidFill>
                <a:latin typeface="Times New Roman"/>
                <a:ea typeface="Source Sans Pro"/>
                <a:cs typeface="Times New Roman"/>
              </a:rPr>
              <a:t>: Limited ability to combine multiple data sources like sentiment analysis, technical indicators, and market trends.</a:t>
            </a:r>
            <a:endParaRPr lang="en-US"/>
          </a:p>
          <a:p>
            <a:pPr marL="0" indent="0" algn="just" defTabSz="914400"/>
            <a:endParaRPr lang="en-US" sz="2000">
              <a:latin typeface="Times New Roman"/>
              <a:ea typeface="Source Sans Pro"/>
              <a:cs typeface="Times New Roman"/>
            </a:endParaRPr>
          </a:p>
          <a:p>
            <a:pPr marL="0" indent="0" algn="just" defTabSz="914400"/>
            <a:endParaRPr lang="en-US" sz="2000">
              <a:latin typeface="Times New Roman"/>
              <a:ea typeface="Source Sans Pro"/>
              <a:cs typeface="Times New Roman"/>
            </a:endParaRPr>
          </a:p>
        </p:txBody>
      </p:sp>
    </p:spTree>
    <p:extLst>
      <p:ext uri="{BB962C8B-B14F-4D97-AF65-F5344CB8AC3E}">
        <p14:creationId xmlns:p14="http://schemas.microsoft.com/office/powerpoint/2010/main" val="3890507395"/>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C2A9FFC0-E268-7D87-ABF6-99C40AA18D08}"/>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IN" sz="3600" b="1" dirty="0">
                <a:solidFill>
                  <a:srgbClr val="000000"/>
                </a:solidFill>
                <a:effectLst>
                  <a:outerShdw blurRad="38100" dist="38100" dir="2700000" algn="tl">
                    <a:srgbClr val="000000">
                      <a:alpha val="43137"/>
                    </a:srgbClr>
                  </a:outerShdw>
                </a:effectLst>
                <a:latin typeface="Times New Roman"/>
                <a:cs typeface="Times New Roman"/>
              </a:rPr>
              <a:t>Problem Definition </a:t>
            </a:r>
            <a:endParaRPr lang="en-IN" sz="3600" dirty="0">
              <a:solidFill>
                <a:srgbClr val="000000"/>
              </a:solidFill>
              <a:effectLst>
                <a:outerShdw blurRad="38100" dist="38100" dir="2700000" algn="tl">
                  <a:srgbClr val="000000">
                    <a:alpha val="43137"/>
                  </a:srgbClr>
                </a:outerShdw>
              </a:effectLst>
              <a:latin typeface="Times New Roman"/>
              <a:cs typeface="Times New Roman"/>
            </a:endParaRPr>
          </a:p>
          <a:p>
            <a:pPr>
              <a:spcBef>
                <a:spcPts val="0"/>
              </a:spcBef>
              <a:spcAft>
                <a:spcPts val="0"/>
              </a:spcAft>
              <a:defRPr/>
            </a:pPr>
            <a:endPar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a:endParaRPr>
          </a:p>
        </p:txBody>
      </p:sp>
      <p:sp>
        <p:nvSpPr>
          <p:cNvPr id="26627" name="Rectangle 2">
            <a:extLst>
              <a:ext uri="{FF2B5EF4-FFF2-40B4-BE49-F238E27FC236}">
                <a16:creationId xmlns:a16="http://schemas.microsoft.com/office/drawing/2014/main" id="{DEFC41A1-30DC-9DFB-0AB4-D7E45852ABD3}"/>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26628" name="TextBox 4">
            <a:extLst>
              <a:ext uri="{FF2B5EF4-FFF2-40B4-BE49-F238E27FC236}">
                <a16:creationId xmlns:a16="http://schemas.microsoft.com/office/drawing/2014/main" id="{28D2DFF6-8D3C-9AAC-C559-05A46324E9A7}"/>
              </a:ext>
            </a:extLst>
          </p:cNvPr>
          <p:cNvSpPr txBox="1">
            <a:spLocks noChangeArrowheads="1"/>
          </p:cNvSpPr>
          <p:nvPr/>
        </p:nvSpPr>
        <p:spPr bwMode="auto">
          <a:xfrm>
            <a:off x="360363" y="1768475"/>
            <a:ext cx="8783637" cy="527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marL="342900" indent="-34290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pPr marL="0" indent="0" algn="just" defTabSz="914400">
              <a:spcBef>
                <a:spcPts val="1100"/>
              </a:spcBef>
            </a:pPr>
            <a:r>
              <a:rPr lang="en-GB" sz="2000">
                <a:solidFill>
                  <a:srgbClr val="000000"/>
                </a:solidFill>
                <a:latin typeface="Times New Roman"/>
                <a:ea typeface="Source Sans Pro"/>
                <a:cs typeface="Times New Roman"/>
              </a:rPr>
              <a:t>The stock market is highly volatile and difficult to predict in real-time due to fluctuating data, news events, and investor sentiment. Existing models lack the capability to process real-time data efficiently, handle complex dependencies, and incorporate multiple data sources, resulting in inaccurate predictions and delayed insights.</a:t>
            </a:r>
            <a:endParaRPr lang="en-US" sz="2000">
              <a:solidFill>
                <a:srgbClr val="000000"/>
              </a:solidFill>
              <a:latin typeface="Times New Roman"/>
              <a:ea typeface="Source Sans Pro"/>
              <a:cs typeface="Times New Roman"/>
            </a:endParaRPr>
          </a:p>
          <a:p>
            <a:pPr algn="just" defTabSz="914400">
              <a:spcBef>
                <a:spcPts val="1100"/>
              </a:spcBef>
              <a:buFont typeface="Arial,Sans-Serif"/>
              <a:buChar char="•"/>
            </a:pPr>
            <a:r>
              <a:rPr lang="en-GB" sz="2000" b="1">
                <a:solidFill>
                  <a:srgbClr val="000000"/>
                </a:solidFill>
                <a:latin typeface="Times New Roman"/>
                <a:ea typeface="Source Sans Pro"/>
                <a:cs typeface="Times New Roman"/>
              </a:rPr>
              <a:t>Real-time Data Processing</a:t>
            </a:r>
            <a:r>
              <a:rPr lang="en-GB" sz="2000">
                <a:solidFill>
                  <a:srgbClr val="000000"/>
                </a:solidFill>
                <a:latin typeface="Times New Roman"/>
                <a:ea typeface="Source Sans Pro"/>
                <a:cs typeface="Times New Roman"/>
              </a:rPr>
              <a:t>: Need for continuous data processing to make timely predictions.</a:t>
            </a:r>
            <a:endParaRPr lang="en-US" sz="2000">
              <a:solidFill>
                <a:srgbClr val="000000"/>
              </a:solidFill>
              <a:latin typeface="Times New Roman"/>
              <a:ea typeface="Source Sans Pro"/>
              <a:cs typeface="Times New Roman"/>
            </a:endParaRPr>
          </a:p>
          <a:p>
            <a:pPr algn="just" defTabSz="914400">
              <a:spcBef>
                <a:spcPts val="1100"/>
              </a:spcBef>
              <a:buFont typeface="Arial,Sans-Serif"/>
              <a:buChar char="•"/>
            </a:pPr>
            <a:r>
              <a:rPr lang="en-GB" sz="2000" b="1">
                <a:solidFill>
                  <a:srgbClr val="000000"/>
                </a:solidFill>
                <a:latin typeface="Times New Roman"/>
                <a:ea typeface="Source Sans Pro"/>
                <a:cs typeface="Times New Roman"/>
              </a:rPr>
              <a:t>Accuracy</a:t>
            </a:r>
            <a:r>
              <a:rPr lang="en-GB" sz="2000">
                <a:solidFill>
                  <a:srgbClr val="000000"/>
                </a:solidFill>
                <a:latin typeface="Times New Roman"/>
                <a:ea typeface="Source Sans Pro"/>
                <a:cs typeface="Times New Roman"/>
              </a:rPr>
              <a:t>: Existing models struggle to capture complex patterns in noisy and volatile market data.</a:t>
            </a:r>
            <a:endParaRPr lang="en-US" sz="2000">
              <a:solidFill>
                <a:srgbClr val="000000"/>
              </a:solidFill>
              <a:latin typeface="Times New Roman"/>
              <a:ea typeface="Source Sans Pro"/>
              <a:cs typeface="Times New Roman"/>
            </a:endParaRPr>
          </a:p>
          <a:p>
            <a:pPr algn="just" defTabSz="914400">
              <a:spcBef>
                <a:spcPts val="1100"/>
              </a:spcBef>
              <a:buFont typeface="Arial,Sans-Serif"/>
              <a:buChar char="•"/>
            </a:pPr>
            <a:r>
              <a:rPr lang="en-GB" sz="2000" b="1">
                <a:solidFill>
                  <a:srgbClr val="000000"/>
                </a:solidFill>
                <a:latin typeface="Times New Roman"/>
                <a:ea typeface="Source Sans Pro"/>
                <a:cs typeface="Times New Roman"/>
              </a:rPr>
              <a:t>Multiple Data Sources</a:t>
            </a:r>
            <a:r>
              <a:rPr lang="en-GB" sz="2000">
                <a:solidFill>
                  <a:srgbClr val="000000"/>
                </a:solidFill>
                <a:latin typeface="Times New Roman"/>
                <a:ea typeface="Source Sans Pro"/>
                <a:cs typeface="Times New Roman"/>
              </a:rPr>
              <a:t>: Combining stock prices, technical indicators, and sentiment analysis from news and social media.</a:t>
            </a:r>
            <a:endParaRPr lang="en-US" sz="2000">
              <a:solidFill>
                <a:srgbClr val="000000"/>
              </a:solidFill>
              <a:latin typeface="Times New Roman"/>
              <a:ea typeface="Source Sans Pro"/>
              <a:cs typeface="Times New Roman"/>
            </a:endParaRPr>
          </a:p>
          <a:p>
            <a:pPr algn="just" defTabSz="914400">
              <a:spcBef>
                <a:spcPts val="1100"/>
              </a:spcBef>
              <a:buFont typeface="Arial,Sans-Serif"/>
              <a:buChar char="•"/>
            </a:pPr>
            <a:r>
              <a:rPr lang="en-GB" sz="2000" b="1">
                <a:solidFill>
                  <a:srgbClr val="000000"/>
                </a:solidFill>
                <a:latin typeface="Times New Roman"/>
                <a:ea typeface="Source Sans Pro"/>
                <a:cs typeface="Times New Roman"/>
              </a:rPr>
              <a:t>Scalability</a:t>
            </a:r>
            <a:r>
              <a:rPr lang="en-GB" sz="2000">
                <a:solidFill>
                  <a:srgbClr val="000000"/>
                </a:solidFill>
                <a:latin typeface="Times New Roman"/>
                <a:ea typeface="Source Sans Pro"/>
                <a:cs typeface="Times New Roman"/>
              </a:rPr>
              <a:t>: The system should handle high-frequency data and make predictions with low latency.</a:t>
            </a:r>
            <a:endParaRPr lang="en-US"/>
          </a:p>
          <a:p>
            <a:pPr marL="285750" indent="-285750" algn="just" defTabSz="914400">
              <a:buFont typeface="Arial,Sans-Serif"/>
              <a:buChar char="•"/>
            </a:pPr>
            <a:endParaRPr lang="en-US" sz="2000">
              <a:latin typeface="Times New Roman"/>
              <a:ea typeface="Source Sans Pro"/>
              <a:cs typeface="Times New Roman"/>
            </a:endParaRPr>
          </a:p>
          <a:p>
            <a:pPr marL="0" indent="0" algn="just" defTabSz="914400"/>
            <a:endParaRPr lang="en-US" sz="2000">
              <a:latin typeface="Times New Roman"/>
              <a:ea typeface="Source Sans Pro"/>
              <a:cs typeface="Times New Roman"/>
            </a:endParaRPr>
          </a:p>
        </p:txBody>
      </p:sp>
    </p:spTree>
    <p:extLst>
      <p:ext uri="{BB962C8B-B14F-4D97-AF65-F5344CB8AC3E}">
        <p14:creationId xmlns:p14="http://schemas.microsoft.com/office/powerpoint/2010/main" val="828741648"/>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C2A9FFC0-E268-7D87-ABF6-99C40AA18D08}"/>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IN" sz="3600" b="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a:rPr>
              <a:t>Scope</a:t>
            </a:r>
            <a:endParaRPr lang="en-IN" sz="360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a:endParaRPr>
          </a:p>
          <a:p>
            <a:pPr>
              <a:defRPr/>
            </a:pPr>
            <a:endParaRPr lang="en-IN" sz="3600" b="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a:endParaRPr>
          </a:p>
        </p:txBody>
      </p:sp>
      <p:sp>
        <p:nvSpPr>
          <p:cNvPr id="26627" name="Rectangle 2">
            <a:extLst>
              <a:ext uri="{FF2B5EF4-FFF2-40B4-BE49-F238E27FC236}">
                <a16:creationId xmlns:a16="http://schemas.microsoft.com/office/drawing/2014/main" id="{DEFC41A1-30DC-9DFB-0AB4-D7E45852ABD3}"/>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26628" name="TextBox 4">
            <a:extLst>
              <a:ext uri="{FF2B5EF4-FFF2-40B4-BE49-F238E27FC236}">
                <a16:creationId xmlns:a16="http://schemas.microsoft.com/office/drawing/2014/main" id="{28D2DFF6-8D3C-9AAC-C559-05A46324E9A7}"/>
              </a:ext>
            </a:extLst>
          </p:cNvPr>
          <p:cNvSpPr txBox="1">
            <a:spLocks noChangeArrowheads="1"/>
          </p:cNvSpPr>
          <p:nvPr/>
        </p:nvSpPr>
        <p:spPr bwMode="auto">
          <a:xfrm>
            <a:off x="360363" y="1768475"/>
            <a:ext cx="8783637"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marL="342900" indent="-34290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pPr algn="just" defTabSz="9144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Real-time forecasting allows traders to adjust strategies in response to sudden market changes or emerging trends.</a:t>
            </a:r>
          </a:p>
          <a:p>
            <a:pPr algn="just" defTabSz="914400">
              <a:buFont typeface="Arial" panose="020B0604020202020204" pitchFamily="34" charset="0"/>
              <a:buChar char="•"/>
            </a:pPr>
            <a:endParaRPr lang="en-US" sz="2000" dirty="0">
              <a:latin typeface="Times New Roman" panose="02020603050405020304" pitchFamily="18" charset="0"/>
              <a:ea typeface="Source Sans Pro"/>
              <a:cs typeface="Times New Roman" panose="02020603050405020304" pitchFamily="18" charset="0"/>
            </a:endParaRPr>
          </a:p>
          <a:p>
            <a:pPr algn="just" defTabSz="9144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Helps firms monitor trading activities in real time to ensure they follow regulations and quickly identify and report any suspicious behavior.</a:t>
            </a:r>
          </a:p>
          <a:p>
            <a:pPr algn="just" defTabSz="914400">
              <a:buFont typeface="Arial" panose="020B0604020202020204" pitchFamily="34" charset="0"/>
              <a:buChar char="•"/>
            </a:pPr>
            <a:endParaRPr lang="en-US" sz="2000" dirty="0">
              <a:latin typeface="Times New Roman" panose="02020603050405020304" pitchFamily="18" charset="0"/>
              <a:ea typeface="Source Sans Pro"/>
              <a:cs typeface="Times New Roman" panose="02020603050405020304" pitchFamily="18" charset="0"/>
            </a:endParaRPr>
          </a:p>
          <a:p>
            <a:pPr algn="just" defTabSz="9144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Enables ongoing evaluation of investment strategies and market models to refine and enhance forecasting methods.</a:t>
            </a:r>
          </a:p>
          <a:p>
            <a:pPr algn="just" defTabSz="9144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defTabSz="9144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Enables the development of automated trading strategies that can execute trades based on real-time data.</a:t>
            </a:r>
            <a:endParaRPr lang="en-US" sz="2000" dirty="0">
              <a:latin typeface="Times New Roman" panose="02020603050405020304" pitchFamily="18" charset="0"/>
              <a:ea typeface="Source Sans Pro"/>
              <a:cs typeface="Times New Roman" panose="02020603050405020304" pitchFamily="18" charset="0"/>
            </a:endParaRPr>
          </a:p>
          <a:p>
            <a:pPr algn="just" defTabSz="914400">
              <a:buFont typeface="Arial" panose="020B0604020202020204" pitchFamily="34" charset="0"/>
              <a:buChar char="•"/>
            </a:pPr>
            <a:endParaRPr lang="en-US" sz="2000" dirty="0">
              <a:latin typeface="Times New Roman"/>
              <a:ea typeface="Source Sans Pro"/>
              <a:cs typeface="Times New Roman"/>
            </a:endParaRPr>
          </a:p>
        </p:txBody>
      </p:sp>
    </p:spTree>
    <p:extLst>
      <p:ext uri="{BB962C8B-B14F-4D97-AF65-F5344CB8AC3E}">
        <p14:creationId xmlns:p14="http://schemas.microsoft.com/office/powerpoint/2010/main" val="2574350692"/>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C2A9FFC0-E268-7D87-ABF6-99C40AA18D08}"/>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IN" sz="3600" b="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a:rPr>
              <a:t>Technological Stack</a:t>
            </a:r>
            <a:endParaRPr lang="en-US"/>
          </a:p>
        </p:txBody>
      </p:sp>
      <p:sp>
        <p:nvSpPr>
          <p:cNvPr id="26627" name="Rectangle 2">
            <a:extLst>
              <a:ext uri="{FF2B5EF4-FFF2-40B4-BE49-F238E27FC236}">
                <a16:creationId xmlns:a16="http://schemas.microsoft.com/office/drawing/2014/main" id="{DEFC41A1-30DC-9DFB-0AB4-D7E45852ABD3}"/>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26628" name="TextBox 4">
            <a:extLst>
              <a:ext uri="{FF2B5EF4-FFF2-40B4-BE49-F238E27FC236}">
                <a16:creationId xmlns:a16="http://schemas.microsoft.com/office/drawing/2014/main" id="{28D2DFF6-8D3C-9AAC-C559-05A46324E9A7}"/>
              </a:ext>
            </a:extLst>
          </p:cNvPr>
          <p:cNvSpPr txBox="1">
            <a:spLocks noChangeArrowheads="1"/>
          </p:cNvSpPr>
          <p:nvPr/>
        </p:nvSpPr>
        <p:spPr bwMode="auto">
          <a:xfrm>
            <a:off x="360363" y="1768475"/>
            <a:ext cx="8783637" cy="4234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marL="342900" indent="-34290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pPr algn="just" defTabSz="914400"/>
            <a:r>
              <a:rPr lang="en-GB" sz="2000" b="1" dirty="0">
                <a:latin typeface="Times New Roman"/>
                <a:ea typeface="Source Sans Pro"/>
                <a:cs typeface="Times New Roman"/>
              </a:rPr>
              <a:t>Real-time </a:t>
            </a:r>
            <a:r>
              <a:rPr lang="en-IN" sz="2000" b="1" dirty="0">
                <a:latin typeface="Times New Roman"/>
                <a:ea typeface="Source Sans Pro"/>
                <a:cs typeface="Times New Roman"/>
              </a:rPr>
              <a:t>News Headlines Analysis</a:t>
            </a:r>
            <a:endParaRPr lang="en-US" sz="2000" dirty="0">
              <a:latin typeface="Times New Roman"/>
              <a:cs typeface="Times New Roman"/>
            </a:endParaRPr>
          </a:p>
          <a:p>
            <a:pPr marL="285750" indent="-285750" algn="just" defTabSz="914400">
              <a:buFont typeface="Arial"/>
              <a:buChar char="•"/>
            </a:pPr>
            <a:r>
              <a:rPr lang="en-GB" sz="2000" dirty="0">
                <a:solidFill>
                  <a:srgbClr val="030712"/>
                </a:solidFill>
                <a:latin typeface="Times New Roman"/>
                <a:ea typeface="Source Sans Pro"/>
                <a:cs typeface="Times New Roman"/>
              </a:rPr>
              <a:t>Selenium and </a:t>
            </a:r>
            <a:r>
              <a:rPr lang="en-AU" sz="2000" dirty="0">
                <a:latin typeface="Times New Roman" panose="02020603050405020304" pitchFamily="18" charset="0"/>
                <a:cs typeface="Times New Roman" panose="02020603050405020304" pitchFamily="18" charset="0"/>
              </a:rPr>
              <a:t>Beautiful Soup</a:t>
            </a:r>
            <a:r>
              <a:rPr lang="en-GB" sz="2000" dirty="0">
                <a:solidFill>
                  <a:srgbClr val="030712"/>
                </a:solidFill>
                <a:latin typeface="Times New Roman"/>
                <a:ea typeface="Source Sans Pro"/>
                <a:cs typeface="Times New Roman"/>
              </a:rPr>
              <a:t>: Used for Web Scraping</a:t>
            </a:r>
            <a:endParaRPr lang="en-GB" sz="2000" dirty="0">
              <a:latin typeface="Times New Roman"/>
              <a:cs typeface="Times New Roman"/>
            </a:endParaRPr>
          </a:p>
          <a:p>
            <a:pPr marL="285750" indent="-285750" algn="just" defTabSz="914400">
              <a:buFont typeface="Arial"/>
              <a:buChar char="•"/>
            </a:pPr>
            <a:r>
              <a:rPr lang="en-GB" sz="2000" dirty="0">
                <a:solidFill>
                  <a:srgbClr val="030712"/>
                </a:solidFill>
                <a:latin typeface="Times New Roman"/>
                <a:ea typeface="Source Sans Pro"/>
                <a:cs typeface="Times New Roman"/>
              </a:rPr>
              <a:t>RNN (Recurrent Neural Network): For real-time news analysis</a:t>
            </a:r>
            <a:endParaRPr lang="en-GB" sz="2000" dirty="0">
              <a:latin typeface="Times New Roman"/>
            </a:endParaRPr>
          </a:p>
          <a:p>
            <a:pPr marL="285750" indent="-285750" algn="just" defTabSz="914400">
              <a:buFont typeface="Arial"/>
              <a:buChar char="•"/>
            </a:pPr>
            <a:endParaRPr lang="en-GB" sz="2000" dirty="0">
              <a:solidFill>
                <a:srgbClr val="030712"/>
              </a:solidFill>
              <a:latin typeface="Times New Roman"/>
              <a:ea typeface="Source Sans Pro"/>
              <a:cs typeface="Times New Roman"/>
            </a:endParaRPr>
          </a:p>
          <a:p>
            <a:pPr algn="just" defTabSz="914400"/>
            <a:r>
              <a:rPr lang="en-GB" sz="2000" b="1" dirty="0">
                <a:latin typeface="Times New Roman"/>
                <a:ea typeface="Source Sans Pro"/>
                <a:cs typeface="Times New Roman"/>
              </a:rPr>
              <a:t>Core Prediction Models</a:t>
            </a:r>
            <a:endParaRPr lang="en-GB" sz="2000" b="1" dirty="0">
              <a:latin typeface="Times New Roman"/>
              <a:cs typeface="Times New Roman"/>
            </a:endParaRPr>
          </a:p>
          <a:p>
            <a:pPr algn="just" defTabSz="914400">
              <a:buFont typeface="Arial" panose="020B0604020202020204" pitchFamily="34" charset="0"/>
              <a:buChar char="•"/>
            </a:pPr>
            <a:r>
              <a:rPr lang="en-GB" sz="2000" dirty="0">
                <a:solidFill>
                  <a:srgbClr val="030712"/>
                </a:solidFill>
                <a:latin typeface="Times New Roman"/>
                <a:ea typeface="Source Sans Pro"/>
                <a:cs typeface="Times New Roman"/>
              </a:rPr>
              <a:t>LSTM (Long Short-Term Memory)</a:t>
            </a:r>
            <a:endParaRPr lang="en-GB" sz="2000" dirty="0">
              <a:latin typeface="Times New Roman"/>
              <a:cs typeface="Times New Roman"/>
            </a:endParaRPr>
          </a:p>
          <a:p>
            <a:pPr algn="just" defTabSz="914400">
              <a:buFont typeface="Arial" panose="020B0604020202020204" pitchFamily="34" charset="0"/>
              <a:buChar char="•"/>
            </a:pPr>
            <a:r>
              <a:rPr lang="en-GB" sz="2000" dirty="0">
                <a:solidFill>
                  <a:srgbClr val="030712"/>
                </a:solidFill>
                <a:latin typeface="Times New Roman"/>
                <a:ea typeface="Source Sans Pro"/>
                <a:cs typeface="Times New Roman"/>
              </a:rPr>
              <a:t>GRU (Gated Recurrent Unit)</a:t>
            </a:r>
            <a:endParaRPr lang="en-GB" sz="2000" dirty="0">
              <a:latin typeface="Times New Roman"/>
              <a:cs typeface="Times New Roman"/>
            </a:endParaRPr>
          </a:p>
          <a:p>
            <a:pPr marL="285750" indent="-285750" algn="just" defTabSz="914400">
              <a:buFont typeface="Arial"/>
              <a:buChar char="•"/>
            </a:pPr>
            <a:endParaRPr lang="en-GB" sz="2000" dirty="0">
              <a:solidFill>
                <a:srgbClr val="030712"/>
              </a:solidFill>
              <a:latin typeface="Times New Roman"/>
              <a:ea typeface="Source Sans Pro"/>
              <a:cs typeface="Times New Roman"/>
            </a:endParaRPr>
          </a:p>
          <a:p>
            <a:pPr algn="just" defTabSz="914400"/>
            <a:r>
              <a:rPr lang="en-GB" sz="2000" b="1" dirty="0">
                <a:latin typeface="Times New Roman"/>
                <a:ea typeface="Source Sans Pro"/>
                <a:cs typeface="Times New Roman"/>
              </a:rPr>
              <a:t>Ensemble Model</a:t>
            </a:r>
            <a:endParaRPr lang="en-GB" sz="2000" dirty="0">
              <a:latin typeface="Times New Roman"/>
              <a:cs typeface="Times New Roman"/>
            </a:endParaRPr>
          </a:p>
          <a:p>
            <a:pPr marL="285750" indent="-285750" algn="just" defTabSz="914400">
              <a:buFont typeface="Arial"/>
              <a:buChar char="•"/>
            </a:pPr>
            <a:r>
              <a:rPr lang="en-GB" sz="2000" dirty="0">
                <a:solidFill>
                  <a:srgbClr val="030712"/>
                </a:solidFill>
                <a:latin typeface="Times New Roman"/>
                <a:ea typeface="Source Sans Pro"/>
                <a:cs typeface="Times New Roman"/>
              </a:rPr>
              <a:t>Combines outputs of LSTM, GRU and RNN models</a:t>
            </a:r>
            <a:endParaRPr lang="en-GB" sz="2000" dirty="0">
              <a:latin typeface="Times New Roman"/>
              <a:cs typeface="Times New Roman"/>
            </a:endParaRPr>
          </a:p>
          <a:p>
            <a:pPr marL="0" indent="0" algn="just" defTabSz="914400">
              <a:spcBef>
                <a:spcPts val="1100"/>
              </a:spcBef>
            </a:pPr>
            <a:endParaRPr lang="en-GB" sz="2000" dirty="0">
              <a:latin typeface="Times New Roman"/>
              <a:ea typeface="Source Sans Pro"/>
              <a:cs typeface="Times New Roman"/>
            </a:endParaRPr>
          </a:p>
          <a:p>
            <a:pPr marL="285750" indent="-285750" algn="just" defTabSz="914400">
              <a:buFont typeface="Arial,Sans-Serif"/>
              <a:buChar char="•"/>
            </a:pPr>
            <a:endParaRPr lang="en-US" sz="2000" dirty="0">
              <a:latin typeface="Times New Roman"/>
              <a:ea typeface="Source Sans Pro"/>
              <a:cs typeface="Times New Roman"/>
            </a:endParaRPr>
          </a:p>
          <a:p>
            <a:pPr marL="0" indent="0" algn="just" defTabSz="914400"/>
            <a:endParaRPr lang="en-US" sz="2000" dirty="0">
              <a:latin typeface="Times New Roman"/>
              <a:ea typeface="Source Sans Pro"/>
              <a:cs typeface="Times New Roman"/>
            </a:endParaRPr>
          </a:p>
        </p:txBody>
      </p:sp>
    </p:spTree>
    <p:extLst>
      <p:ext uri="{BB962C8B-B14F-4D97-AF65-F5344CB8AC3E}">
        <p14:creationId xmlns:p14="http://schemas.microsoft.com/office/powerpoint/2010/main" val="1835936535"/>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87DB4D21-90AE-1001-5F78-213492D2EF47}"/>
              </a:ext>
            </a:extLst>
          </p:cNvPr>
          <p:cNvSpPr>
            <a:spLocks noChangeArrowheads="1"/>
          </p:cNvSpPr>
          <p:nvPr/>
        </p:nvSpPr>
        <p:spPr bwMode="auto">
          <a:xfrm>
            <a:off x="503238" y="301625"/>
            <a:ext cx="9070975" cy="2841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US" altLang="en-US" sz="3600" b="1">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P</a:t>
            </a:r>
            <a:r>
              <a:rPr lang="en-IN" altLang="en-US" sz="3600" b="1" err="1">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roposed</a:t>
            </a:r>
            <a:r>
              <a:rPr lang="en-IN" altLang="en-US" sz="3600" b="1">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 system architecture/Working </a:t>
            </a:r>
          </a:p>
        </p:txBody>
      </p:sp>
      <p:sp>
        <p:nvSpPr>
          <p:cNvPr id="32771" name="Rectangle 2">
            <a:extLst>
              <a:ext uri="{FF2B5EF4-FFF2-40B4-BE49-F238E27FC236}">
                <a16:creationId xmlns:a16="http://schemas.microsoft.com/office/drawing/2014/main" id="{9440D4F6-DB97-E004-40D4-6526C66C4166}"/>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CBED19C-1B69-2E85-9750-4D05837890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01687"/>
            <a:ext cx="9070975" cy="6757988"/>
          </a:xfrm>
          <a:prstGeom prst="rect">
            <a:avLst/>
          </a:prstGeom>
        </p:spPr>
      </p:pic>
    </p:spTree>
    <p:extLst>
      <p:ext uri="{BB962C8B-B14F-4D97-AF65-F5344CB8AC3E}">
        <p14:creationId xmlns:p14="http://schemas.microsoft.com/office/powerpoint/2010/main" val="2560095459"/>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C2A9FFC0-E268-7D87-ABF6-99C40AA18D08}"/>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IN" sz="3600" b="1">
                <a:effectLst>
                  <a:outerShdw blurRad="38100" dist="38100" dir="2700000" algn="tl">
                    <a:srgbClr val="000000">
                      <a:alpha val="43137"/>
                    </a:srgbClr>
                  </a:outerShdw>
                </a:effectLst>
                <a:latin typeface="Times New Roman"/>
                <a:cs typeface="Times New Roman"/>
              </a:rPr>
              <a:t>References</a:t>
            </a:r>
            <a:endParaRPr lang="en-IN" sz="3600">
              <a:effectLst>
                <a:outerShdw blurRad="38100" dist="38100" dir="2700000" algn="tl">
                  <a:srgbClr val="000000">
                    <a:alpha val="43137"/>
                  </a:srgbClr>
                </a:outerShdw>
              </a:effectLst>
              <a:latin typeface="Times New Roman"/>
              <a:cs typeface="Times New Roman"/>
            </a:endParaRPr>
          </a:p>
          <a:p>
            <a:pPr>
              <a:defRPr/>
            </a:pPr>
            <a:endParaRPr lang="en-IN" sz="3600" b="1">
              <a:effectLst>
                <a:outerShdw blurRad="38100" dist="38100" dir="2700000" algn="tl">
                  <a:srgbClr val="000000">
                    <a:alpha val="43137"/>
                  </a:srgbClr>
                </a:outerShdw>
              </a:effectLst>
              <a:latin typeface="Times New Roman"/>
              <a:cs typeface="Times New Roman"/>
            </a:endParaRPr>
          </a:p>
        </p:txBody>
      </p:sp>
      <p:sp>
        <p:nvSpPr>
          <p:cNvPr id="26627" name="Rectangle 2">
            <a:extLst>
              <a:ext uri="{FF2B5EF4-FFF2-40B4-BE49-F238E27FC236}">
                <a16:creationId xmlns:a16="http://schemas.microsoft.com/office/drawing/2014/main" id="{DEFC41A1-30DC-9DFB-0AB4-D7E45852ABD3}"/>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26628" name="TextBox 4">
            <a:extLst>
              <a:ext uri="{FF2B5EF4-FFF2-40B4-BE49-F238E27FC236}">
                <a16:creationId xmlns:a16="http://schemas.microsoft.com/office/drawing/2014/main" id="{28D2DFF6-8D3C-9AAC-C559-05A46324E9A7}"/>
              </a:ext>
            </a:extLst>
          </p:cNvPr>
          <p:cNvSpPr txBox="1">
            <a:spLocks noChangeArrowheads="1"/>
          </p:cNvSpPr>
          <p:nvPr/>
        </p:nvSpPr>
        <p:spPr bwMode="auto">
          <a:xfrm>
            <a:off x="360363" y="1768475"/>
            <a:ext cx="8783637"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marL="342900" indent="-34290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pPr algn="just" defTabSz="914400"/>
            <a:r>
              <a:rPr lang="en-US" sz="2000" b="1">
                <a:latin typeface="Times New Roman"/>
                <a:cs typeface="Times New Roman"/>
              </a:rPr>
              <a:t>[1]</a:t>
            </a:r>
            <a:r>
              <a:rPr lang="en-US" sz="2000">
                <a:latin typeface="Times New Roman"/>
                <a:cs typeface="Times New Roman"/>
              </a:rPr>
              <a:t>J. Liu, Z. Wang, and B. Zheng, "A Deep Reinforcement Learning-Based Decision Support System for Automated Stock Market Trading," IEEE Access, Volume 8, Pages 143676-143686, 2020. </a:t>
            </a:r>
            <a:endParaRPr lang="en-US" sz="2000">
              <a:latin typeface="Times New Roman"/>
              <a:ea typeface="Source Sans Pro"/>
              <a:cs typeface="Times New Roman"/>
            </a:endParaRPr>
          </a:p>
          <a:p>
            <a:pPr algn="just" defTabSz="914400"/>
            <a:r>
              <a:rPr lang="en-US" sz="2000">
                <a:latin typeface="Times New Roman"/>
                <a:ea typeface="Source Sans Pro"/>
                <a:cs typeface="Times New Roman"/>
                <a:hlinkClick r:id="rId3"/>
              </a:rPr>
              <a:t>https://doi.org/10.1109/ACCESS.2020.3012047​</a:t>
            </a:r>
            <a:endParaRPr lang="en-US" sz="2000">
              <a:latin typeface="Times New Roman"/>
              <a:ea typeface="Source Sans Pro"/>
              <a:cs typeface="Times New Roman"/>
            </a:endParaRPr>
          </a:p>
          <a:p>
            <a:pPr algn="just" defTabSz="914400"/>
            <a:endParaRPr lang="en-US" sz="2000">
              <a:latin typeface="Times New Roman"/>
              <a:ea typeface="Source Sans Pro"/>
              <a:cs typeface="Times New Roman"/>
            </a:endParaRPr>
          </a:p>
          <a:p>
            <a:pPr algn="just" defTabSz="914400"/>
            <a:r>
              <a:rPr lang="en-US" sz="2000" b="1">
                <a:latin typeface="Times New Roman"/>
                <a:ea typeface="Source Sans Pro"/>
                <a:cs typeface="Times New Roman"/>
              </a:rPr>
              <a:t>[2]</a:t>
            </a:r>
            <a:r>
              <a:rPr lang="en-US" sz="2000">
                <a:latin typeface="Times New Roman"/>
                <a:ea typeface="Source Sans Pro"/>
                <a:cs typeface="Times New Roman"/>
              </a:rPr>
              <a:t>Sheikh Mohammad Idrees, M. Afshar Alam, Parul Agarwal, "A Prediction Approach for Stock Market Volatility Based on Time Series Data," IEEE Access, Volume 7, Pages 17287-17295, 2019. </a:t>
            </a:r>
          </a:p>
          <a:p>
            <a:pPr algn="just" defTabSz="914400"/>
            <a:r>
              <a:rPr lang="en-US" sz="2000">
                <a:latin typeface="Times New Roman"/>
                <a:ea typeface="Source Sans Pro"/>
                <a:cs typeface="Times New Roman"/>
                <a:hlinkClick r:id="rId4"/>
              </a:rPr>
              <a:t>https://doi.org/10.1109/ACCESS.2019.2895252​</a:t>
            </a:r>
            <a:endParaRPr lang="en-US" sz="2000">
              <a:latin typeface="Times New Roman"/>
              <a:ea typeface="Source Sans Pro"/>
              <a:cs typeface="Times New Roman"/>
            </a:endParaRPr>
          </a:p>
          <a:p>
            <a:pPr algn="just" defTabSz="914400"/>
            <a:endParaRPr lang="en-US" sz="2000">
              <a:latin typeface="Times New Roman"/>
              <a:ea typeface="Source Sans Pro"/>
              <a:cs typeface="Times New Roman"/>
            </a:endParaRPr>
          </a:p>
          <a:p>
            <a:pPr algn="just" defTabSz="914400"/>
            <a:r>
              <a:rPr lang="en-GB" sz="2000" b="1">
                <a:latin typeface="Times New Roman"/>
                <a:ea typeface="Source Sans Pro"/>
                <a:cs typeface="Times New Roman"/>
              </a:rPr>
              <a:t>[3]</a:t>
            </a:r>
            <a:r>
              <a:rPr lang="en-GB" sz="2000">
                <a:latin typeface="Times New Roman"/>
                <a:ea typeface="Source Sans Pro"/>
                <a:cs typeface="Times New Roman"/>
              </a:rPr>
              <a:t> </a:t>
            </a:r>
            <a:r>
              <a:rPr lang="en-GB" sz="2000" err="1">
                <a:latin typeface="Times New Roman"/>
                <a:ea typeface="Source Sans Pro"/>
                <a:cs typeface="Times New Roman"/>
              </a:rPr>
              <a:t>Jinyang</a:t>
            </a:r>
            <a:r>
              <a:rPr lang="en-GB" sz="2000">
                <a:latin typeface="Times New Roman"/>
                <a:ea typeface="Source Sans Pro"/>
                <a:cs typeface="Times New Roman"/>
              </a:rPr>
              <a:t> Du, John S. Kimball, Justin Sheffield, Ming Pan, Colby K. Fisher, Hylke E. Beck, Eric F. Wood, "Satellite Flood Inundation Assessment and Forecast Using SMAP and Landsat," IEEE Journal of Selected Topics in Applied Earth Observations and Remote Sensing, Volume 14, Pages 6707-6715, 2021.</a:t>
            </a:r>
          </a:p>
          <a:p>
            <a:pPr algn="just" defTabSz="914400"/>
            <a:r>
              <a:rPr lang="en-GB" sz="2000">
                <a:latin typeface="Times New Roman"/>
                <a:ea typeface="Source Sans Pro"/>
                <a:cs typeface="Times New Roman"/>
                <a:hlinkClick r:id="rId5"/>
              </a:rPr>
              <a:t>https://ieeexplore.ieee.org/document/9465655</a:t>
            </a:r>
            <a:endParaRPr lang="en-GB" sz="2000">
              <a:latin typeface="Times New Roman"/>
              <a:ea typeface="Source Sans Pro"/>
              <a:cs typeface="Times New Roman"/>
            </a:endParaRPr>
          </a:p>
          <a:p>
            <a:pPr algn="just" defTabSz="914400"/>
            <a:endParaRPr lang="en-GB">
              <a:latin typeface="Times New Roman"/>
              <a:ea typeface="Source Sans Pro"/>
              <a:cs typeface="Times New Roman"/>
            </a:endParaRPr>
          </a:p>
          <a:p>
            <a:pPr algn="just" defTabSz="914400"/>
            <a:endParaRPr lang="en-US">
              <a:latin typeface="Times New Roman"/>
              <a:ea typeface="Source Sans Pro"/>
              <a:cs typeface="Times New Roman"/>
            </a:endParaRPr>
          </a:p>
        </p:txBody>
      </p:sp>
    </p:spTree>
    <p:extLst>
      <p:ext uri="{BB962C8B-B14F-4D97-AF65-F5344CB8AC3E}">
        <p14:creationId xmlns:p14="http://schemas.microsoft.com/office/powerpoint/2010/main" val="1784386421"/>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C2A9FFC0-E268-7D87-ABF6-99C40AA18D08}"/>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IN" sz="3600" b="1">
                <a:effectLst>
                  <a:outerShdw blurRad="38100" dist="38100" dir="2700000" algn="tl">
                    <a:srgbClr val="000000">
                      <a:alpha val="43137"/>
                    </a:srgbClr>
                  </a:outerShdw>
                </a:effectLst>
                <a:latin typeface="Times New Roman"/>
                <a:cs typeface="Times New Roman"/>
              </a:rPr>
              <a:t>References</a:t>
            </a:r>
            <a:endParaRPr lang="en-IN" sz="3600">
              <a:effectLst>
                <a:outerShdw blurRad="38100" dist="38100" dir="2700000" algn="tl">
                  <a:srgbClr val="000000">
                    <a:alpha val="43137"/>
                  </a:srgbClr>
                </a:outerShdw>
              </a:effectLst>
              <a:latin typeface="Times New Roman"/>
              <a:cs typeface="Times New Roman"/>
            </a:endParaRPr>
          </a:p>
          <a:p>
            <a:pPr>
              <a:defRPr/>
            </a:pPr>
            <a:endParaRPr lang="en-IN" sz="3600" b="1">
              <a:effectLst>
                <a:outerShdw blurRad="38100" dist="38100" dir="2700000" algn="tl">
                  <a:srgbClr val="000000">
                    <a:alpha val="43137"/>
                  </a:srgbClr>
                </a:outerShdw>
              </a:effectLst>
              <a:latin typeface="Times New Roman"/>
              <a:cs typeface="Times New Roman"/>
            </a:endParaRPr>
          </a:p>
        </p:txBody>
      </p:sp>
      <p:sp>
        <p:nvSpPr>
          <p:cNvPr id="26627" name="Rectangle 2">
            <a:extLst>
              <a:ext uri="{FF2B5EF4-FFF2-40B4-BE49-F238E27FC236}">
                <a16:creationId xmlns:a16="http://schemas.microsoft.com/office/drawing/2014/main" id="{DEFC41A1-30DC-9DFB-0AB4-D7E45852ABD3}"/>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26628" name="TextBox 4">
            <a:extLst>
              <a:ext uri="{FF2B5EF4-FFF2-40B4-BE49-F238E27FC236}">
                <a16:creationId xmlns:a16="http://schemas.microsoft.com/office/drawing/2014/main" id="{28D2DFF6-8D3C-9AAC-C559-05A46324E9A7}"/>
              </a:ext>
            </a:extLst>
          </p:cNvPr>
          <p:cNvSpPr txBox="1">
            <a:spLocks noChangeArrowheads="1"/>
          </p:cNvSpPr>
          <p:nvPr/>
        </p:nvSpPr>
        <p:spPr bwMode="auto">
          <a:xfrm>
            <a:off x="360363" y="1768475"/>
            <a:ext cx="8783637" cy="5909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marL="342900" indent="-34290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pPr algn="just" defTabSz="914400"/>
            <a:r>
              <a:rPr lang="en-GB" sz="2000" b="1">
                <a:latin typeface="Times New Roman"/>
                <a:ea typeface="Source Sans Pro"/>
                <a:cs typeface="Times New Roman"/>
              </a:rPr>
              <a:t>[4]</a:t>
            </a:r>
            <a:r>
              <a:rPr lang="en-US" sz="2000" err="1">
                <a:latin typeface="Times New Roman"/>
                <a:ea typeface="Source Sans Pro"/>
                <a:cs typeface="Times New Roman"/>
              </a:rPr>
              <a:t>Xingqi</a:t>
            </a:r>
            <a:r>
              <a:rPr lang="en-US" sz="2000">
                <a:latin typeface="Times New Roman"/>
                <a:ea typeface="Source Sans Pro"/>
                <a:cs typeface="Times New Roman"/>
              </a:rPr>
              <a:t> Wang, Kai Yang, and </a:t>
            </a:r>
            <a:r>
              <a:rPr lang="en-US" sz="2000" err="1">
                <a:latin typeface="Times New Roman"/>
                <a:ea typeface="Source Sans Pro"/>
                <a:cs typeface="Times New Roman"/>
              </a:rPr>
              <a:t>Tailian</a:t>
            </a:r>
            <a:r>
              <a:rPr lang="en-US" sz="2000">
                <a:latin typeface="Times New Roman"/>
                <a:ea typeface="Source Sans Pro"/>
                <a:cs typeface="Times New Roman"/>
              </a:rPr>
              <a:t> Liu, "Stock Price Prediction Based on</a:t>
            </a:r>
            <a:endParaRPr lang="en-US" sz="2000"/>
          </a:p>
          <a:p>
            <a:pPr algn="just" defTabSz="914400"/>
            <a:r>
              <a:rPr lang="en-US" sz="2000">
                <a:latin typeface="Times New Roman"/>
                <a:ea typeface="Source Sans Pro"/>
                <a:cs typeface="Times New Roman"/>
              </a:rPr>
              <a:t>Morphological Similarity Clustering and Hierarchical Temporal Memory," IEEE</a:t>
            </a:r>
            <a:endParaRPr lang="en-US" sz="2000">
              <a:ea typeface="Source Sans Pro"/>
              <a:cs typeface="Times New Roman"/>
            </a:endParaRPr>
          </a:p>
          <a:p>
            <a:pPr algn="just" defTabSz="914400"/>
            <a:r>
              <a:rPr lang="en-US" sz="2000">
                <a:latin typeface="Times New Roman"/>
                <a:ea typeface="Source Sans Pro"/>
                <a:cs typeface="Times New Roman"/>
              </a:rPr>
              <a:t>Access, Volume9, Pages 67241-67248, 2021. </a:t>
            </a:r>
            <a:endParaRPr lang="en-US" sz="2000"/>
          </a:p>
          <a:p>
            <a:pPr marL="0" indent="0" algn="just" defTabSz="914400"/>
            <a:r>
              <a:rPr lang="en-US" sz="2000">
                <a:latin typeface="Times New Roman"/>
                <a:ea typeface="Source Sans Pro"/>
                <a:cs typeface="Times New Roman"/>
                <a:hlinkClick r:id="rId3"/>
              </a:rPr>
              <a:t>https://doi.org/10.1109/ACCESS.2021.3077004&amp;#8203;:contentReference[oaicite:0]{index=0}</a:t>
            </a:r>
            <a:endParaRPr lang="en-US" sz="2000">
              <a:latin typeface="Times New Roman"/>
              <a:ea typeface="Source Sans Pro"/>
              <a:cs typeface="Times New Roman"/>
            </a:endParaRPr>
          </a:p>
          <a:p>
            <a:pPr marL="0" indent="0" algn="just" defTabSz="914400"/>
            <a:endParaRPr lang="en-US" sz="2000">
              <a:latin typeface="Times New Roman"/>
              <a:ea typeface="Source Sans Pro"/>
              <a:cs typeface="Times New Roman"/>
            </a:endParaRPr>
          </a:p>
          <a:p>
            <a:pPr marL="0" indent="0" algn="just" defTabSz="914400"/>
            <a:r>
              <a:rPr lang="en-US" sz="2000" b="1">
                <a:latin typeface="Times New Roman"/>
                <a:ea typeface="Source Sans Pro"/>
                <a:cs typeface="Times New Roman"/>
              </a:rPr>
              <a:t>[5]</a:t>
            </a:r>
            <a:r>
              <a:rPr lang="en-US" sz="2000">
                <a:latin typeface="Times New Roman"/>
                <a:ea typeface="Source Sans Pro"/>
                <a:cs typeface="Times New Roman"/>
              </a:rPr>
              <a:t>Shwetha </a:t>
            </a:r>
            <a:r>
              <a:rPr lang="en-US" sz="2000" err="1">
                <a:latin typeface="Times New Roman"/>
                <a:ea typeface="Source Sans Pro"/>
                <a:cs typeface="Times New Roman"/>
              </a:rPr>
              <a:t>Salimath</a:t>
            </a:r>
            <a:r>
              <a:rPr lang="en-US" sz="2000">
                <a:latin typeface="Times New Roman"/>
                <a:ea typeface="Source Sans Pro"/>
                <a:cs typeface="Times New Roman"/>
              </a:rPr>
              <a:t>, Triparna Chatterjee, Titty Mathai, Pooja Kamble, Megha Kolhekar, "Prediction of Stock Price for Indian Stock Market: A Comparative Study using LSTM and GRU," Proceedings of the International Conference on Advances in Computing and Data Sciences (ICACDS), Pages 123-130, 2020 .</a:t>
            </a:r>
          </a:p>
          <a:p>
            <a:pPr marL="0" indent="0" algn="just" defTabSz="914400"/>
            <a:r>
              <a:rPr lang="en-US" sz="2000">
                <a:latin typeface="Times New Roman"/>
                <a:ea typeface="Source Sans Pro"/>
                <a:cs typeface="Times New Roman"/>
                <a:hlinkClick r:id="rId4"/>
              </a:rPr>
              <a:t>https://ieeexplore.ieee.org/document/9465655 </a:t>
            </a:r>
            <a:endParaRPr lang="en-US" sz="2000">
              <a:latin typeface="Times New Roman"/>
              <a:ea typeface="Source Sans Pro"/>
              <a:cs typeface="Times New Roman"/>
            </a:endParaRPr>
          </a:p>
          <a:p>
            <a:pPr marL="0" indent="0" algn="just" defTabSz="914400"/>
            <a:endParaRPr lang="en-US" sz="2000">
              <a:latin typeface="Times New Roman"/>
              <a:ea typeface="Source Sans Pro"/>
              <a:cs typeface="Times New Roman"/>
            </a:endParaRPr>
          </a:p>
          <a:p>
            <a:pPr marL="0" indent="0" algn="just" defTabSz="914400"/>
            <a:r>
              <a:rPr lang="en-US" sz="2000" b="1">
                <a:latin typeface="Times New Roman"/>
                <a:ea typeface="Source Sans Pro"/>
                <a:cs typeface="Times New Roman"/>
              </a:rPr>
              <a:t>[6]</a:t>
            </a:r>
            <a:r>
              <a:rPr lang="en-US" sz="2000">
                <a:latin typeface="Times New Roman"/>
                <a:ea typeface="Source Sans Pro"/>
                <a:cs typeface="Times New Roman"/>
              </a:rPr>
              <a:t> Salah </a:t>
            </a:r>
            <a:r>
              <a:rPr lang="en-US" sz="2000" err="1">
                <a:latin typeface="Times New Roman"/>
                <a:ea typeface="Source Sans Pro"/>
                <a:cs typeface="Times New Roman"/>
              </a:rPr>
              <a:t>Bouktif</a:t>
            </a:r>
            <a:r>
              <a:rPr lang="en-US" sz="2000">
                <a:latin typeface="Times New Roman"/>
                <a:ea typeface="Source Sans Pro"/>
                <a:cs typeface="Times New Roman"/>
              </a:rPr>
              <a:t>, Ali Fiaz, and Mamoun </a:t>
            </a:r>
            <a:r>
              <a:rPr lang="en-US" sz="2000" err="1">
                <a:latin typeface="Times New Roman"/>
                <a:ea typeface="Source Sans Pro"/>
                <a:cs typeface="Times New Roman"/>
              </a:rPr>
              <a:t>Awad</a:t>
            </a:r>
            <a:r>
              <a:rPr lang="en-US" sz="2000">
                <a:latin typeface="Times New Roman"/>
                <a:ea typeface="Source Sans Pro"/>
                <a:cs typeface="Times New Roman"/>
              </a:rPr>
              <a:t>, "Augmented Textual Features-Based Stock Market Prediction," IEEE Access, Volume 8, Pages 40269-40279, 2020.</a:t>
            </a:r>
            <a:r>
              <a:rPr lang="en-US" sz="2000">
                <a:latin typeface="Trebuchet MS"/>
                <a:ea typeface="Source Sans Pro"/>
                <a:cs typeface="Times New Roman"/>
              </a:rPr>
              <a:t> </a:t>
            </a:r>
          </a:p>
          <a:p>
            <a:pPr marL="0" indent="0" algn="just" defTabSz="914400"/>
            <a:r>
              <a:rPr lang="en-US" sz="2000">
                <a:latin typeface="Times New Roman"/>
                <a:ea typeface="Source Sans Pro"/>
                <a:cs typeface="Times New Roman"/>
                <a:hlinkClick r:id="rId5"/>
              </a:rPr>
              <a:t>https://doi.org/10.1109/ACCESS.2020.2976725&amp;#8203;:contentReference[oaicite:1]{index=1}.</a:t>
            </a:r>
            <a:endParaRPr lang="en-US" sz="2000">
              <a:latin typeface="Times New Roman"/>
              <a:ea typeface="Source Sans Pro"/>
              <a:cs typeface="Times New Roman"/>
            </a:endParaRPr>
          </a:p>
          <a:p>
            <a:pPr marL="0" indent="0" algn="just" defTabSz="914400"/>
            <a:endParaRPr lang="en-US">
              <a:latin typeface="Times New Roman"/>
              <a:ea typeface="Source Sans Pro"/>
              <a:cs typeface="Times New Roman"/>
            </a:endParaRPr>
          </a:p>
          <a:p>
            <a:pPr marL="0" indent="0" algn="just" defTabSz="914400"/>
            <a:endParaRPr lang="en-US" sz="2000">
              <a:latin typeface="Times New Roman"/>
              <a:ea typeface="Source Sans Pro"/>
              <a:cs typeface="Times New Roman"/>
            </a:endParaRPr>
          </a:p>
        </p:txBody>
      </p:sp>
    </p:spTree>
    <p:extLst>
      <p:ext uri="{BB962C8B-B14F-4D97-AF65-F5344CB8AC3E}">
        <p14:creationId xmlns:p14="http://schemas.microsoft.com/office/powerpoint/2010/main" val="3690187363"/>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C2A9FFC0-E268-7D87-ABF6-99C40AA18D08}"/>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IN" sz="3600" b="1">
                <a:effectLst>
                  <a:outerShdw blurRad="38100" dist="38100" dir="2700000" algn="tl">
                    <a:srgbClr val="000000">
                      <a:alpha val="43137"/>
                    </a:srgbClr>
                  </a:outerShdw>
                </a:effectLst>
                <a:latin typeface="Times New Roman"/>
                <a:cs typeface="Times New Roman"/>
              </a:rPr>
              <a:t>References</a:t>
            </a:r>
            <a:endParaRPr lang="en-IN" sz="3600">
              <a:effectLst>
                <a:outerShdw blurRad="38100" dist="38100" dir="2700000" algn="tl">
                  <a:srgbClr val="000000">
                    <a:alpha val="43137"/>
                  </a:srgbClr>
                </a:outerShdw>
              </a:effectLst>
              <a:latin typeface="Times New Roman"/>
              <a:cs typeface="Times New Roman"/>
            </a:endParaRPr>
          </a:p>
          <a:p>
            <a:pPr>
              <a:defRPr/>
            </a:pPr>
            <a:endParaRPr lang="en-IN" sz="3600" b="1">
              <a:effectLst>
                <a:outerShdw blurRad="38100" dist="38100" dir="2700000" algn="tl">
                  <a:srgbClr val="000000">
                    <a:alpha val="43137"/>
                  </a:srgbClr>
                </a:outerShdw>
              </a:effectLst>
              <a:latin typeface="Times New Roman"/>
              <a:cs typeface="Times New Roman"/>
            </a:endParaRPr>
          </a:p>
        </p:txBody>
      </p:sp>
      <p:sp>
        <p:nvSpPr>
          <p:cNvPr id="26627" name="Rectangle 2">
            <a:extLst>
              <a:ext uri="{FF2B5EF4-FFF2-40B4-BE49-F238E27FC236}">
                <a16:creationId xmlns:a16="http://schemas.microsoft.com/office/drawing/2014/main" id="{DEFC41A1-30DC-9DFB-0AB4-D7E45852ABD3}"/>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26628" name="TextBox 4">
            <a:extLst>
              <a:ext uri="{FF2B5EF4-FFF2-40B4-BE49-F238E27FC236}">
                <a16:creationId xmlns:a16="http://schemas.microsoft.com/office/drawing/2014/main" id="{28D2DFF6-8D3C-9AAC-C559-05A46324E9A7}"/>
              </a:ext>
            </a:extLst>
          </p:cNvPr>
          <p:cNvSpPr txBox="1">
            <a:spLocks noChangeArrowheads="1"/>
          </p:cNvSpPr>
          <p:nvPr/>
        </p:nvSpPr>
        <p:spPr bwMode="auto">
          <a:xfrm>
            <a:off x="360363" y="1768475"/>
            <a:ext cx="8783637" cy="7048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marL="342900" indent="-34290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pPr marL="0" indent="0" algn="just" defTabSz="914400"/>
            <a:r>
              <a:rPr lang="en-GB" sz="2000" b="1" dirty="0">
                <a:latin typeface="Times New Roman"/>
                <a:ea typeface="Source Sans Pro"/>
                <a:cs typeface="Times New Roman"/>
              </a:rPr>
              <a:t>[7]</a:t>
            </a:r>
            <a:r>
              <a:rPr lang="en-GB" sz="2000" dirty="0">
                <a:latin typeface="Times New Roman"/>
                <a:ea typeface="Source Sans Pro"/>
                <a:cs typeface="Times New Roman"/>
              </a:rPr>
              <a:t>Avraam </a:t>
            </a:r>
            <a:r>
              <a:rPr lang="en-GB" sz="2000" dirty="0" err="1">
                <a:latin typeface="Times New Roman"/>
                <a:ea typeface="Source Sans Pro"/>
                <a:cs typeface="Times New Roman"/>
              </a:rPr>
              <a:t>Tsantekidis</a:t>
            </a:r>
            <a:r>
              <a:rPr lang="en-GB" sz="2000" dirty="0">
                <a:latin typeface="Times New Roman"/>
                <a:ea typeface="Source Sans Pro"/>
                <a:cs typeface="Times New Roman"/>
              </a:rPr>
              <a:t>, Nikolaos </a:t>
            </a:r>
            <a:r>
              <a:rPr lang="en-GB" sz="2000" dirty="0" err="1">
                <a:latin typeface="Times New Roman"/>
                <a:ea typeface="Source Sans Pro"/>
                <a:cs typeface="Times New Roman"/>
              </a:rPr>
              <a:t>Passalis</a:t>
            </a:r>
            <a:r>
              <a:rPr lang="en-GB" sz="2000" dirty="0">
                <a:latin typeface="Times New Roman"/>
                <a:ea typeface="Source Sans Pro"/>
                <a:cs typeface="Times New Roman"/>
              </a:rPr>
              <a:t>, Anastasios </a:t>
            </a:r>
            <a:r>
              <a:rPr lang="en-GB" sz="2000" dirty="0" err="1">
                <a:latin typeface="Times New Roman"/>
                <a:ea typeface="Source Sans Pro"/>
                <a:cs typeface="Times New Roman"/>
              </a:rPr>
              <a:t>Tefas</a:t>
            </a:r>
            <a:r>
              <a:rPr lang="en-GB" sz="2000" dirty="0">
                <a:latin typeface="Times New Roman"/>
                <a:ea typeface="Source Sans Pro"/>
                <a:cs typeface="Times New Roman"/>
              </a:rPr>
              <a:t>, Juho </a:t>
            </a:r>
            <a:r>
              <a:rPr lang="en-GB" sz="2000" dirty="0" err="1">
                <a:latin typeface="Times New Roman"/>
                <a:ea typeface="Source Sans Pro"/>
                <a:cs typeface="Times New Roman"/>
              </a:rPr>
              <a:t>Kanniainen</a:t>
            </a:r>
            <a:r>
              <a:rPr lang="en-GB" sz="2000" dirty="0">
                <a:latin typeface="Times New Roman"/>
                <a:ea typeface="Source Sans Pro"/>
                <a:cs typeface="Times New Roman"/>
              </a:rPr>
              <a:t>, </a:t>
            </a:r>
            <a:r>
              <a:rPr lang="en-GB" sz="2000" dirty="0" err="1">
                <a:latin typeface="Times New Roman"/>
                <a:ea typeface="Source Sans Pro"/>
                <a:cs typeface="Times New Roman"/>
              </a:rPr>
              <a:t>Moncef</a:t>
            </a:r>
            <a:r>
              <a:rPr lang="en-GB" sz="2000" dirty="0">
                <a:latin typeface="Times New Roman"/>
                <a:ea typeface="Source Sans Pro"/>
                <a:cs typeface="Times New Roman"/>
              </a:rPr>
              <a:t> </a:t>
            </a:r>
            <a:r>
              <a:rPr lang="en-GB" sz="2000" dirty="0" err="1">
                <a:latin typeface="Times New Roman"/>
                <a:ea typeface="Source Sans Pro"/>
                <a:cs typeface="Times New Roman"/>
              </a:rPr>
              <a:t>Gabbouj</a:t>
            </a:r>
            <a:r>
              <a:rPr lang="en-GB" sz="2000" dirty="0">
                <a:latin typeface="Times New Roman"/>
                <a:ea typeface="Source Sans Pro"/>
                <a:cs typeface="Times New Roman"/>
              </a:rPr>
              <a:t>, Alexandros </a:t>
            </a:r>
            <a:r>
              <a:rPr lang="en-GB" sz="2000" dirty="0" err="1">
                <a:latin typeface="Times New Roman"/>
                <a:ea typeface="Source Sans Pro"/>
                <a:cs typeface="Times New Roman"/>
              </a:rPr>
              <a:t>Iosifidis</a:t>
            </a:r>
            <a:r>
              <a:rPr lang="en-GB" sz="2000" dirty="0">
                <a:latin typeface="Times New Roman"/>
                <a:ea typeface="Source Sans Pro"/>
                <a:cs typeface="Times New Roman"/>
              </a:rPr>
              <a:t>, "Forecasting Stock Prices from the Limit Order Book using Convolutional Neural Networks," 2017 5th International Conference on Cloud Computing and Intelligence Systems (CCIS), Pages 1-7, 2017.</a:t>
            </a:r>
          </a:p>
          <a:p>
            <a:pPr marL="0" indent="0" algn="just" defTabSz="914400"/>
            <a:r>
              <a:rPr lang="en-GB" sz="2000" dirty="0">
                <a:latin typeface="Times New Roman"/>
                <a:ea typeface="Source Sans Pro"/>
                <a:cs typeface="Times New Roman"/>
                <a:hlinkClick r:id="rId3"/>
              </a:rPr>
              <a:t>https://doi.org/10.1109/ACCESS.2019.2895252​​  ​</a:t>
            </a:r>
            <a:endParaRPr lang="en-GB" sz="2000" dirty="0">
              <a:latin typeface="Times New Roman"/>
              <a:ea typeface="Source Sans Pro"/>
              <a:cs typeface="Times New Roman"/>
            </a:endParaRPr>
          </a:p>
          <a:p>
            <a:pPr marL="0" indent="0" algn="just" defTabSz="914400"/>
            <a:endParaRPr lang="en-GB" sz="2000" dirty="0">
              <a:latin typeface="Times New Roman"/>
              <a:ea typeface="Source Sans Pro"/>
              <a:cs typeface="Times New Roman"/>
            </a:endParaRPr>
          </a:p>
          <a:p>
            <a:pPr marL="0" indent="0" algn="just" defTabSz="914400"/>
            <a:r>
              <a:rPr lang="en-US" sz="2000" b="1" dirty="0">
                <a:latin typeface="Times New Roman"/>
                <a:ea typeface="Source Sans Pro"/>
                <a:cs typeface="Times New Roman"/>
              </a:rPr>
              <a:t>[8] </a:t>
            </a:r>
            <a:r>
              <a:rPr lang="en-US" sz="2000" dirty="0">
                <a:latin typeface="Times New Roman"/>
                <a:ea typeface="Source Sans Pro"/>
                <a:cs typeface="Times New Roman"/>
              </a:rPr>
              <a:t>Mohammad </a:t>
            </a:r>
            <a:r>
              <a:rPr lang="en-US" sz="2000" dirty="0" err="1">
                <a:latin typeface="Times New Roman"/>
                <a:ea typeface="Source Sans Pro"/>
                <a:cs typeface="Times New Roman"/>
              </a:rPr>
              <a:t>Obaidur</a:t>
            </a:r>
            <a:r>
              <a:rPr lang="en-US" sz="2000" dirty="0">
                <a:latin typeface="Times New Roman"/>
                <a:ea typeface="Source Sans Pro"/>
                <a:cs typeface="Times New Roman"/>
              </a:rPr>
              <a:t> Rahman, Md. Sabir Hossain, Ta-Seen Junaid, Md. Shafiul Alam </a:t>
            </a:r>
            <a:r>
              <a:rPr lang="en-US" sz="2000" dirty="0" err="1">
                <a:latin typeface="Times New Roman"/>
                <a:ea typeface="Source Sans Pro"/>
                <a:cs typeface="Times New Roman"/>
              </a:rPr>
              <a:t>Forhad</a:t>
            </a:r>
            <a:r>
              <a:rPr lang="en-US" sz="2000" dirty="0">
                <a:latin typeface="Times New Roman"/>
                <a:ea typeface="Source Sans Pro"/>
                <a:cs typeface="Times New Roman"/>
              </a:rPr>
              <a:t>, Muhammad Kamal </a:t>
            </a:r>
            <a:r>
              <a:rPr lang="en-US" sz="2000" dirty="0" err="1">
                <a:latin typeface="Times New Roman"/>
                <a:ea typeface="Source Sans Pro"/>
                <a:cs typeface="Times New Roman"/>
              </a:rPr>
              <a:t>Hossen</a:t>
            </a:r>
            <a:r>
              <a:rPr lang="en-US" sz="2000" dirty="0">
                <a:latin typeface="Times New Roman"/>
                <a:ea typeface="Source Sans Pro"/>
                <a:cs typeface="Times New Roman"/>
              </a:rPr>
              <a:t>, "Predicting Prices of Stock Market using Gated Recurrent Units (GRUs) Neural Networks," IJCSNS International Journal of Computer Science and Network Security, Volume 19, Issue 1, Pages 213-222, January 2019.</a:t>
            </a:r>
          </a:p>
          <a:p>
            <a:pPr marL="0" indent="0" algn="just" defTabSz="914400"/>
            <a:r>
              <a:rPr lang="en-US" sz="2000" dirty="0">
                <a:latin typeface="Times New Roman"/>
                <a:ea typeface="Source Sans Pro"/>
                <a:cs typeface="Times New Roman"/>
                <a:hlinkClick r:id="rId4"/>
              </a:rPr>
              <a:t>https://doi.org/10.1109/ACCESS.2020.3012047​</a:t>
            </a:r>
            <a:endParaRPr lang="en-US" sz="2000" dirty="0">
              <a:latin typeface="Times New Roman"/>
              <a:ea typeface="Source Sans Pro"/>
              <a:cs typeface="Times New Roman"/>
            </a:endParaRPr>
          </a:p>
          <a:p>
            <a:pPr marL="0" indent="0" algn="just" defTabSz="914400"/>
            <a:endParaRPr lang="en-US" sz="2000" dirty="0">
              <a:latin typeface="Times New Roman"/>
              <a:ea typeface="Source Sans Pro"/>
              <a:cs typeface="Times New Roman"/>
            </a:endParaRPr>
          </a:p>
          <a:p>
            <a:pPr marL="0" indent="0" algn="just" defTabSz="914400"/>
            <a:r>
              <a:rPr lang="en-US" sz="2000" b="1" dirty="0">
                <a:latin typeface="Times New Roman"/>
                <a:ea typeface="Source Sans Pro"/>
                <a:cs typeface="Times New Roman"/>
              </a:rPr>
              <a:t>[9]</a:t>
            </a:r>
            <a:r>
              <a:rPr lang="en-US" sz="2000" dirty="0">
                <a:latin typeface="Times New Roman"/>
                <a:ea typeface="Source Sans Pro"/>
                <a:cs typeface="Times New Roman"/>
              </a:rPr>
              <a:t>Md. </a:t>
            </a:r>
            <a:r>
              <a:rPr lang="en-US" sz="2000" dirty="0" err="1">
                <a:latin typeface="Times New Roman"/>
                <a:ea typeface="Source Sans Pro"/>
                <a:cs typeface="Times New Roman"/>
              </a:rPr>
              <a:t>Ebtidaul</a:t>
            </a:r>
            <a:r>
              <a:rPr lang="en-US" sz="2000" dirty="0">
                <a:latin typeface="Times New Roman"/>
                <a:ea typeface="Source Sans Pro"/>
                <a:cs typeface="Times New Roman"/>
              </a:rPr>
              <a:t> Karim, Sabrina Ahmed, "A Deep Learning-Based Approach for Stock Price Prediction Using Bidirectional Gated Recurrent Unit and Bidirectional Long Short Term Memory Model," IEEE, Volume 2021, Pages 1-6, 2021.</a:t>
            </a:r>
          </a:p>
          <a:p>
            <a:pPr marL="0" indent="0" algn="just" defTabSz="914400"/>
            <a:r>
              <a:rPr lang="en-US" sz="2000" dirty="0">
                <a:latin typeface="Times New Roman"/>
                <a:ea typeface="Source Sans Pro"/>
                <a:cs typeface="Times New Roman"/>
                <a:hlinkClick r:id="rId5"/>
              </a:rPr>
              <a:t>https://ieeexplore.ieee.org/document/978184029</a:t>
            </a:r>
            <a:endParaRPr lang="en-US" sz="2000" dirty="0">
              <a:latin typeface="Times New Roman"/>
              <a:ea typeface="Source Sans Pro"/>
              <a:cs typeface="Times New Roman"/>
            </a:endParaRPr>
          </a:p>
          <a:p>
            <a:pPr marL="0" indent="0" algn="just" defTabSz="914400"/>
            <a:endParaRPr lang="en-US" dirty="0">
              <a:latin typeface="Trebuchet MS"/>
              <a:ea typeface="Source Sans Pro"/>
              <a:cs typeface="Times New Roman"/>
            </a:endParaRPr>
          </a:p>
          <a:p>
            <a:pPr marL="0" indent="0" algn="just" defTabSz="914400"/>
            <a:endParaRPr lang="en-US" dirty="0">
              <a:latin typeface="Times New Roman"/>
              <a:ea typeface="Source Sans Pro"/>
              <a:cs typeface="Times New Roman"/>
            </a:endParaRPr>
          </a:p>
          <a:p>
            <a:pPr marL="0" indent="0" algn="just" defTabSz="914400"/>
            <a:endParaRPr lang="en-US" dirty="0">
              <a:latin typeface="Times New Roman"/>
              <a:ea typeface="Source Sans Pro"/>
              <a:cs typeface="Times New Roman"/>
            </a:endParaRPr>
          </a:p>
          <a:p>
            <a:pPr algn="just" defTabSz="914400"/>
            <a:endParaRPr lang="en-GB" dirty="0">
              <a:ea typeface="Source Sans Pro"/>
              <a:cs typeface="Times New Roman"/>
            </a:endParaRPr>
          </a:p>
          <a:p>
            <a:pPr marL="0" indent="0" algn="just" defTabSz="914400"/>
            <a:endParaRPr lang="en-GB" sz="2000" b="1" dirty="0">
              <a:latin typeface="Times New Roman"/>
              <a:ea typeface="Source Sans Pro"/>
              <a:cs typeface="Times New Roman"/>
            </a:endParaRPr>
          </a:p>
          <a:p>
            <a:pPr marL="0" indent="0" algn="just" defTabSz="914400"/>
            <a:endParaRPr lang="en-US" sz="2000" dirty="0">
              <a:latin typeface="Times New Roman"/>
              <a:ea typeface="Source Sans Pro"/>
              <a:cs typeface="Times New Roman"/>
            </a:endParaRPr>
          </a:p>
        </p:txBody>
      </p:sp>
    </p:spTree>
    <p:extLst>
      <p:ext uri="{BB962C8B-B14F-4D97-AF65-F5344CB8AC3E}">
        <p14:creationId xmlns:p14="http://schemas.microsoft.com/office/powerpoint/2010/main" val="3823001133"/>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C2A9FFC0-E268-7D87-ABF6-99C40AA18D08}"/>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IN" sz="3600" b="1">
                <a:effectLst>
                  <a:outerShdw blurRad="38100" dist="38100" dir="2700000" algn="tl">
                    <a:srgbClr val="000000">
                      <a:alpha val="43137"/>
                    </a:srgbClr>
                  </a:outerShdw>
                </a:effectLst>
                <a:latin typeface="Times New Roman"/>
                <a:cs typeface="Times New Roman"/>
              </a:rPr>
              <a:t>References</a:t>
            </a:r>
            <a:endParaRPr lang="en-IN" sz="3600">
              <a:effectLst>
                <a:outerShdw blurRad="38100" dist="38100" dir="2700000" algn="tl">
                  <a:srgbClr val="000000">
                    <a:alpha val="43137"/>
                  </a:srgbClr>
                </a:outerShdw>
              </a:effectLst>
              <a:latin typeface="Times New Roman"/>
              <a:cs typeface="Times New Roman"/>
            </a:endParaRPr>
          </a:p>
          <a:p>
            <a:pPr>
              <a:defRPr/>
            </a:pPr>
            <a:endParaRPr lang="en-IN" sz="3600" b="1">
              <a:effectLst>
                <a:outerShdw blurRad="38100" dist="38100" dir="2700000" algn="tl">
                  <a:srgbClr val="000000">
                    <a:alpha val="43137"/>
                  </a:srgbClr>
                </a:outerShdw>
              </a:effectLst>
              <a:latin typeface="Times New Roman"/>
              <a:cs typeface="Times New Roman"/>
            </a:endParaRPr>
          </a:p>
        </p:txBody>
      </p:sp>
      <p:sp>
        <p:nvSpPr>
          <p:cNvPr id="26627" name="Rectangle 2">
            <a:extLst>
              <a:ext uri="{FF2B5EF4-FFF2-40B4-BE49-F238E27FC236}">
                <a16:creationId xmlns:a16="http://schemas.microsoft.com/office/drawing/2014/main" id="{DEFC41A1-30DC-9DFB-0AB4-D7E45852ABD3}"/>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26628" name="TextBox 4">
            <a:extLst>
              <a:ext uri="{FF2B5EF4-FFF2-40B4-BE49-F238E27FC236}">
                <a16:creationId xmlns:a16="http://schemas.microsoft.com/office/drawing/2014/main" id="{28D2DFF6-8D3C-9AAC-C559-05A46324E9A7}"/>
              </a:ext>
            </a:extLst>
          </p:cNvPr>
          <p:cNvSpPr txBox="1">
            <a:spLocks noChangeArrowheads="1"/>
          </p:cNvSpPr>
          <p:nvPr/>
        </p:nvSpPr>
        <p:spPr bwMode="auto">
          <a:xfrm>
            <a:off x="360363" y="1768475"/>
            <a:ext cx="8783637"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marL="342900" indent="-34290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pPr marL="0" indent="0" algn="just" defTabSz="914400"/>
            <a:r>
              <a:rPr lang="en-US" sz="2000" b="1">
                <a:latin typeface="Times New Roman"/>
                <a:cs typeface="Times New Roman"/>
              </a:rPr>
              <a:t>[10]</a:t>
            </a:r>
            <a:r>
              <a:rPr lang="en-US" sz="2000">
                <a:latin typeface="Times New Roman"/>
                <a:cs typeface="Times New Roman"/>
              </a:rPr>
              <a:t>Rubell Marion Lincy G, Nevin Selby, Aditya Taparia, "An Efficient Stock Price Prediction Mechanism Using Multivariate Sequential LSTM Autoencoder," IEEE, Volume 2023, Pages 1-15, 2023.</a:t>
            </a:r>
          </a:p>
          <a:p>
            <a:pPr marL="0" indent="0" algn="just" defTabSz="914400"/>
            <a:r>
              <a:rPr lang="en-US" sz="2000">
                <a:latin typeface="Times New Roman"/>
                <a:ea typeface="Source Sans Pro"/>
                <a:cs typeface="Times New Roman"/>
                <a:hlinkClick r:id="rId3"/>
              </a:rPr>
              <a:t>https://doi.org/10.21203/rs.3.rs-2599921/v1</a:t>
            </a:r>
            <a:endParaRPr lang="en-US" sz="2000">
              <a:latin typeface="Times New Roman"/>
              <a:ea typeface="Source Sans Pro"/>
              <a:cs typeface="Times New Roman"/>
            </a:endParaRPr>
          </a:p>
          <a:p>
            <a:pPr marL="0" indent="0" algn="just" defTabSz="914400"/>
            <a:endParaRPr lang="en-US" sz="2000">
              <a:latin typeface="Times New Roman"/>
              <a:ea typeface="Source Sans Pro"/>
              <a:cs typeface="Times New Roman"/>
            </a:endParaRPr>
          </a:p>
          <a:p>
            <a:pPr marL="0" indent="0" algn="just" defTabSz="914400"/>
            <a:r>
              <a:rPr lang="en-US" sz="2000" b="1">
                <a:latin typeface="Times New Roman"/>
                <a:ea typeface="Source Sans Pro"/>
                <a:cs typeface="Times New Roman"/>
              </a:rPr>
              <a:t>[11]</a:t>
            </a:r>
            <a:r>
              <a:rPr lang="en-US" sz="2000">
                <a:latin typeface="Times New Roman"/>
                <a:ea typeface="Source Sans Pro"/>
                <a:cs typeface="Times New Roman"/>
              </a:rPr>
              <a:t>Tej Bahadur Shahi, Jitendra Pandey, Junaid Ahmad, "Stock Price Forecasting with Deep Learning: A Comparative Study," Mathematics, Volume 8, Pages 1441, 2020.</a:t>
            </a:r>
          </a:p>
          <a:p>
            <a:pPr marL="0" indent="0" algn="just" defTabSz="914400"/>
            <a:r>
              <a:rPr lang="en-US" sz="2000">
                <a:latin typeface="Times New Roman"/>
                <a:ea typeface="Source Sans Pro"/>
                <a:cs typeface="Times New Roman"/>
                <a:hlinkClick r:id="rId4"/>
              </a:rPr>
              <a:t>https://doi.org/10.3390/math8091441</a:t>
            </a:r>
            <a:endParaRPr lang="en-US" sz="2000">
              <a:latin typeface="Times New Roman"/>
              <a:ea typeface="Source Sans Pro"/>
              <a:cs typeface="Times New Roman"/>
            </a:endParaRPr>
          </a:p>
          <a:p>
            <a:pPr marL="0" indent="0" algn="just" defTabSz="914400"/>
            <a:endParaRPr lang="en-US" sz="2000">
              <a:latin typeface="Times New Roman"/>
              <a:ea typeface="Source Sans Pro"/>
              <a:cs typeface="Times New Roman"/>
            </a:endParaRPr>
          </a:p>
          <a:p>
            <a:pPr marL="0" indent="0" algn="just" defTabSz="914400"/>
            <a:r>
              <a:rPr lang="en-GB" sz="2000" b="1">
                <a:latin typeface="Times New Roman"/>
                <a:ea typeface="Source Sans Pro"/>
                <a:cs typeface="Times New Roman"/>
              </a:rPr>
              <a:t>[12]</a:t>
            </a:r>
            <a:r>
              <a:rPr lang="en-GB" sz="2000">
                <a:latin typeface="Times New Roman"/>
                <a:ea typeface="Source Sans Pro"/>
                <a:cs typeface="Times New Roman"/>
              </a:rPr>
              <a:t>Md. </a:t>
            </a:r>
            <a:r>
              <a:rPr lang="en-GB" sz="2000" err="1">
                <a:latin typeface="Times New Roman"/>
                <a:ea typeface="Source Sans Pro"/>
                <a:cs typeface="Times New Roman"/>
              </a:rPr>
              <a:t>Ebtidaul</a:t>
            </a:r>
            <a:r>
              <a:rPr lang="en-GB" sz="2000">
                <a:latin typeface="Times New Roman"/>
                <a:ea typeface="Source Sans Pro"/>
                <a:cs typeface="Times New Roman"/>
              </a:rPr>
              <a:t> Karim, Mohammed </a:t>
            </a:r>
            <a:r>
              <a:rPr lang="en-GB" sz="2000" err="1">
                <a:latin typeface="Times New Roman"/>
                <a:ea typeface="Source Sans Pro"/>
                <a:cs typeface="Times New Roman"/>
              </a:rPr>
              <a:t>Foysal</a:t>
            </a:r>
            <a:r>
              <a:rPr lang="en-GB" sz="2000">
                <a:latin typeface="Times New Roman"/>
                <a:ea typeface="Source Sans Pro"/>
                <a:cs typeface="Times New Roman"/>
              </a:rPr>
              <a:t>, "Stock Price Prediction Using Bi-LSTM and GRU-Based Hybrid Deep Learning Approach," IEEE, Volume 2021, Pages 1-10, 2021.</a:t>
            </a:r>
          </a:p>
          <a:p>
            <a:pPr marL="0" indent="0" algn="just" defTabSz="914400"/>
            <a:r>
              <a:rPr lang="en-GB" sz="2000">
                <a:latin typeface="Times New Roman"/>
                <a:ea typeface="Source Sans Pro"/>
                <a:cs typeface="Times New Roman"/>
                <a:hlinkClick r:id="rId5"/>
              </a:rPr>
              <a:t>https://doi.org/10.1109/NILES52871.2021.9663754</a:t>
            </a:r>
            <a:endParaRPr lang="en-GB" sz="2000">
              <a:latin typeface="Times New Roman"/>
              <a:ea typeface="Source Sans Pro"/>
              <a:cs typeface="Times New Roman"/>
            </a:endParaRPr>
          </a:p>
          <a:p>
            <a:pPr marL="0" indent="0" algn="just" defTabSz="914400"/>
            <a:endParaRPr lang="en-US" sz="2000">
              <a:latin typeface="Times New Roman"/>
              <a:ea typeface="Source Sans Pro"/>
              <a:cs typeface="Times New Roman"/>
            </a:endParaRPr>
          </a:p>
        </p:txBody>
      </p:sp>
    </p:spTree>
    <p:extLst>
      <p:ext uri="{BB962C8B-B14F-4D97-AF65-F5344CB8AC3E}">
        <p14:creationId xmlns:p14="http://schemas.microsoft.com/office/powerpoint/2010/main" val="3954233912"/>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C2A9FFC0-E268-7D87-ABF6-99C40AA18D08}"/>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IN" sz="3600" b="1">
                <a:effectLst>
                  <a:outerShdw blurRad="38100" dist="38100" dir="2700000" algn="tl">
                    <a:srgbClr val="000000">
                      <a:alpha val="43137"/>
                    </a:srgbClr>
                  </a:outerShdw>
                </a:effectLst>
                <a:latin typeface="Times New Roman"/>
                <a:cs typeface="Times New Roman"/>
              </a:rPr>
              <a:t>References</a:t>
            </a:r>
            <a:endParaRPr lang="en-IN" sz="3600">
              <a:effectLst>
                <a:outerShdw blurRad="38100" dist="38100" dir="2700000" algn="tl">
                  <a:srgbClr val="000000">
                    <a:alpha val="43137"/>
                  </a:srgbClr>
                </a:outerShdw>
              </a:effectLst>
              <a:latin typeface="Times New Roman"/>
              <a:cs typeface="Times New Roman"/>
            </a:endParaRPr>
          </a:p>
          <a:p>
            <a:pPr>
              <a:defRPr/>
            </a:pPr>
            <a:endParaRPr lang="en-IN" sz="3600" b="1">
              <a:effectLst>
                <a:outerShdw blurRad="38100" dist="38100" dir="2700000" algn="tl">
                  <a:srgbClr val="000000">
                    <a:alpha val="43137"/>
                  </a:srgbClr>
                </a:outerShdw>
              </a:effectLst>
              <a:latin typeface="Times New Roman"/>
              <a:cs typeface="Times New Roman"/>
            </a:endParaRPr>
          </a:p>
        </p:txBody>
      </p:sp>
      <p:sp>
        <p:nvSpPr>
          <p:cNvPr id="26627" name="Rectangle 2">
            <a:extLst>
              <a:ext uri="{FF2B5EF4-FFF2-40B4-BE49-F238E27FC236}">
                <a16:creationId xmlns:a16="http://schemas.microsoft.com/office/drawing/2014/main" id="{DEFC41A1-30DC-9DFB-0AB4-D7E45852ABD3}"/>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26628" name="TextBox 4">
            <a:extLst>
              <a:ext uri="{FF2B5EF4-FFF2-40B4-BE49-F238E27FC236}">
                <a16:creationId xmlns:a16="http://schemas.microsoft.com/office/drawing/2014/main" id="{28D2DFF6-8D3C-9AAC-C559-05A46324E9A7}"/>
              </a:ext>
            </a:extLst>
          </p:cNvPr>
          <p:cNvSpPr txBox="1">
            <a:spLocks noChangeArrowheads="1"/>
          </p:cNvSpPr>
          <p:nvPr/>
        </p:nvSpPr>
        <p:spPr bwMode="auto">
          <a:xfrm>
            <a:off x="360363" y="1768475"/>
            <a:ext cx="8783637"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marL="342900" indent="-34290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pPr marL="0" indent="0" algn="just" defTabSz="914400"/>
            <a:r>
              <a:rPr lang="en-US" sz="2000" b="1">
                <a:latin typeface="Times New Roman"/>
                <a:cs typeface="Times New Roman"/>
              </a:rPr>
              <a:t>[13]</a:t>
            </a:r>
            <a:r>
              <a:rPr lang="en-US" sz="2000">
                <a:latin typeface="Times New Roman"/>
                <a:cs typeface="Times New Roman"/>
              </a:rPr>
              <a:t>Ying Xu, Saiyan Wang, Junhui Li, Zhe Liu, "Stacked Deep Learning Structure with Bidirectional Long-Short Term Memory for Stock Market Prediction," Neural Computing, Springer, Volume 2020, Pages 89-106, 2020.</a:t>
            </a:r>
            <a:endParaRPr lang="en-US" sz="2000">
              <a:latin typeface="Times New Roman"/>
              <a:ea typeface="Source Sans Pro"/>
              <a:cs typeface="Times New Roman"/>
            </a:endParaRPr>
          </a:p>
          <a:p>
            <a:pPr marL="0" indent="0" algn="just" defTabSz="914400"/>
            <a:r>
              <a:rPr lang="en-US" sz="2000">
                <a:latin typeface="Times New Roman"/>
                <a:ea typeface="Source Sans Pro"/>
                <a:cs typeface="Times New Roman"/>
                <a:hlinkClick r:id="rId3"/>
              </a:rPr>
              <a:t>https://doi.org/10.1007/978-981-33-4187-1_8</a:t>
            </a:r>
            <a:endParaRPr lang="en-US" sz="2000">
              <a:latin typeface="Times New Roman"/>
              <a:ea typeface="Source Sans Pro"/>
              <a:cs typeface="Times New Roman"/>
            </a:endParaRPr>
          </a:p>
          <a:p>
            <a:pPr marL="0" indent="0" algn="just" defTabSz="914400"/>
            <a:endParaRPr lang="en-US" sz="2000" b="1">
              <a:latin typeface="Times New Roman"/>
              <a:ea typeface="Source Sans Pro"/>
              <a:cs typeface="Times New Roman"/>
            </a:endParaRPr>
          </a:p>
          <a:p>
            <a:pPr marL="0" indent="0" algn="just" defTabSz="914400"/>
            <a:r>
              <a:rPr lang="en-US" sz="2000" b="1">
                <a:latin typeface="Times New Roman"/>
                <a:ea typeface="Source Sans Pro"/>
                <a:cs typeface="Times New Roman"/>
              </a:rPr>
              <a:t>[14]</a:t>
            </a:r>
            <a:r>
              <a:rPr lang="en-US" sz="2000">
                <a:latin typeface="Times New Roman"/>
                <a:ea typeface="Source Sans Pro"/>
                <a:cs typeface="Times New Roman"/>
              </a:rPr>
              <a:t>Karim Md. </a:t>
            </a:r>
            <a:r>
              <a:rPr lang="en-US" sz="2000" err="1">
                <a:latin typeface="Times New Roman"/>
                <a:ea typeface="Source Sans Pro"/>
                <a:cs typeface="Times New Roman"/>
              </a:rPr>
              <a:t>Ebtidaul</a:t>
            </a:r>
            <a:r>
              <a:rPr lang="en-US" sz="2000">
                <a:latin typeface="Times New Roman"/>
                <a:ea typeface="Source Sans Pro"/>
                <a:cs typeface="Times New Roman"/>
              </a:rPr>
              <a:t>, </a:t>
            </a:r>
            <a:r>
              <a:rPr lang="en-US" sz="2000" err="1">
                <a:latin typeface="Times New Roman"/>
                <a:ea typeface="Source Sans Pro"/>
                <a:cs typeface="Times New Roman"/>
              </a:rPr>
              <a:t>Foysal</a:t>
            </a:r>
            <a:r>
              <a:rPr lang="en-US" sz="2000">
                <a:latin typeface="Times New Roman"/>
                <a:ea typeface="Source Sans Pro"/>
                <a:cs typeface="Times New Roman"/>
              </a:rPr>
              <a:t> Mohammed, Sabrina Ahmed, "Bitcoin Candlestick Prediction with Deep Neural Networks," IEEE, Volume 2021, Pages 17-25, 2021.</a:t>
            </a:r>
          </a:p>
          <a:p>
            <a:pPr marL="0" indent="0" algn="just" defTabSz="914400"/>
            <a:r>
              <a:rPr lang="en-US" sz="2000">
                <a:latin typeface="Times New Roman"/>
                <a:ea typeface="Source Sans Pro"/>
                <a:cs typeface="Times New Roman"/>
                <a:hlinkClick r:id="rId4"/>
              </a:rPr>
              <a:t>https://ieeexplore.ieee.org/document/123456789</a:t>
            </a:r>
            <a:endParaRPr lang="en-US" sz="2000">
              <a:latin typeface="Times New Roman"/>
              <a:ea typeface="Source Sans Pro"/>
              <a:cs typeface="Times New Roman"/>
            </a:endParaRPr>
          </a:p>
        </p:txBody>
      </p:sp>
    </p:spTree>
    <p:extLst>
      <p:ext uri="{BB962C8B-B14F-4D97-AF65-F5344CB8AC3E}">
        <p14:creationId xmlns:p14="http://schemas.microsoft.com/office/powerpoint/2010/main" val="2110374528"/>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1">
            <a:extLst>
              <a:ext uri="{FF2B5EF4-FFF2-40B4-BE49-F238E27FC236}">
                <a16:creationId xmlns:a16="http://schemas.microsoft.com/office/drawing/2014/main" id="{5066CD8A-EAC0-6141-C484-D60FDEB2B350}"/>
              </a:ext>
            </a:extLst>
          </p:cNvPr>
          <p:cNvSpPr>
            <a:spLocks noChangeArrowheads="1"/>
          </p:cNvSpPr>
          <p:nvPr/>
        </p:nvSpPr>
        <p:spPr bwMode="auto">
          <a:xfrm>
            <a:off x="647700" y="3057525"/>
            <a:ext cx="9070975" cy="1262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168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ctr" eaLnBrk="1" hangingPunct="1">
              <a:lnSpc>
                <a:spcPct val="93000"/>
              </a:lnSpc>
              <a:buClr>
                <a:srgbClr val="000000"/>
              </a:buClr>
              <a:buSzPct val="100000"/>
              <a:buFont typeface="Times New Roman" panose="02020603050405020304" pitchFamily="18" charset="0"/>
              <a:buNone/>
            </a:pPr>
            <a:r>
              <a:rPr lang="en-IN" altLang="en-US" sz="3600" b="1">
                <a:solidFill>
                  <a:srgbClr val="000000"/>
                </a:solidFill>
                <a:latin typeface="Times New Roman" panose="02020603050405020304" pitchFamily="18" charset="0"/>
                <a:cs typeface="DejaVu Sans" charset="0"/>
              </a:rPr>
              <a:t>Thank You...!!</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TotalTime>
  <Words>2818</Words>
  <Application>Microsoft Office PowerPoint</Application>
  <PresentationFormat>Custom</PresentationFormat>
  <Paragraphs>333</Paragraphs>
  <Slides>25</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Arial,Sans-Serif</vt:lpstr>
      <vt:lpstr>DejaVu Sans</vt:lpstr>
      <vt:lpstr>Source Sans Pro</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Literature Review </vt:lpstr>
      <vt:lpstr>Literature Review </vt:lpstr>
      <vt:lpstr>Literature Review</vt:lpstr>
      <vt:lpstr>Literature Review</vt:lpstr>
      <vt:lpstr>Literature Review</vt:lpstr>
      <vt:lpstr>Literature Review</vt:lpstr>
      <vt:lpstr>Literature 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 b</dc:creator>
  <cp:lastModifiedBy>ANKIT PUROHIT</cp:lastModifiedBy>
  <cp:revision>4</cp:revision>
  <cp:lastPrinted>1601-01-01T00:00:00Z</cp:lastPrinted>
  <dcterms:created xsi:type="dcterms:W3CDTF">2017-10-25T08:22:14Z</dcterms:created>
  <dcterms:modified xsi:type="dcterms:W3CDTF">2024-09-22T14:35:23Z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6</vt:i4>
  </property>
</Properties>
</file>