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0071100" cy="7556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1pPr>
    <a:lvl2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2pPr>
    <a:lvl3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3pPr>
    <a:lvl4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4pPr>
    <a:lvl5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5pPr>
    <a:lvl6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6pPr>
    <a:lvl7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7pPr>
    <a:lvl8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8pPr>
    <a:lvl9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a:tcStyle>
        <a:tcBdr/>
        <a:fill>
          <a:solidFill>
            <a:srgbClr val="E9F6F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a:tcStyle>
        <a:tcBdr/>
        <a:fill>
          <a:solidFill>
            <a:srgbClr val="E9F6F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23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7" name="Shape 77"/>
          <p:cNvSpPr>
            <a:spLocks noGrp="1" noRot="1" noChangeAspect="1"/>
          </p:cNvSpPr>
          <p:nvPr>
            <p:ph type="sldImg"/>
          </p:nvPr>
        </p:nvSpPr>
        <p:spPr>
          <a:xfrm>
            <a:off x="1143000" y="685800"/>
            <a:ext cx="4572000" cy="3429000"/>
          </a:xfrm>
          <a:prstGeom prst="rect">
            <a:avLst/>
          </a:prstGeom>
        </p:spPr>
        <p:txBody>
          <a:bodyPr/>
          <a:lstStyle/>
          <a:p>
            <a:endParaRPr/>
          </a:p>
        </p:txBody>
      </p:sp>
      <p:sp>
        <p:nvSpPr>
          <p:cNvPr id="78" name="Shape 7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49262" latinLnBrk="0">
      <a:spcBef>
        <a:spcPts val="400"/>
      </a:spcBef>
      <a:defRPr sz="1200">
        <a:latin typeface="+mj-lt"/>
        <a:ea typeface="+mj-ea"/>
        <a:cs typeface="+mj-cs"/>
        <a:sym typeface="Times New Roman"/>
      </a:defRPr>
    </a:lvl1pPr>
    <a:lvl2pPr indent="228600" defTabSz="449262" latinLnBrk="0">
      <a:spcBef>
        <a:spcPts val="400"/>
      </a:spcBef>
      <a:defRPr sz="1200">
        <a:latin typeface="+mj-lt"/>
        <a:ea typeface="+mj-ea"/>
        <a:cs typeface="+mj-cs"/>
        <a:sym typeface="Times New Roman"/>
      </a:defRPr>
    </a:lvl2pPr>
    <a:lvl3pPr indent="457200" defTabSz="449262" latinLnBrk="0">
      <a:spcBef>
        <a:spcPts val="400"/>
      </a:spcBef>
      <a:defRPr sz="1200">
        <a:latin typeface="+mj-lt"/>
        <a:ea typeface="+mj-ea"/>
        <a:cs typeface="+mj-cs"/>
        <a:sym typeface="Times New Roman"/>
      </a:defRPr>
    </a:lvl3pPr>
    <a:lvl4pPr indent="685800" defTabSz="449262" latinLnBrk="0">
      <a:spcBef>
        <a:spcPts val="400"/>
      </a:spcBef>
      <a:defRPr sz="1200">
        <a:latin typeface="+mj-lt"/>
        <a:ea typeface="+mj-ea"/>
        <a:cs typeface="+mj-cs"/>
        <a:sym typeface="Times New Roman"/>
      </a:defRPr>
    </a:lvl4pPr>
    <a:lvl5pPr indent="914400" defTabSz="449262" latinLnBrk="0">
      <a:spcBef>
        <a:spcPts val="400"/>
      </a:spcBef>
      <a:defRPr sz="1200">
        <a:latin typeface="+mj-lt"/>
        <a:ea typeface="+mj-ea"/>
        <a:cs typeface="+mj-cs"/>
        <a:sym typeface="Times New Roman"/>
      </a:defRPr>
    </a:lvl5pPr>
    <a:lvl6pPr indent="1143000" defTabSz="449262" latinLnBrk="0">
      <a:spcBef>
        <a:spcPts val="400"/>
      </a:spcBef>
      <a:defRPr sz="1200">
        <a:latin typeface="+mj-lt"/>
        <a:ea typeface="+mj-ea"/>
        <a:cs typeface="+mj-cs"/>
        <a:sym typeface="Times New Roman"/>
      </a:defRPr>
    </a:lvl6pPr>
    <a:lvl7pPr indent="1371600" defTabSz="449262" latinLnBrk="0">
      <a:spcBef>
        <a:spcPts val="400"/>
      </a:spcBef>
      <a:defRPr sz="1200">
        <a:latin typeface="+mj-lt"/>
        <a:ea typeface="+mj-ea"/>
        <a:cs typeface="+mj-cs"/>
        <a:sym typeface="Times New Roman"/>
      </a:defRPr>
    </a:lvl7pPr>
    <a:lvl8pPr indent="1600200" defTabSz="449262" latinLnBrk="0">
      <a:spcBef>
        <a:spcPts val="400"/>
      </a:spcBef>
      <a:defRPr sz="1200">
        <a:latin typeface="+mj-lt"/>
        <a:ea typeface="+mj-ea"/>
        <a:cs typeface="+mj-cs"/>
        <a:sym typeface="Times New Roman"/>
      </a:defRPr>
    </a:lvl8pPr>
    <a:lvl9pPr indent="1828800" defTabSz="449262" latinLnBrk="0">
      <a:spcBef>
        <a:spcPts val="400"/>
      </a:spcBef>
      <a:defRPr sz="1200">
        <a:latin typeface="+mj-lt"/>
        <a:ea typeface="+mj-ea"/>
        <a:cs typeface="+mj-cs"/>
        <a:sym typeface="Times New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0">
    <p:spTree>
      <p:nvGrpSpPr>
        <p:cNvPr id="1" name=""/>
        <p:cNvGrpSpPr/>
        <p:nvPr/>
      </p:nvGrpSpPr>
      <p:grpSpPr>
        <a:xfrm>
          <a:off x="0" y="0"/>
          <a:ext cx="0" cy="0"/>
          <a:chOff x="0" y="0"/>
          <a:chExt cx="0" cy="0"/>
        </a:xfrm>
      </p:grpSpPr>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grpSp>
        <p:nvGrpSpPr>
          <p:cNvPr id="46" name="Group"/>
          <p:cNvGrpSpPr/>
          <p:nvPr/>
        </p:nvGrpSpPr>
        <p:grpSpPr>
          <a:xfrm>
            <a:off x="-9532" y="-9531"/>
            <a:ext cx="10110800" cy="7578732"/>
            <a:chOff x="-1" y="-2"/>
            <a:chExt cx="10110798" cy="7578730"/>
          </a:xfrm>
        </p:grpSpPr>
        <p:sp>
          <p:nvSpPr>
            <p:cNvPr id="36" name="Line"/>
            <p:cNvSpPr/>
            <p:nvPr/>
          </p:nvSpPr>
          <p:spPr>
            <a:xfrm flipV="1">
              <a:off x="5665793" y="4611690"/>
              <a:ext cx="4433892" cy="2957515"/>
            </a:xfrm>
            <a:prstGeom prst="line">
              <a:avLst/>
            </a:prstGeom>
            <a:noFill/>
            <a:ln w="9525" cap="rnd">
              <a:solidFill>
                <a:schemeClr val="accent1">
                  <a:alpha val="70195"/>
                </a:schemeClr>
              </a:solidFill>
              <a:prstDash val="solid"/>
              <a:round/>
            </a:ln>
            <a:effectLst/>
          </p:spPr>
          <p:txBody>
            <a:bodyPr wrap="square" lIns="45718" tIns="45718" rIns="45718" bIns="45718" numCol="1" anchor="t">
              <a:noAutofit/>
            </a:bodyPr>
            <a:lstStyle/>
            <a:p>
              <a:endParaRPr/>
            </a:p>
          </p:txBody>
        </p:sp>
        <p:sp>
          <p:nvSpPr>
            <p:cNvPr id="37" name="Line"/>
            <p:cNvSpPr/>
            <p:nvPr/>
          </p:nvSpPr>
          <p:spPr>
            <a:xfrm>
              <a:off x="7773993" y="9524"/>
              <a:ext cx="1343029" cy="7559681"/>
            </a:xfrm>
            <a:prstGeom prst="line">
              <a:avLst/>
            </a:prstGeom>
            <a:noFill/>
            <a:ln w="9525" cap="rnd">
              <a:solidFill>
                <a:schemeClr val="accent1">
                  <a:alpha val="70195"/>
                </a:schemeClr>
              </a:solidFill>
              <a:prstDash val="solid"/>
              <a:round/>
            </a:ln>
            <a:effectLst/>
          </p:spPr>
          <p:txBody>
            <a:bodyPr wrap="square" lIns="45718" tIns="45718" rIns="45718" bIns="45718" numCol="1" anchor="t">
              <a:noAutofit/>
            </a:bodyPr>
            <a:lstStyle/>
            <a:p>
              <a:endParaRPr/>
            </a:p>
          </p:txBody>
        </p:sp>
        <p:sp>
          <p:nvSpPr>
            <p:cNvPr id="38" name="Shape"/>
            <p:cNvSpPr/>
            <p:nvPr/>
          </p:nvSpPr>
          <p:spPr>
            <a:xfrm>
              <a:off x="7607306" y="9523"/>
              <a:ext cx="2501772" cy="7569206"/>
            </a:xfrm>
            <a:custGeom>
              <a:avLst/>
              <a:gdLst/>
              <a:ahLst/>
              <a:cxnLst>
                <a:cxn ang="0">
                  <a:pos x="wd2" y="hd2"/>
                </a:cxn>
                <a:cxn ang="5400000">
                  <a:pos x="wd2" y="hd2"/>
                </a:cxn>
                <a:cxn ang="10800000">
                  <a:pos x="wd2" y="hd2"/>
                </a:cxn>
                <a:cxn ang="16200000">
                  <a:pos x="wd2" y="hd2"/>
                </a:cxn>
              </a:cxnLst>
              <a:rect l="0" t="0" r="r" b="b"/>
              <a:pathLst>
                <a:path w="21577" h="21600" extrusionOk="0">
                  <a:moveTo>
                    <a:pt x="19239" y="0"/>
                  </a:moveTo>
                  <a:lnTo>
                    <a:pt x="0" y="21573"/>
                  </a:lnTo>
                  <a:lnTo>
                    <a:pt x="21573" y="21600"/>
                  </a:lnTo>
                  <a:cubicBezTo>
                    <a:pt x="21600" y="14409"/>
                    <a:pt x="21466" y="7218"/>
                    <a:pt x="21493" y="27"/>
                  </a:cubicBezTo>
                  <a:lnTo>
                    <a:pt x="19239" y="0"/>
                  </a:lnTo>
                  <a:close/>
                </a:path>
              </a:pathLst>
            </a:custGeom>
            <a:solidFill>
              <a:schemeClr val="accent1">
                <a:alpha val="36077"/>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39" name="Shape"/>
            <p:cNvSpPr/>
            <p:nvPr/>
          </p:nvSpPr>
          <p:spPr>
            <a:xfrm>
              <a:off x="7951793" y="-3"/>
              <a:ext cx="2147846" cy="7569208"/>
            </a:xfrm>
            <a:custGeom>
              <a:avLst/>
              <a:gdLst/>
              <a:ahLst/>
              <a:cxnLst>
                <a:cxn ang="0">
                  <a:pos x="wd2" y="hd2"/>
                </a:cxn>
                <a:cxn ang="5400000">
                  <a:pos x="wd2" y="hd2"/>
                </a:cxn>
                <a:cxn ang="10800000">
                  <a:pos x="wd2" y="hd2"/>
                </a:cxn>
                <a:cxn ang="16200000">
                  <a:pos x="wd2" y="hd2"/>
                </a:cxn>
              </a:cxnLst>
              <a:rect l="0" t="0" r="r" b="b"/>
              <a:pathLst>
                <a:path w="21578" h="21600" extrusionOk="0">
                  <a:moveTo>
                    <a:pt x="0" y="0"/>
                  </a:moveTo>
                  <a:lnTo>
                    <a:pt x="13316" y="21600"/>
                  </a:lnTo>
                  <a:lnTo>
                    <a:pt x="21569" y="21600"/>
                  </a:lnTo>
                  <a:cubicBezTo>
                    <a:pt x="21537" y="14400"/>
                    <a:pt x="21600" y="7200"/>
                    <a:pt x="21569" y="0"/>
                  </a:cubicBezTo>
                  <a:lnTo>
                    <a:pt x="0" y="0"/>
                  </a:lnTo>
                  <a:close/>
                </a:path>
              </a:pathLst>
            </a:custGeom>
            <a:solidFill>
              <a:schemeClr val="accent1">
                <a:alpha val="19999"/>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0" name="Shape"/>
            <p:cNvSpPr/>
            <p:nvPr/>
          </p:nvSpPr>
          <p:spPr>
            <a:xfrm>
              <a:off x="7327906" y="4330700"/>
              <a:ext cx="2770192" cy="323850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44" y="0"/>
                  </a:lnTo>
                  <a:cubicBezTo>
                    <a:pt x="21563" y="7200"/>
                    <a:pt x="21581" y="14400"/>
                    <a:pt x="21600" y="21600"/>
                  </a:cubicBezTo>
                  <a:lnTo>
                    <a:pt x="0" y="21600"/>
                  </a:lnTo>
                  <a:close/>
                </a:path>
              </a:pathLst>
            </a:custGeom>
            <a:solidFill>
              <a:srgbClr val="17B0E4">
                <a:alpha val="65881"/>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1" name="Shape"/>
            <p:cNvSpPr/>
            <p:nvPr/>
          </p:nvSpPr>
          <p:spPr>
            <a:xfrm>
              <a:off x="7737480" y="-3"/>
              <a:ext cx="2362206" cy="756920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716" y="21600"/>
                  </a:lnTo>
                  <a:lnTo>
                    <a:pt x="21600" y="21573"/>
                  </a:lnTo>
                  <a:lnTo>
                    <a:pt x="21600" y="0"/>
                  </a:lnTo>
                  <a:lnTo>
                    <a:pt x="0" y="0"/>
                  </a:lnTo>
                  <a:close/>
                </a:path>
              </a:pathLst>
            </a:custGeom>
            <a:solidFill>
              <a:srgbClr val="17B0E4">
                <a:alpha val="50195"/>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2" name="Shape"/>
            <p:cNvSpPr/>
            <p:nvPr/>
          </p:nvSpPr>
          <p:spPr>
            <a:xfrm>
              <a:off x="9155118" y="-3"/>
              <a:ext cx="944566" cy="7569208"/>
            </a:xfrm>
            <a:custGeom>
              <a:avLst/>
              <a:gdLst/>
              <a:ahLst/>
              <a:cxnLst>
                <a:cxn ang="0">
                  <a:pos x="wd2" y="hd2"/>
                </a:cxn>
                <a:cxn ang="5400000">
                  <a:pos x="wd2" y="hd2"/>
                </a:cxn>
                <a:cxn ang="10800000">
                  <a:pos x="wd2" y="hd2"/>
                </a:cxn>
                <a:cxn ang="16200000">
                  <a:pos x="wd2" y="hd2"/>
                </a:cxn>
              </a:cxnLst>
              <a:rect l="0" t="0" r="r" b="b"/>
              <a:pathLst>
                <a:path w="21600" h="21600" extrusionOk="0">
                  <a:moveTo>
                    <a:pt x="17053" y="0"/>
                  </a:moveTo>
                  <a:lnTo>
                    <a:pt x="0" y="21600"/>
                  </a:lnTo>
                  <a:lnTo>
                    <a:pt x="21600" y="21600"/>
                  </a:lnTo>
                  <a:cubicBezTo>
                    <a:pt x="21553" y="14400"/>
                    <a:pt x="21505" y="7200"/>
                    <a:pt x="21458" y="0"/>
                  </a:cubicBezTo>
                  <a:lnTo>
                    <a:pt x="17053" y="0"/>
                  </a:lnTo>
                  <a:close/>
                </a:path>
              </a:pathLst>
            </a:custGeom>
            <a:solidFill>
              <a:schemeClr val="accent2">
                <a:alpha val="70195"/>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3" name="Shape"/>
            <p:cNvSpPr/>
            <p:nvPr/>
          </p:nvSpPr>
          <p:spPr>
            <a:xfrm>
              <a:off x="8932868" y="-3"/>
              <a:ext cx="1176371" cy="7569208"/>
            </a:xfrm>
            <a:custGeom>
              <a:avLst/>
              <a:gdLst/>
              <a:ahLst/>
              <a:cxnLst>
                <a:cxn ang="0">
                  <a:pos x="wd2" y="hd2"/>
                </a:cxn>
                <a:cxn ang="5400000">
                  <a:pos x="wd2" y="hd2"/>
                </a:cxn>
                <a:cxn ang="10800000">
                  <a:pos x="wd2" y="hd2"/>
                </a:cxn>
                <a:cxn ang="16200000">
                  <a:pos x="wd2" y="hd2"/>
                </a:cxn>
              </a:cxnLst>
              <a:rect l="0" t="0" r="r" b="b"/>
              <a:pathLst>
                <a:path w="21556" h="21600" extrusionOk="0">
                  <a:moveTo>
                    <a:pt x="0" y="0"/>
                  </a:moveTo>
                  <a:lnTo>
                    <a:pt x="18966" y="21600"/>
                  </a:lnTo>
                  <a:lnTo>
                    <a:pt x="21552" y="21600"/>
                  </a:lnTo>
                  <a:cubicBezTo>
                    <a:pt x="21600" y="14391"/>
                    <a:pt x="21217" y="7209"/>
                    <a:pt x="21265" y="0"/>
                  </a:cubicBezTo>
                  <a:lnTo>
                    <a:pt x="0" y="0"/>
                  </a:lnTo>
                  <a:close/>
                </a:path>
              </a:pathLst>
            </a:custGeom>
            <a:solidFill>
              <a:srgbClr val="236292">
                <a:alpha val="81959"/>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4" name="Shape"/>
            <p:cNvSpPr/>
            <p:nvPr/>
          </p:nvSpPr>
          <p:spPr>
            <a:xfrm>
              <a:off x="8904293" y="5403850"/>
              <a:ext cx="1206505" cy="216535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00" y="0"/>
                  </a:lnTo>
                  <a:cubicBezTo>
                    <a:pt x="21533" y="7181"/>
                    <a:pt x="21567" y="14363"/>
                    <a:pt x="21600" y="21544"/>
                  </a:cubicBezTo>
                  <a:lnTo>
                    <a:pt x="0" y="21600"/>
                  </a:lnTo>
                  <a:close/>
                </a:path>
              </a:pathLst>
            </a:custGeom>
            <a:solidFill>
              <a:srgbClr val="17B0E4">
                <a:alpha val="65881"/>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45" name="Shape"/>
            <p:cNvSpPr/>
            <p:nvPr/>
          </p:nvSpPr>
          <p:spPr>
            <a:xfrm>
              <a:off x="-2" y="-1"/>
              <a:ext cx="952508" cy="6281743"/>
            </a:xfrm>
            <a:custGeom>
              <a:avLst/>
              <a:gdLst/>
              <a:ahLst/>
              <a:cxnLst>
                <a:cxn ang="0">
                  <a:pos x="wd2" y="hd2"/>
                </a:cxn>
                <a:cxn ang="5400000">
                  <a:pos x="wd2" y="hd2"/>
                </a:cxn>
                <a:cxn ang="10800000">
                  <a:pos x="wd2" y="hd2"/>
                </a:cxn>
                <a:cxn ang="16200000">
                  <a:pos x="wd2" y="hd2"/>
                </a:cxn>
              </a:cxnLst>
              <a:rect l="0" t="0" r="r" b="b"/>
              <a:pathLst>
                <a:path w="21600" h="21600" extrusionOk="0">
                  <a:moveTo>
                    <a:pt x="0" y="32"/>
                  </a:moveTo>
                  <a:lnTo>
                    <a:pt x="21600" y="0"/>
                  </a:lnTo>
                  <a:lnTo>
                    <a:pt x="21600" y="64"/>
                  </a:lnTo>
                  <a:lnTo>
                    <a:pt x="0" y="21600"/>
                  </a:lnTo>
                  <a:lnTo>
                    <a:pt x="0" y="32"/>
                  </a:lnTo>
                  <a:close/>
                </a:path>
              </a:pathLst>
            </a:custGeom>
            <a:solidFill>
              <a:schemeClr val="accent1">
                <a:alpha val="85096"/>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grpSp>
      <p:sp>
        <p:nvSpPr>
          <p:cNvPr id="47"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48" name="Body Level One…"/>
          <p:cNvSpPr txBox="1">
            <a:spLocks noGrp="1"/>
          </p:cNvSpPr>
          <p:nvPr>
            <p:ph type="body" sz="half" idx="1"/>
          </p:nvPr>
        </p:nvSpPr>
        <p:spPr>
          <a:xfrm>
            <a:off x="671512" y="2381250"/>
            <a:ext cx="6997701" cy="427831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56" name="“"/>
          <p:cNvSpPr txBox="1"/>
          <p:nvPr/>
        </p:nvSpPr>
        <p:spPr>
          <a:xfrm>
            <a:off x="582208" y="513982"/>
            <a:ext cx="404034" cy="1359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396" tIns="50396" rIns="50396" bIns="50396" anchor="ctr">
            <a:spAutoFit/>
          </a:bodyPr>
          <a:lstStyle>
            <a:lvl1pPr defTabSz="503237">
              <a:defRPr sz="8800">
                <a:solidFill>
                  <a:srgbClr val="9FE0F5"/>
                </a:solidFill>
                <a:latin typeface="Arial"/>
                <a:ea typeface="Arial"/>
                <a:cs typeface="Arial"/>
                <a:sym typeface="Arial"/>
              </a:defRPr>
            </a:lvl1pPr>
          </a:lstStyle>
          <a:p>
            <a:r>
              <a:t>“</a:t>
            </a:r>
          </a:p>
        </p:txBody>
      </p:sp>
      <p:sp>
        <p:nvSpPr>
          <p:cNvPr id="57" name="”"/>
          <p:cNvSpPr txBox="1"/>
          <p:nvPr/>
        </p:nvSpPr>
        <p:spPr>
          <a:xfrm>
            <a:off x="7489421" y="2823795"/>
            <a:ext cx="402446" cy="1359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396" tIns="50396" rIns="50396" bIns="50396" anchor="ctr">
            <a:spAutoFit/>
          </a:bodyPr>
          <a:lstStyle>
            <a:lvl1pPr defTabSz="503237">
              <a:defRPr sz="8800">
                <a:solidFill>
                  <a:srgbClr val="9FE0F5"/>
                </a:solidFill>
                <a:latin typeface="Arial"/>
                <a:ea typeface="Arial"/>
                <a:cs typeface="Arial"/>
                <a:sym typeface="Arial"/>
              </a:defRPr>
            </a:lvl1pPr>
          </a:lstStyle>
          <a:p>
            <a:r>
              <a:t>”</a:t>
            </a:r>
          </a:p>
        </p:txBody>
      </p:sp>
      <p:sp>
        <p:nvSpPr>
          <p:cNvPr id="58"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59" name="Body Level One…"/>
          <p:cNvSpPr txBox="1">
            <a:spLocks noGrp="1"/>
          </p:cNvSpPr>
          <p:nvPr>
            <p:ph type="body" sz="half" idx="1"/>
          </p:nvPr>
        </p:nvSpPr>
        <p:spPr>
          <a:xfrm>
            <a:off x="671512" y="2381250"/>
            <a:ext cx="6997701" cy="427831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7" name="“"/>
          <p:cNvSpPr txBox="1"/>
          <p:nvPr/>
        </p:nvSpPr>
        <p:spPr>
          <a:xfrm>
            <a:off x="582208" y="513982"/>
            <a:ext cx="404034" cy="1359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396" tIns="50396" rIns="50396" bIns="50396" anchor="ctr">
            <a:spAutoFit/>
          </a:bodyPr>
          <a:lstStyle>
            <a:lvl1pPr defTabSz="503237">
              <a:defRPr sz="8800">
                <a:solidFill>
                  <a:srgbClr val="9FE0F5"/>
                </a:solidFill>
                <a:latin typeface="Arial"/>
                <a:ea typeface="Arial"/>
                <a:cs typeface="Arial"/>
                <a:sym typeface="Arial"/>
              </a:defRPr>
            </a:lvl1pPr>
          </a:lstStyle>
          <a:p>
            <a:r>
              <a:t>“</a:t>
            </a:r>
          </a:p>
        </p:txBody>
      </p:sp>
      <p:sp>
        <p:nvSpPr>
          <p:cNvPr id="68" name="”"/>
          <p:cNvSpPr txBox="1"/>
          <p:nvPr/>
        </p:nvSpPr>
        <p:spPr>
          <a:xfrm>
            <a:off x="7489421" y="2823795"/>
            <a:ext cx="402446" cy="1359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396" tIns="50396" rIns="50396" bIns="50396" anchor="ctr">
            <a:spAutoFit/>
          </a:bodyPr>
          <a:lstStyle>
            <a:lvl1pPr defTabSz="503237">
              <a:defRPr sz="8800">
                <a:solidFill>
                  <a:srgbClr val="9FE0F5"/>
                </a:solidFill>
                <a:latin typeface="Arial"/>
                <a:ea typeface="Arial"/>
                <a:cs typeface="Arial"/>
                <a:sym typeface="Arial"/>
              </a:defRPr>
            </a:lvl1pPr>
          </a:lstStyle>
          <a:p>
            <a:r>
              <a:t>”</a:t>
            </a:r>
          </a:p>
        </p:txBody>
      </p:sp>
      <p:sp>
        <p:nvSpPr>
          <p:cNvPr id="69" name="Title Text"/>
          <p:cNvSpPr txBox="1">
            <a:spLocks noGrp="1"/>
          </p:cNvSpPr>
          <p:nvPr>
            <p:ph type="title"/>
          </p:nvPr>
        </p:nvSpPr>
        <p:spPr>
          <a:xfrm>
            <a:off x="671512" y="671512"/>
            <a:ext cx="6997701" cy="1455738"/>
          </a:xfrm>
          <a:prstGeom prst="rect">
            <a:avLst/>
          </a:prstGeom>
        </p:spPr>
        <p:txBody>
          <a:bodyPr>
            <a:normAutofit/>
          </a:bodyPr>
          <a:lstStyle/>
          <a:p>
            <a:r>
              <a:t>Title Text</a:t>
            </a:r>
          </a:p>
        </p:txBody>
      </p:sp>
      <p:sp>
        <p:nvSpPr>
          <p:cNvPr id="70" name="Body Level One…"/>
          <p:cNvSpPr txBox="1">
            <a:spLocks noGrp="1"/>
          </p:cNvSpPr>
          <p:nvPr>
            <p:ph type="body" sz="half" idx="1"/>
          </p:nvPr>
        </p:nvSpPr>
        <p:spPr>
          <a:xfrm>
            <a:off x="671512" y="2381250"/>
            <a:ext cx="6997701" cy="427831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2" name="Group"/>
          <p:cNvGrpSpPr/>
          <p:nvPr/>
        </p:nvGrpSpPr>
        <p:grpSpPr>
          <a:xfrm>
            <a:off x="-9531" y="-9530"/>
            <a:ext cx="10110797" cy="7578733"/>
            <a:chOff x="-1" y="-1"/>
            <a:chExt cx="10110796" cy="7578732"/>
          </a:xfrm>
        </p:grpSpPr>
        <p:sp>
          <p:nvSpPr>
            <p:cNvPr id="2" name="Shape"/>
            <p:cNvSpPr/>
            <p:nvPr/>
          </p:nvSpPr>
          <p:spPr>
            <a:xfrm>
              <a:off x="-2" y="4433890"/>
              <a:ext cx="504831" cy="31448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0" y="21536"/>
                  </a:lnTo>
                  <a:cubicBezTo>
                    <a:pt x="133" y="14421"/>
                    <a:pt x="267" y="7307"/>
                    <a:pt x="0" y="0"/>
                  </a:cubicBezTo>
                  <a:close/>
                </a:path>
              </a:pathLst>
            </a:custGeom>
            <a:solidFill>
              <a:schemeClr val="accent1">
                <a:alpha val="70195"/>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3" name="Line"/>
            <p:cNvSpPr/>
            <p:nvPr/>
          </p:nvSpPr>
          <p:spPr>
            <a:xfrm flipV="1">
              <a:off x="5665790" y="4611690"/>
              <a:ext cx="4433893" cy="2957516"/>
            </a:xfrm>
            <a:prstGeom prst="line">
              <a:avLst/>
            </a:prstGeom>
            <a:noFill/>
            <a:ln w="9525" cap="rnd">
              <a:solidFill>
                <a:schemeClr val="accent1">
                  <a:alpha val="70195"/>
                </a:schemeClr>
              </a:solidFill>
              <a:prstDash val="solid"/>
              <a:round/>
            </a:ln>
            <a:effectLst/>
          </p:spPr>
          <p:txBody>
            <a:bodyPr wrap="square" lIns="45718" tIns="45718" rIns="45718" bIns="45718" numCol="1" anchor="t">
              <a:noAutofit/>
            </a:bodyPr>
            <a:lstStyle/>
            <a:p>
              <a:endParaRPr/>
            </a:p>
          </p:txBody>
        </p:sp>
        <p:sp>
          <p:nvSpPr>
            <p:cNvPr id="4" name="Line"/>
            <p:cNvSpPr/>
            <p:nvPr/>
          </p:nvSpPr>
          <p:spPr>
            <a:xfrm>
              <a:off x="7773990" y="9525"/>
              <a:ext cx="1343029" cy="7559680"/>
            </a:xfrm>
            <a:prstGeom prst="line">
              <a:avLst/>
            </a:prstGeom>
            <a:noFill/>
            <a:ln w="9525" cap="rnd">
              <a:solidFill>
                <a:schemeClr val="accent1">
                  <a:alpha val="70195"/>
                </a:schemeClr>
              </a:solidFill>
              <a:prstDash val="solid"/>
              <a:round/>
            </a:ln>
            <a:effectLst/>
          </p:spPr>
          <p:txBody>
            <a:bodyPr wrap="square" lIns="45718" tIns="45718" rIns="45718" bIns="45718" numCol="1" anchor="t">
              <a:noAutofit/>
            </a:bodyPr>
            <a:lstStyle/>
            <a:p>
              <a:endParaRPr/>
            </a:p>
          </p:txBody>
        </p:sp>
        <p:sp>
          <p:nvSpPr>
            <p:cNvPr id="5" name="Shape"/>
            <p:cNvSpPr/>
            <p:nvPr/>
          </p:nvSpPr>
          <p:spPr>
            <a:xfrm>
              <a:off x="7607302" y="9524"/>
              <a:ext cx="2501772" cy="7569206"/>
            </a:xfrm>
            <a:custGeom>
              <a:avLst/>
              <a:gdLst/>
              <a:ahLst/>
              <a:cxnLst>
                <a:cxn ang="0">
                  <a:pos x="wd2" y="hd2"/>
                </a:cxn>
                <a:cxn ang="5400000">
                  <a:pos x="wd2" y="hd2"/>
                </a:cxn>
                <a:cxn ang="10800000">
                  <a:pos x="wd2" y="hd2"/>
                </a:cxn>
                <a:cxn ang="16200000">
                  <a:pos x="wd2" y="hd2"/>
                </a:cxn>
              </a:cxnLst>
              <a:rect l="0" t="0" r="r" b="b"/>
              <a:pathLst>
                <a:path w="21577" h="21600" extrusionOk="0">
                  <a:moveTo>
                    <a:pt x="19239" y="0"/>
                  </a:moveTo>
                  <a:lnTo>
                    <a:pt x="0" y="21573"/>
                  </a:lnTo>
                  <a:lnTo>
                    <a:pt x="21573" y="21600"/>
                  </a:lnTo>
                  <a:cubicBezTo>
                    <a:pt x="21600" y="14409"/>
                    <a:pt x="21466" y="7218"/>
                    <a:pt x="21493" y="27"/>
                  </a:cubicBezTo>
                  <a:lnTo>
                    <a:pt x="19239" y="0"/>
                  </a:lnTo>
                  <a:close/>
                </a:path>
              </a:pathLst>
            </a:custGeom>
            <a:solidFill>
              <a:schemeClr val="accent1">
                <a:alpha val="36077"/>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6" name="Shape"/>
            <p:cNvSpPr/>
            <p:nvPr/>
          </p:nvSpPr>
          <p:spPr>
            <a:xfrm>
              <a:off x="7951790" y="-2"/>
              <a:ext cx="2147846" cy="7569208"/>
            </a:xfrm>
            <a:custGeom>
              <a:avLst/>
              <a:gdLst/>
              <a:ahLst/>
              <a:cxnLst>
                <a:cxn ang="0">
                  <a:pos x="wd2" y="hd2"/>
                </a:cxn>
                <a:cxn ang="5400000">
                  <a:pos x="wd2" y="hd2"/>
                </a:cxn>
                <a:cxn ang="10800000">
                  <a:pos x="wd2" y="hd2"/>
                </a:cxn>
                <a:cxn ang="16200000">
                  <a:pos x="wd2" y="hd2"/>
                </a:cxn>
              </a:cxnLst>
              <a:rect l="0" t="0" r="r" b="b"/>
              <a:pathLst>
                <a:path w="21578" h="21600" extrusionOk="0">
                  <a:moveTo>
                    <a:pt x="0" y="0"/>
                  </a:moveTo>
                  <a:lnTo>
                    <a:pt x="13316" y="21600"/>
                  </a:lnTo>
                  <a:lnTo>
                    <a:pt x="21569" y="21600"/>
                  </a:lnTo>
                  <a:cubicBezTo>
                    <a:pt x="21537" y="14400"/>
                    <a:pt x="21600" y="7200"/>
                    <a:pt x="21569" y="0"/>
                  </a:cubicBezTo>
                  <a:lnTo>
                    <a:pt x="0" y="0"/>
                  </a:lnTo>
                  <a:close/>
                </a:path>
              </a:pathLst>
            </a:custGeom>
            <a:solidFill>
              <a:schemeClr val="accent1">
                <a:alpha val="19999"/>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7" name="Shape"/>
            <p:cNvSpPr/>
            <p:nvPr/>
          </p:nvSpPr>
          <p:spPr>
            <a:xfrm>
              <a:off x="7327903" y="4330701"/>
              <a:ext cx="2770193" cy="323850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44" y="0"/>
                  </a:lnTo>
                  <a:cubicBezTo>
                    <a:pt x="21563" y="7200"/>
                    <a:pt x="21581" y="14400"/>
                    <a:pt x="21600" y="21600"/>
                  </a:cubicBezTo>
                  <a:lnTo>
                    <a:pt x="0" y="21600"/>
                  </a:lnTo>
                  <a:close/>
                </a:path>
              </a:pathLst>
            </a:custGeom>
            <a:solidFill>
              <a:srgbClr val="17B0E4">
                <a:alpha val="65881"/>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8" name="Shape"/>
            <p:cNvSpPr/>
            <p:nvPr/>
          </p:nvSpPr>
          <p:spPr>
            <a:xfrm>
              <a:off x="7737477" y="-2"/>
              <a:ext cx="2362207" cy="756920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716" y="21600"/>
                  </a:lnTo>
                  <a:lnTo>
                    <a:pt x="21600" y="21573"/>
                  </a:lnTo>
                  <a:lnTo>
                    <a:pt x="21600" y="0"/>
                  </a:lnTo>
                  <a:lnTo>
                    <a:pt x="0" y="0"/>
                  </a:lnTo>
                  <a:close/>
                </a:path>
              </a:pathLst>
            </a:custGeom>
            <a:solidFill>
              <a:srgbClr val="17B0E4">
                <a:alpha val="50195"/>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9" name="Shape"/>
            <p:cNvSpPr/>
            <p:nvPr/>
          </p:nvSpPr>
          <p:spPr>
            <a:xfrm>
              <a:off x="9155115" y="-2"/>
              <a:ext cx="944566" cy="7569208"/>
            </a:xfrm>
            <a:custGeom>
              <a:avLst/>
              <a:gdLst/>
              <a:ahLst/>
              <a:cxnLst>
                <a:cxn ang="0">
                  <a:pos x="wd2" y="hd2"/>
                </a:cxn>
                <a:cxn ang="5400000">
                  <a:pos x="wd2" y="hd2"/>
                </a:cxn>
                <a:cxn ang="10800000">
                  <a:pos x="wd2" y="hd2"/>
                </a:cxn>
                <a:cxn ang="16200000">
                  <a:pos x="wd2" y="hd2"/>
                </a:cxn>
              </a:cxnLst>
              <a:rect l="0" t="0" r="r" b="b"/>
              <a:pathLst>
                <a:path w="21600" h="21600" extrusionOk="0">
                  <a:moveTo>
                    <a:pt x="17053" y="0"/>
                  </a:moveTo>
                  <a:lnTo>
                    <a:pt x="0" y="21600"/>
                  </a:lnTo>
                  <a:lnTo>
                    <a:pt x="21600" y="21600"/>
                  </a:lnTo>
                  <a:cubicBezTo>
                    <a:pt x="21553" y="14400"/>
                    <a:pt x="21505" y="7200"/>
                    <a:pt x="21458" y="0"/>
                  </a:cubicBezTo>
                  <a:lnTo>
                    <a:pt x="17053" y="0"/>
                  </a:lnTo>
                  <a:close/>
                </a:path>
              </a:pathLst>
            </a:custGeom>
            <a:solidFill>
              <a:schemeClr val="accent2">
                <a:alpha val="70195"/>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10" name="Shape"/>
            <p:cNvSpPr/>
            <p:nvPr/>
          </p:nvSpPr>
          <p:spPr>
            <a:xfrm>
              <a:off x="8932865" y="-2"/>
              <a:ext cx="1176371" cy="7569208"/>
            </a:xfrm>
            <a:custGeom>
              <a:avLst/>
              <a:gdLst/>
              <a:ahLst/>
              <a:cxnLst>
                <a:cxn ang="0">
                  <a:pos x="wd2" y="hd2"/>
                </a:cxn>
                <a:cxn ang="5400000">
                  <a:pos x="wd2" y="hd2"/>
                </a:cxn>
                <a:cxn ang="10800000">
                  <a:pos x="wd2" y="hd2"/>
                </a:cxn>
                <a:cxn ang="16200000">
                  <a:pos x="wd2" y="hd2"/>
                </a:cxn>
              </a:cxnLst>
              <a:rect l="0" t="0" r="r" b="b"/>
              <a:pathLst>
                <a:path w="21556" h="21600" extrusionOk="0">
                  <a:moveTo>
                    <a:pt x="0" y="0"/>
                  </a:moveTo>
                  <a:lnTo>
                    <a:pt x="18966" y="21600"/>
                  </a:lnTo>
                  <a:lnTo>
                    <a:pt x="21552" y="21600"/>
                  </a:lnTo>
                  <a:cubicBezTo>
                    <a:pt x="21600" y="14391"/>
                    <a:pt x="21217" y="7209"/>
                    <a:pt x="21265" y="0"/>
                  </a:cubicBezTo>
                  <a:lnTo>
                    <a:pt x="0" y="0"/>
                  </a:lnTo>
                  <a:close/>
                </a:path>
              </a:pathLst>
            </a:custGeom>
            <a:solidFill>
              <a:srgbClr val="236292">
                <a:alpha val="81959"/>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sp>
          <p:nvSpPr>
            <p:cNvPr id="11" name="Shape"/>
            <p:cNvSpPr/>
            <p:nvPr/>
          </p:nvSpPr>
          <p:spPr>
            <a:xfrm>
              <a:off x="8904290" y="5403851"/>
              <a:ext cx="1206505" cy="216535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500" y="0"/>
                  </a:lnTo>
                  <a:cubicBezTo>
                    <a:pt x="21533" y="7181"/>
                    <a:pt x="21567" y="14363"/>
                    <a:pt x="21600" y="21544"/>
                  </a:cubicBezTo>
                  <a:lnTo>
                    <a:pt x="0" y="21600"/>
                  </a:lnTo>
                  <a:close/>
                </a:path>
              </a:pathLst>
            </a:custGeom>
            <a:solidFill>
              <a:srgbClr val="17B0E4">
                <a:alpha val="65881"/>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endParaRPr/>
            </a:p>
          </p:txBody>
        </p:sp>
      </p:grpSp>
      <p:sp>
        <p:nvSpPr>
          <p:cNvPr id="13" name="Title Text"/>
          <p:cNvSpPr txBox="1">
            <a:spLocks noGrp="1"/>
          </p:cNvSpPr>
          <p:nvPr>
            <p:ph type="title"/>
          </p:nvPr>
        </p:nvSpPr>
        <p:spPr>
          <a:xfrm>
            <a:off x="1508916" y="1511300"/>
            <a:ext cx="8056881" cy="11754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lstStyle/>
          <a:p>
            <a:r>
              <a:t>Title Text</a:t>
            </a:r>
          </a:p>
        </p:txBody>
      </p:sp>
      <p:sp>
        <p:nvSpPr>
          <p:cNvPr id="14" name="Body Level One…"/>
          <p:cNvSpPr txBox="1">
            <a:spLocks noGrp="1"/>
          </p:cNvSpPr>
          <p:nvPr>
            <p:ph type="body" idx="1"/>
          </p:nvPr>
        </p:nvSpPr>
        <p:spPr>
          <a:xfrm>
            <a:off x="5621282" y="2686755"/>
            <a:ext cx="3944515" cy="48697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7445196" y="6751163"/>
            <a:ext cx="224018" cy="218437"/>
          </a:xfrm>
          <a:prstGeom prst="rect">
            <a:avLst/>
          </a:prstGeom>
          <a:ln w="12700">
            <a:miter lim="400000"/>
          </a:ln>
        </p:spPr>
        <p:txBody>
          <a:bodyPr wrap="none" lIns="45718" tIns="45718" rIns="45718" bIns="45718" anchor="ctr">
            <a:spAutoFit/>
          </a:bodyPr>
          <a:lstStyle>
            <a:lvl1pPr algn="r" defTabSz="503237">
              <a:defRPr sz="900">
                <a:solidFill>
                  <a:schemeClr val="accent1"/>
                </a:solidFill>
                <a:latin typeface="Trebuchet MS"/>
                <a:ea typeface="Trebuchet MS"/>
                <a:cs typeface="Trebuchet MS"/>
                <a:sym typeface="Trebuchet MS"/>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1pPr>
      <a:lvl2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2pPr>
      <a:lvl3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3pPr>
      <a:lvl4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4pPr>
      <a:lvl5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5pPr>
      <a:lvl6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6pPr>
      <a:lvl7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7pPr>
      <a:lvl8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8pPr>
      <a:lvl9pPr marL="0" marR="0" indent="0" algn="l" defTabSz="503237" rtl="0" latinLnBrk="0">
        <a:lnSpc>
          <a:spcPct val="100000"/>
        </a:lnSpc>
        <a:spcBef>
          <a:spcPts val="0"/>
        </a:spcBef>
        <a:spcAft>
          <a:spcPts val="0"/>
        </a:spcAft>
        <a:buClrTx/>
        <a:buSzTx/>
        <a:buFontTx/>
        <a:buNone/>
        <a:tabLst/>
        <a:defRPr sz="3900" b="0" i="0" u="none" strike="noStrike" cap="none" spc="0" baseline="0">
          <a:solidFill>
            <a:schemeClr val="accent1"/>
          </a:solidFill>
          <a:uFillTx/>
          <a:latin typeface="Trebuchet MS"/>
          <a:ea typeface="Trebuchet MS"/>
          <a:cs typeface="Trebuchet MS"/>
          <a:sym typeface="Trebuchet MS"/>
        </a:defRPr>
      </a:lvl9pPr>
    </p:titleStyle>
    <p:bodyStyle>
      <a:lvl1pPr marL="377825" marR="0" indent="-377825" algn="l" defTabSz="503237" rtl="0" latinLnBrk="0">
        <a:lnSpc>
          <a:spcPct val="100000"/>
        </a:lnSpc>
        <a:spcBef>
          <a:spcPts val="1100"/>
        </a:spcBef>
        <a:spcAft>
          <a:spcPts val="0"/>
        </a:spcAft>
        <a:buClr>
          <a:schemeClr val="accent1"/>
        </a:buClr>
        <a:buSzPct val="80000"/>
        <a:buFont typeface="Trebuchet MS"/>
        <a:buChar char="u"/>
        <a:tabLst/>
        <a:defRPr sz="1900" b="0" i="0" u="none" strike="noStrike" cap="none" spc="0" baseline="0">
          <a:solidFill>
            <a:srgbClr val="404040"/>
          </a:solidFill>
          <a:uFillTx/>
          <a:latin typeface="Trebuchet MS"/>
          <a:ea typeface="Trebuchet MS"/>
          <a:cs typeface="Trebuchet MS"/>
          <a:sym typeface="Trebuchet MS"/>
        </a:defRPr>
      </a:lvl1pPr>
      <a:lvl2pPr marL="854539" marR="0" indent="-351302" algn="l" defTabSz="503237" rtl="0" latinLnBrk="0">
        <a:lnSpc>
          <a:spcPct val="100000"/>
        </a:lnSpc>
        <a:spcBef>
          <a:spcPts val="1100"/>
        </a:spcBef>
        <a:spcAft>
          <a:spcPts val="0"/>
        </a:spcAft>
        <a:buClr>
          <a:schemeClr val="accent1"/>
        </a:buClr>
        <a:buSzPct val="80000"/>
        <a:buFont typeface="Trebuchet MS"/>
        <a:buChar char="u"/>
        <a:tabLst/>
        <a:defRPr sz="1900" b="0" i="0" u="none" strike="noStrike" cap="none" spc="0" baseline="0">
          <a:solidFill>
            <a:srgbClr val="404040"/>
          </a:solidFill>
          <a:uFillTx/>
          <a:latin typeface="Trebuchet MS"/>
          <a:ea typeface="Trebuchet MS"/>
          <a:cs typeface="Trebuchet MS"/>
          <a:sym typeface="Trebuchet MS"/>
        </a:defRPr>
      </a:lvl2pPr>
      <a:lvl3pPr marL="1325774" marR="0" indent="-317711" algn="l" defTabSz="503237" rtl="0" latinLnBrk="0">
        <a:lnSpc>
          <a:spcPct val="100000"/>
        </a:lnSpc>
        <a:spcBef>
          <a:spcPts val="1100"/>
        </a:spcBef>
        <a:spcAft>
          <a:spcPts val="0"/>
        </a:spcAft>
        <a:buClr>
          <a:schemeClr val="accent1"/>
        </a:buClr>
        <a:buSzPct val="80000"/>
        <a:buFont typeface="Trebuchet MS"/>
        <a:buChar char="u"/>
        <a:tabLst/>
        <a:defRPr sz="1900" b="0" i="0" u="none" strike="noStrike" cap="none" spc="0" baseline="0">
          <a:solidFill>
            <a:srgbClr val="404040"/>
          </a:solidFill>
          <a:uFillTx/>
          <a:latin typeface="Trebuchet MS"/>
          <a:ea typeface="Trebuchet MS"/>
          <a:cs typeface="Trebuchet MS"/>
          <a:sym typeface="Trebuchet MS"/>
        </a:defRPr>
      </a:lvl3pPr>
      <a:lvl4pPr marL="1879475" marR="0" indent="-366590" algn="l" defTabSz="503237" rtl="0" latinLnBrk="0">
        <a:lnSpc>
          <a:spcPct val="100000"/>
        </a:lnSpc>
        <a:spcBef>
          <a:spcPts val="1100"/>
        </a:spcBef>
        <a:spcAft>
          <a:spcPts val="0"/>
        </a:spcAft>
        <a:buClr>
          <a:schemeClr val="accent1"/>
        </a:buClr>
        <a:buSzPct val="80000"/>
        <a:buFont typeface="Trebuchet MS"/>
        <a:buChar char="u"/>
        <a:tabLst/>
        <a:defRPr sz="1900" b="0" i="0" u="none" strike="noStrike" cap="none" spc="0" baseline="0">
          <a:solidFill>
            <a:srgbClr val="404040"/>
          </a:solidFill>
          <a:uFillTx/>
          <a:latin typeface="Trebuchet MS"/>
          <a:ea typeface="Trebuchet MS"/>
          <a:cs typeface="Trebuchet MS"/>
          <a:sym typeface="Trebuchet MS"/>
        </a:defRPr>
      </a:lvl4pPr>
      <a:lvl5pPr marL="2280884" marR="0" indent="-264759" algn="l" defTabSz="503237" rtl="0" latinLnBrk="0">
        <a:lnSpc>
          <a:spcPct val="100000"/>
        </a:lnSpc>
        <a:spcBef>
          <a:spcPts val="1100"/>
        </a:spcBef>
        <a:spcAft>
          <a:spcPts val="0"/>
        </a:spcAft>
        <a:buClr>
          <a:schemeClr val="accent1"/>
        </a:buClr>
        <a:buSzPct val="80000"/>
        <a:buFont typeface="Trebuchet MS"/>
        <a:buChar char="u"/>
        <a:tabLst/>
        <a:defRPr sz="1900" b="0" i="0" u="none" strike="noStrike" cap="none" spc="0" baseline="0">
          <a:solidFill>
            <a:srgbClr val="404040"/>
          </a:solidFill>
          <a:uFillTx/>
          <a:latin typeface="Trebuchet MS"/>
          <a:ea typeface="Trebuchet MS"/>
          <a:cs typeface="Trebuchet MS"/>
          <a:sym typeface="Trebuchet MS"/>
        </a:defRPr>
      </a:lvl5pPr>
      <a:lvl6pPr marL="0" marR="0" indent="0" algn="l" defTabSz="503237" rtl="0" latinLnBrk="0">
        <a:lnSpc>
          <a:spcPct val="100000"/>
        </a:lnSpc>
        <a:spcBef>
          <a:spcPts val="1100"/>
        </a:spcBef>
        <a:spcAft>
          <a:spcPts val="0"/>
        </a:spcAft>
        <a:buClr>
          <a:schemeClr val="accent1"/>
        </a:buClr>
        <a:buSzTx/>
        <a:buFont typeface="Trebuchet MS"/>
        <a:buNone/>
        <a:tabLst/>
        <a:defRPr sz="1900" b="0" i="0" u="none" strike="noStrike" cap="none" spc="0" baseline="0">
          <a:solidFill>
            <a:srgbClr val="404040"/>
          </a:solidFill>
          <a:uFillTx/>
          <a:latin typeface="Trebuchet MS"/>
          <a:ea typeface="Trebuchet MS"/>
          <a:cs typeface="Trebuchet MS"/>
          <a:sym typeface="Trebuchet MS"/>
        </a:defRPr>
      </a:lvl6pPr>
      <a:lvl7pPr marL="0" marR="0" indent="0" algn="l" defTabSz="503237" rtl="0" latinLnBrk="0">
        <a:lnSpc>
          <a:spcPct val="100000"/>
        </a:lnSpc>
        <a:spcBef>
          <a:spcPts val="1100"/>
        </a:spcBef>
        <a:spcAft>
          <a:spcPts val="0"/>
        </a:spcAft>
        <a:buClr>
          <a:schemeClr val="accent1"/>
        </a:buClr>
        <a:buSzTx/>
        <a:buFont typeface="Trebuchet MS"/>
        <a:buNone/>
        <a:tabLst/>
        <a:defRPr sz="1900" b="0" i="0" u="none" strike="noStrike" cap="none" spc="0" baseline="0">
          <a:solidFill>
            <a:srgbClr val="404040"/>
          </a:solidFill>
          <a:uFillTx/>
          <a:latin typeface="Trebuchet MS"/>
          <a:ea typeface="Trebuchet MS"/>
          <a:cs typeface="Trebuchet MS"/>
          <a:sym typeface="Trebuchet MS"/>
        </a:defRPr>
      </a:lvl7pPr>
      <a:lvl8pPr marL="0" marR="0" indent="0" algn="l" defTabSz="503237" rtl="0" latinLnBrk="0">
        <a:lnSpc>
          <a:spcPct val="100000"/>
        </a:lnSpc>
        <a:spcBef>
          <a:spcPts val="1100"/>
        </a:spcBef>
        <a:spcAft>
          <a:spcPts val="0"/>
        </a:spcAft>
        <a:buClr>
          <a:schemeClr val="accent1"/>
        </a:buClr>
        <a:buSzTx/>
        <a:buFont typeface="Trebuchet MS"/>
        <a:buNone/>
        <a:tabLst/>
        <a:defRPr sz="1900" b="0" i="0" u="none" strike="noStrike" cap="none" spc="0" baseline="0">
          <a:solidFill>
            <a:srgbClr val="404040"/>
          </a:solidFill>
          <a:uFillTx/>
          <a:latin typeface="Trebuchet MS"/>
          <a:ea typeface="Trebuchet MS"/>
          <a:cs typeface="Trebuchet MS"/>
          <a:sym typeface="Trebuchet MS"/>
        </a:defRPr>
      </a:lvl8pPr>
      <a:lvl9pPr marL="0" marR="0" indent="0" algn="l" defTabSz="503237" rtl="0" latinLnBrk="0">
        <a:lnSpc>
          <a:spcPct val="100000"/>
        </a:lnSpc>
        <a:spcBef>
          <a:spcPts val="1100"/>
        </a:spcBef>
        <a:spcAft>
          <a:spcPts val="0"/>
        </a:spcAft>
        <a:buClr>
          <a:schemeClr val="accent1"/>
        </a:buClr>
        <a:buSzTx/>
        <a:buFont typeface="Trebuchet MS"/>
        <a:buNone/>
        <a:tabLst/>
        <a:defRPr sz="1900" b="0" i="0" u="none" strike="noStrike" cap="none" spc="0" baseline="0">
          <a:solidFill>
            <a:srgbClr val="404040"/>
          </a:solidFill>
          <a:uFillTx/>
          <a:latin typeface="Trebuchet MS"/>
          <a:ea typeface="Trebuchet MS"/>
          <a:cs typeface="Trebuchet MS"/>
          <a:sym typeface="Trebuchet MS"/>
        </a:defRPr>
      </a:lvl9pPr>
    </p:bodyStyle>
    <p:otherStyle>
      <a:lvl1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1pPr>
      <a:lvl2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2pPr>
      <a:lvl3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3pPr>
      <a:lvl4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4pPr>
      <a:lvl5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5pPr>
      <a:lvl6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6pPr>
      <a:lvl7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7pPr>
      <a:lvl8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8pPr>
      <a:lvl9pPr marL="0" marR="0" indent="0" algn="r" defTabSz="50323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eeexplore.ieee.org/document/10043059" TargetMode="External"/><Relationship Id="rId2" Type="http://schemas.openxmlformats.org/officeDocument/2006/relationships/hyperlink" Target="https://ieeexplore.ieee.org/abstract/document/10150911" TargetMode="External"/><Relationship Id="rId1" Type="http://schemas.openxmlformats.org/officeDocument/2006/relationships/slideLayout" Target="../slideLayouts/slideLayout1.xml"/><Relationship Id="rId5" Type="http://schemas.openxmlformats.org/officeDocument/2006/relationships/hyperlink" Target="https://link.springer.com/chapter/10.1007/978-3-540-74796-3_44" TargetMode="External"/><Relationship Id="rId4" Type="http://schemas.openxmlformats.org/officeDocument/2006/relationships/hyperlink" Target="https://ieeexplore.ieee.org/abstract/document/10042410"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ieeexplore.ieee.org/document/9770797" TargetMode="External"/><Relationship Id="rId2" Type="http://schemas.openxmlformats.org/officeDocument/2006/relationships/hyperlink" Target="https://link.springer.com/chapter/10.1007/978-1-4757-4852-9_37" TargetMode="External"/><Relationship Id="rId1" Type="http://schemas.openxmlformats.org/officeDocument/2006/relationships/slideLayout" Target="../slideLayouts/slideLayout1.xml"/><Relationship Id="rId5" Type="http://schemas.openxmlformats.org/officeDocument/2006/relationships/hyperlink" Target="https://ieeexplore.ieee.org/document/9345035" TargetMode="External"/><Relationship Id="rId4" Type="http://schemas.openxmlformats.org/officeDocument/2006/relationships/hyperlink" Target="https://ieeexplore.ieee.org/document/9568959"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ieeexplore.ieee.org/document/9800084" TargetMode="External"/><Relationship Id="rId2" Type="http://schemas.openxmlformats.org/officeDocument/2006/relationships/hyperlink" Target="https://link.springer.com/article/10.1007/s10462-024-10780-9" TargetMode="External"/><Relationship Id="rId1" Type="http://schemas.openxmlformats.org/officeDocument/2006/relationships/slideLayout" Target="../slideLayouts/slideLayout1.xml"/><Relationship Id="rId4" Type="http://schemas.openxmlformats.org/officeDocument/2006/relationships/hyperlink" Target="https://ieeexplore.ieee.org/document/76580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of your Project…"/>
          <p:cNvSpPr txBox="1"/>
          <p:nvPr/>
        </p:nvSpPr>
        <p:spPr>
          <a:xfrm>
            <a:off x="274637" y="1874211"/>
            <a:ext cx="9296402" cy="5495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pPr>
            <a:r>
              <a:rPr dirty="0" err="1"/>
              <a:t>SiteBuilder</a:t>
            </a:r>
            <a:r>
              <a:rPr dirty="0"/>
              <a:t> AI </a:t>
            </a:r>
            <a:r>
              <a:rPr lang="en-IN" dirty="0"/>
              <a:t>–Drag and Drop Website Creation with Generative AI</a:t>
            </a:r>
            <a:endParaRPr dirty="0"/>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a:effectLst>
                  <a:outerShdw blurRad="12700" dist="25400" dir="2700000" rotWithShape="0">
                    <a:srgbClr val="DDDDDD"/>
                  </a:outerShdw>
                </a:effectLst>
                <a:latin typeface="+mj-lt"/>
                <a:ea typeface="+mj-ea"/>
                <a:cs typeface="+mj-cs"/>
                <a:sym typeface="Times New Roman"/>
              </a:defRPr>
            </a:pPr>
            <a:endParaRPr dirty="0"/>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b="1">
                <a:latin typeface="+mj-lt"/>
                <a:ea typeface="+mj-ea"/>
                <a:cs typeface="+mj-cs"/>
                <a:sym typeface="Times New Roman"/>
              </a:defRPr>
            </a:pPr>
            <a:r>
              <a:rPr dirty="0"/>
              <a:t>Group No.</a:t>
            </a:r>
            <a:r>
              <a:rPr b="0" dirty="0">
                <a:effectLst>
                  <a:outerShdw blurRad="12700" dist="25400" dir="2700000" rotWithShape="0">
                    <a:srgbClr val="DDDDDD"/>
                  </a:outerShdw>
                </a:effectLst>
              </a:rPr>
              <a:t> 3</a:t>
            </a: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b="1">
                <a:effectLst>
                  <a:outerShdw blurRad="12700" dist="25400" dir="2700000" rotWithShape="0">
                    <a:srgbClr val="DDDDDD"/>
                  </a:outerShdw>
                </a:effectLst>
                <a:latin typeface="+mj-lt"/>
                <a:ea typeface="+mj-ea"/>
                <a:cs typeface="+mj-cs"/>
                <a:sym typeface="Times New Roman"/>
              </a:defRPr>
            </a:pP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a:effectLst>
                  <a:outerShdw blurRad="12700" dist="25400" dir="2700000" rotWithShape="0">
                    <a:srgbClr val="DDDDDD"/>
                  </a:outerShdw>
                </a:effectLst>
                <a:latin typeface="+mj-lt"/>
                <a:ea typeface="+mj-ea"/>
                <a:cs typeface="+mj-cs"/>
                <a:sym typeface="Times New Roman"/>
              </a:defRPr>
            </a:pP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a:effectLst>
                  <a:outerShdw blurRad="12700" dist="25400" dir="2700000" rotWithShape="0">
                    <a:srgbClr val="DDDDDD"/>
                  </a:outerShdw>
                </a:effectLst>
                <a:latin typeface="+mj-lt"/>
                <a:ea typeface="+mj-ea"/>
                <a:cs typeface="+mj-cs"/>
                <a:sym typeface="Times New Roman"/>
              </a:defRPr>
            </a:pP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a:effectLst>
                  <a:outerShdw blurRad="12700" dist="25400" dir="2700000" rotWithShape="0">
                    <a:srgbClr val="DDDDDD"/>
                  </a:outerShdw>
                </a:effectLst>
                <a:latin typeface="+mj-lt"/>
                <a:ea typeface="+mj-ea"/>
                <a:cs typeface="+mj-cs"/>
                <a:sym typeface="Times New Roman"/>
              </a:defRPr>
            </a:pP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200">
                <a:effectLst>
                  <a:outerShdw blurRad="12700" dist="25400" dir="2700000" rotWithShape="0">
                    <a:srgbClr val="DDDDDD"/>
                  </a:outerShdw>
                </a:effectLst>
                <a:latin typeface="+mj-lt"/>
                <a:ea typeface="+mj-ea"/>
                <a:cs typeface="+mj-cs"/>
                <a:sym typeface="Times New Roman"/>
              </a:defRPr>
            </a:pPr>
            <a:endParaRPr dirty="0">
              <a:effectLst>
                <a:outerShdw blurRad="12700" dist="25400" dir="2700000" rotWithShape="0">
                  <a:srgbClr val="DDDDDD"/>
                </a:outerShdw>
              </a:effectLst>
            </a:endParaRP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2800" b="1">
                <a:effectLst>
                  <a:outerShdw blurRad="12700" dist="25400" dir="2700000" rotWithShape="0">
                    <a:srgbClr val="DDDDDD"/>
                  </a:outerShdw>
                </a:effectLst>
                <a:latin typeface="+mj-lt"/>
                <a:ea typeface="+mj-ea"/>
                <a:cs typeface="+mj-cs"/>
                <a:sym typeface="Times New Roman"/>
              </a:defRPr>
            </a:pPr>
            <a:endParaRPr sz="3200" dirty="0"/>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2800" b="1">
                <a:effectLst>
                  <a:outerShdw blurRad="12700" dist="25400" dir="2700000" rotWithShape="0">
                    <a:srgbClr val="DDDDDD"/>
                  </a:outerShdw>
                </a:effectLst>
                <a:latin typeface="+mj-lt"/>
                <a:ea typeface="+mj-ea"/>
                <a:cs typeface="+mj-cs"/>
                <a:sym typeface="Times New Roman"/>
              </a:defRPr>
            </a:pPr>
            <a:r>
              <a:rPr dirty="0"/>
              <a:t>Project Guide</a:t>
            </a:r>
          </a:p>
          <a:p>
            <a: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2400" b="1">
                <a:effectLst>
                  <a:outerShdw blurRad="12700" dist="25400" dir="2700000" rotWithShape="0">
                    <a:srgbClr val="DDDDDD"/>
                  </a:outerShdw>
                </a:effectLst>
                <a:latin typeface="+mj-lt"/>
                <a:ea typeface="+mj-ea"/>
                <a:cs typeface="+mj-cs"/>
                <a:sym typeface="Times New Roman"/>
              </a:defRPr>
            </a:pPr>
            <a:r>
              <a:rPr dirty="0"/>
              <a:t>Ms. Sarala Mary /Ms. Richa Singh </a:t>
            </a:r>
          </a:p>
        </p:txBody>
      </p:sp>
      <p:sp>
        <p:nvSpPr>
          <p:cNvPr id="81" name="Line"/>
          <p:cNvSpPr/>
          <p:nvPr/>
        </p:nvSpPr>
        <p:spPr>
          <a:xfrm>
            <a:off x="-2" y="1743075"/>
            <a:ext cx="10080630" cy="0"/>
          </a:xfrm>
          <a:prstGeom prst="line">
            <a:avLst/>
          </a:prstGeom>
          <a:ln w="25400" cap="rnd">
            <a:solidFill>
              <a:srgbClr val="000000"/>
            </a:solidFill>
          </a:ln>
          <a:effectLst>
            <a:outerShdw blurRad="38100" dist="25400" dir="5400000" rotWithShape="0">
              <a:srgbClr val="000000">
                <a:alpha val="34999"/>
              </a:srgbClr>
            </a:outerShdw>
          </a:effectLst>
        </p:spPr>
        <p:txBody>
          <a:bodyPr lIns="45718" tIns="45718" rIns="45718" bIns="45718"/>
          <a:lstStyle/>
          <a:p>
            <a:endParaRPr/>
          </a:p>
        </p:txBody>
      </p:sp>
      <p:pic>
        <p:nvPicPr>
          <p:cNvPr id="82" name="image.jpeg" descr="image.jpeg"/>
          <p:cNvPicPr>
            <a:picLocks noChangeAspect="1"/>
          </p:cNvPicPr>
          <p:nvPr/>
        </p:nvPicPr>
        <p:blipFill>
          <a:blip r:embed="rId2"/>
          <a:stretch>
            <a:fillRect/>
          </a:stretch>
        </p:blipFill>
        <p:spPr>
          <a:xfrm>
            <a:off x="1079500" y="146050"/>
            <a:ext cx="7686675" cy="1571625"/>
          </a:xfrm>
          <a:prstGeom prst="rect">
            <a:avLst/>
          </a:prstGeom>
          <a:ln w="12700">
            <a:miter lim="400000"/>
          </a:ln>
        </p:spPr>
      </p:pic>
      <p:graphicFrame>
        <p:nvGraphicFramePr>
          <p:cNvPr id="83" name="Table 3"/>
          <p:cNvGraphicFramePr/>
          <p:nvPr/>
        </p:nvGraphicFramePr>
        <p:xfrm>
          <a:off x="2526027" y="4075788"/>
          <a:ext cx="5195215" cy="2011680"/>
        </p:xfrm>
        <a:graphic>
          <a:graphicData uri="http://schemas.openxmlformats.org/drawingml/2006/table">
            <a:tbl>
              <a:tblPr firstRow="1" bandRow="1">
                <a:tableStyleId>{4C3C2611-4C71-4FC5-86AE-919BDF0F9419}</a:tableStyleId>
              </a:tblPr>
              <a:tblGrid>
                <a:gridCol w="1817280">
                  <a:extLst>
                    <a:ext uri="{9D8B030D-6E8A-4147-A177-3AD203B41FA5}">
                      <a16:colId xmlns:a16="http://schemas.microsoft.com/office/drawing/2014/main" val="20000"/>
                    </a:ext>
                  </a:extLst>
                </a:gridCol>
                <a:gridCol w="3377935">
                  <a:extLst>
                    <a:ext uri="{9D8B030D-6E8A-4147-A177-3AD203B41FA5}">
                      <a16:colId xmlns:a16="http://schemas.microsoft.com/office/drawing/2014/main" val="20001"/>
                    </a:ext>
                  </a:extLst>
                </a:gridCol>
              </a:tblGrid>
              <a:tr h="395432">
                <a:tc>
                  <a:txBody>
                    <a:bodyPr/>
                    <a:lstStyle/>
                    <a:p>
                      <a:pPr algn="l">
                        <a:defRPr sz="1800">
                          <a:sym typeface="Helvetica"/>
                        </a:defRPr>
                      </a:pPr>
                      <a:r>
                        <a:t>   </a:t>
                      </a:r>
                      <a:r>
                        <a:rPr sz="2200">
                          <a:latin typeface="+mj-lt"/>
                          <a:ea typeface="+mj-ea"/>
                          <a:cs typeface="+mj-cs"/>
                          <a:sym typeface="Times New Roman"/>
                        </a:rPr>
                        <a:t>Student  ID    </a:t>
                      </a:r>
                    </a:p>
                  </a:txBody>
                  <a:tcPr marL="45720" marR="45720" horzOverflow="overflow"/>
                </a:tc>
                <a:tc>
                  <a:txBody>
                    <a:bodyPr/>
                    <a:lstStyle/>
                    <a:p>
                      <a:pPr algn="l">
                        <a:defRPr sz="1800" b="0">
                          <a:solidFill>
                            <a:srgbClr val="000000"/>
                          </a:solidFill>
                        </a:defRPr>
                      </a:pPr>
                      <a:r>
                        <a:rPr sz="2200" b="1">
                          <a:solidFill>
                            <a:srgbClr val="FFFFFF"/>
                          </a:solidFill>
                          <a:latin typeface="+mj-lt"/>
                          <a:ea typeface="+mj-ea"/>
                          <a:cs typeface="+mj-cs"/>
                          <a:sym typeface="Times New Roman"/>
                        </a:rPr>
                        <a:t>Group member</a:t>
                      </a:r>
                    </a:p>
                  </a:txBody>
                  <a:tcPr marL="45720" marR="45720" horzOverflow="overflow"/>
                </a:tc>
                <a:extLst>
                  <a:ext uri="{0D108BD9-81ED-4DB2-BD59-A6C34878D82A}">
                    <a16:rowId xmlns:a16="http://schemas.microsoft.com/office/drawing/2014/main" val="10000"/>
                  </a:ext>
                </a:extLst>
              </a:tr>
              <a:tr h="395432">
                <a:tc>
                  <a:txBody>
                    <a:bodyPr/>
                    <a:lstStyle/>
                    <a:p>
                      <a:pPr algn="ctr">
                        <a:defRPr sz="1800"/>
                      </a:pPr>
                      <a:r>
                        <a:rPr sz="2000">
                          <a:latin typeface="+mj-lt"/>
                          <a:ea typeface="+mj-ea"/>
                          <a:cs typeface="+mj-cs"/>
                          <a:sym typeface="Times New Roman"/>
                        </a:rPr>
                        <a:t>21107048</a:t>
                      </a:r>
                    </a:p>
                  </a:txBody>
                  <a:tcPr marL="45720" marR="45720" horzOverflow="overflow"/>
                </a:tc>
                <a:tc>
                  <a:txBody>
                    <a:bodyPr/>
                    <a:lstStyle/>
                    <a:p>
                      <a:pPr algn="l">
                        <a:defRPr sz="1800"/>
                      </a:pPr>
                      <a:r>
                        <a:rPr sz="2000">
                          <a:latin typeface="+mj-lt"/>
                          <a:ea typeface="+mj-ea"/>
                          <a:cs typeface="+mj-cs"/>
                          <a:sym typeface="Times New Roman"/>
                        </a:rPr>
                        <a:t>Veena Sharma</a:t>
                      </a:r>
                    </a:p>
                  </a:txBody>
                  <a:tcPr marL="45720" marR="45720" horzOverflow="overflow"/>
                </a:tc>
                <a:extLst>
                  <a:ext uri="{0D108BD9-81ED-4DB2-BD59-A6C34878D82A}">
                    <a16:rowId xmlns:a16="http://schemas.microsoft.com/office/drawing/2014/main" val="10001"/>
                  </a:ext>
                </a:extLst>
              </a:tr>
              <a:tr h="395432">
                <a:tc>
                  <a:txBody>
                    <a:bodyPr/>
                    <a:lstStyle/>
                    <a:p>
                      <a:pPr algn="ctr">
                        <a:defRPr sz="1800"/>
                      </a:pPr>
                      <a:r>
                        <a:rPr sz="2000">
                          <a:latin typeface="+mj-lt"/>
                          <a:ea typeface="+mj-ea"/>
                          <a:cs typeface="+mj-cs"/>
                          <a:sym typeface="Times New Roman"/>
                        </a:rPr>
                        <a:t>21107066</a:t>
                      </a:r>
                    </a:p>
                  </a:txBody>
                  <a:tcPr marL="45720" marR="45720" horzOverflow="overflow"/>
                </a:tc>
                <a:tc>
                  <a:txBody>
                    <a:bodyPr/>
                    <a:lstStyle/>
                    <a:p>
                      <a:pPr algn="l">
                        <a:defRPr sz="1800"/>
                      </a:pPr>
                      <a:r>
                        <a:rPr sz="2000">
                          <a:latin typeface="+mj-lt"/>
                          <a:ea typeface="+mj-ea"/>
                          <a:cs typeface="+mj-cs"/>
                          <a:sym typeface="Times New Roman"/>
                        </a:rPr>
                        <a:t>Sanika Shelke</a:t>
                      </a:r>
                    </a:p>
                  </a:txBody>
                  <a:tcPr marL="45720" marR="45720" horzOverflow="overflow"/>
                </a:tc>
                <a:extLst>
                  <a:ext uri="{0D108BD9-81ED-4DB2-BD59-A6C34878D82A}">
                    <a16:rowId xmlns:a16="http://schemas.microsoft.com/office/drawing/2014/main" val="10002"/>
                  </a:ext>
                </a:extLst>
              </a:tr>
              <a:tr h="395432">
                <a:tc>
                  <a:txBody>
                    <a:bodyPr/>
                    <a:lstStyle/>
                    <a:p>
                      <a:pPr algn="ctr">
                        <a:defRPr sz="1800"/>
                      </a:pPr>
                      <a:r>
                        <a:rPr sz="2000">
                          <a:latin typeface="+mj-lt"/>
                          <a:ea typeface="+mj-ea"/>
                          <a:cs typeface="+mj-cs"/>
                          <a:sym typeface="Times New Roman"/>
                        </a:rPr>
                        <a:t>21107056</a:t>
                      </a:r>
                    </a:p>
                  </a:txBody>
                  <a:tcPr marL="45720" marR="45720" horzOverflow="overflow"/>
                </a:tc>
                <a:tc>
                  <a:txBody>
                    <a:bodyPr/>
                    <a:lstStyle/>
                    <a:p>
                      <a:pPr algn="l">
                        <a:defRPr sz="1800"/>
                      </a:pPr>
                      <a:r>
                        <a:rPr>
                          <a:latin typeface="+mj-lt"/>
                          <a:ea typeface="+mj-ea"/>
                          <a:cs typeface="+mj-cs"/>
                          <a:sym typeface="Times New Roman"/>
                        </a:rPr>
                        <a:t>Ridhvik Thakur</a:t>
                      </a:r>
                    </a:p>
                  </a:txBody>
                  <a:tcPr marL="45720" marR="45720" horzOverflow="overflow"/>
                </a:tc>
                <a:extLst>
                  <a:ext uri="{0D108BD9-81ED-4DB2-BD59-A6C34878D82A}">
                    <a16:rowId xmlns:a16="http://schemas.microsoft.com/office/drawing/2014/main" val="10003"/>
                  </a:ext>
                </a:extLst>
              </a:tr>
              <a:tr h="395432">
                <a:tc>
                  <a:txBody>
                    <a:bodyPr/>
                    <a:lstStyle/>
                    <a:p>
                      <a:pPr algn="ctr">
                        <a:defRPr sz="1800"/>
                      </a:pPr>
                      <a:r>
                        <a:rPr sz="2000">
                          <a:latin typeface="+mj-lt"/>
                          <a:ea typeface="+mj-ea"/>
                          <a:cs typeface="+mj-cs"/>
                          <a:sym typeface="Times New Roman"/>
                        </a:rPr>
                        <a:t>21107052</a:t>
                      </a:r>
                    </a:p>
                  </a:txBody>
                  <a:tcPr marL="45720" marR="45720" horzOverflow="overflow"/>
                </a:tc>
                <a:tc>
                  <a:txBody>
                    <a:bodyPr/>
                    <a:lstStyle/>
                    <a:p>
                      <a:pPr algn="l">
                        <a:defRPr sz="1800"/>
                      </a:pPr>
                      <a:r>
                        <a:rPr sz="2000">
                          <a:latin typeface="+mj-lt"/>
                          <a:ea typeface="+mj-ea"/>
                          <a:cs typeface="+mj-cs"/>
                          <a:sym typeface="Times New Roman"/>
                        </a:rPr>
                        <a:t>Montu Suthar</a:t>
                      </a:r>
                    </a:p>
                  </a:txBody>
                  <a:tcPr marL="45720" marR="45720"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ontents"/>
          <p:cNvSpPr txBox="1"/>
          <p:nvPr/>
        </p:nvSpPr>
        <p:spPr>
          <a:xfrm>
            <a:off x="500062" y="362678"/>
            <a:ext cx="9070976" cy="513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defTabSz="503237">
              <a:lnSpc>
                <a:spcPct val="93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3600" b="1">
                <a:latin typeface="+mj-lt"/>
                <a:ea typeface="+mj-ea"/>
                <a:cs typeface="+mj-cs"/>
                <a:sym typeface="Times New Roman"/>
              </a:defRPr>
            </a:lvl1pPr>
          </a:lstStyle>
          <a:p>
            <a:r>
              <a:t>Contents</a:t>
            </a:r>
          </a:p>
        </p:txBody>
      </p:sp>
      <p:sp>
        <p:nvSpPr>
          <p:cNvPr id="86" name="Abstract…"/>
          <p:cNvSpPr txBox="1"/>
          <p:nvPr/>
        </p:nvSpPr>
        <p:spPr>
          <a:xfrm>
            <a:off x="503236" y="1222975"/>
            <a:ext cx="9323390" cy="52336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Abstract</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Introduction</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Objectives</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Literature Review</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Research Gap</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Problem Definition</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Scope </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Technological Stack</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Proposed System Architecture/Working </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Prototype Design Demonstration</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Implementation Status</a:t>
            </a:r>
            <a:endParaRPr sz="2400"/>
          </a:p>
          <a:p>
            <a:pPr marL="428625" indent="-322260" defTabSz="503237">
              <a:lnSpc>
                <a:spcPct val="93000"/>
              </a:lnSpc>
              <a:spcBef>
                <a:spcPts val="1400"/>
              </a:spcBef>
              <a:buClr>
                <a:srgbClr val="000000"/>
              </a:buClr>
              <a:buSzPct val="45000"/>
              <a:buChar char="●"/>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 pos="9423400" algn="l"/>
                <a:tab pos="9880600" algn="l"/>
                <a:tab pos="10325100" algn="l"/>
                <a:tab pos="10769600" algn="l"/>
              </a:tabLst>
              <a:defRPr sz="2000">
                <a:latin typeface="+mj-lt"/>
                <a:ea typeface="+mj-ea"/>
                <a:cs typeface="+mj-cs"/>
                <a:sym typeface="Times New Roman"/>
              </a:defRPr>
            </a:pPr>
            <a:r>
              <a:t>Review Suggestions (Given in Last meeting)</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Abstract"/>
          <p:cNvSpPr txBox="1"/>
          <p:nvPr/>
        </p:nvSpPr>
        <p:spPr>
          <a:xfrm>
            <a:off x="627296" y="556854"/>
            <a:ext cx="9070977" cy="513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Abstract</a:t>
            </a:r>
          </a:p>
        </p:txBody>
      </p:sp>
      <p:sp>
        <p:nvSpPr>
          <p:cNvPr id="89" name="The points to be covered under Abstract chapter…"/>
          <p:cNvSpPr txBox="1"/>
          <p:nvPr/>
        </p:nvSpPr>
        <p:spPr>
          <a:xfrm>
            <a:off x="604356" y="2732914"/>
            <a:ext cx="8385489"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indent="228600">
              <a:spcBef>
                <a:spcPts val="800"/>
              </a:spcBef>
              <a:defRPr>
                <a:latin typeface="+mj-lt"/>
                <a:ea typeface="+mj-ea"/>
                <a:cs typeface="+mj-cs"/>
                <a:sym typeface="Times New Roman"/>
              </a:defRPr>
            </a:lvl1pPr>
          </a:lstStyle>
          <a:p>
            <a:endParaRPr dirty="0"/>
          </a:p>
        </p:txBody>
      </p:sp>
      <p:sp>
        <p:nvSpPr>
          <p:cNvPr id="2" name="TextBox 1">
            <a:extLst>
              <a:ext uri="{FF2B5EF4-FFF2-40B4-BE49-F238E27FC236}">
                <a16:creationId xmlns:a16="http://schemas.microsoft.com/office/drawing/2014/main" id="{EE74DD4D-A7FB-BDCB-E08D-A551D8B53CC2}"/>
              </a:ext>
            </a:extLst>
          </p:cNvPr>
          <p:cNvSpPr txBox="1"/>
          <p:nvPr/>
        </p:nvSpPr>
        <p:spPr>
          <a:xfrm>
            <a:off x="513184" y="1595535"/>
            <a:ext cx="7511143" cy="3139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algn="just"/>
            <a:r>
              <a:rPr lang="en-US" dirty="0">
                <a:latin typeface="+mj-lt"/>
              </a:rPr>
              <a:t>Creating a website can be overwhelming for individuals and small businesses due to the need for coding expertise and high costs associated with professional web development. The Website Builder addresses these challenges by offering a user-friendly, drag-and-drop platform that allows users to create fully functional websites without any coding knowledge. Utilizing pre-designed templates and customizable layout options, users can quickly build and manage their websites according to their preferences. The platform also simplifies content management, enabling seamless editing of text and images. By empowering users to take control of their online presence, the Website Builder ensures an efficient and accessible web development experience for all.</a:t>
            </a:r>
          </a:p>
          <a:p>
            <a:pPr marL="0" marR="0" indent="0" algn="just" defTabSz="4572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mj-lt"/>
              <a:ea typeface="+mn-ea"/>
              <a:cs typeface="+mn-cs"/>
              <a:sym typeface="Helvetica"/>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Introduction"/>
          <p:cNvSpPr txBox="1"/>
          <p:nvPr/>
        </p:nvSpPr>
        <p:spPr>
          <a:xfrm>
            <a:off x="528517" y="434201"/>
            <a:ext cx="9070976" cy="513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Introduction</a:t>
            </a:r>
          </a:p>
        </p:txBody>
      </p:sp>
      <p:sp>
        <p:nvSpPr>
          <p:cNvPr id="92" name="In the era of digital transformation, a strong online presence has become paramount for individuals and businesses alike. From e-commerce ventures to personal portfolios, websites have emerged as the virtual storefronts of the modern world. However, the "/>
          <p:cNvSpPr txBox="1"/>
          <p:nvPr/>
        </p:nvSpPr>
        <p:spPr>
          <a:xfrm>
            <a:off x="528515" y="1086725"/>
            <a:ext cx="8863788" cy="50783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a:latin typeface="+mj-lt"/>
                <a:ea typeface="+mj-ea"/>
                <a:cs typeface="+mj-cs"/>
                <a:sym typeface="Times New Roman"/>
              </a:defRPr>
            </a:pPr>
            <a:r>
              <a:rPr dirty="0"/>
              <a:t>In today’s digital age, individuals and businesses require a strong online presence to succeed, yet many face obstacles in creating professional websites due to the technical complexity of traditional methods. Standard website builders and manual coding often fail to bridge the gap between creativity and technical ability, leaving those without coding expertise or significant financial resources at a disadvantage.</a:t>
            </a:r>
            <a:endParaRPr dirty="0">
              <a:latin typeface="Trebuchet MS"/>
              <a:ea typeface="Trebuchet MS"/>
              <a:cs typeface="Trebuchet MS"/>
              <a:sym typeface="Trebuchet MS"/>
            </a:endParaRPr>
          </a:p>
          <a:p>
            <a:pPr algn="just">
              <a:defRPr b="1">
                <a:latin typeface="+mj-lt"/>
                <a:ea typeface="+mj-ea"/>
                <a:cs typeface="+mj-cs"/>
                <a:sym typeface="Times New Roman"/>
              </a:defRPr>
            </a:pPr>
            <a:br>
              <a:rPr dirty="0"/>
            </a:br>
            <a:r>
              <a:rPr lang="en-US" dirty="0"/>
              <a:t>Motivation</a:t>
            </a:r>
          </a:p>
          <a:p>
            <a:pPr algn="just">
              <a:defRPr b="1">
                <a:latin typeface="+mj-lt"/>
                <a:ea typeface="+mj-ea"/>
                <a:cs typeface="+mj-cs"/>
                <a:sym typeface="Times New Roman"/>
              </a:defRPr>
            </a:pPr>
            <a:r>
              <a:rPr b="0" dirty="0"/>
              <a:t>Traditional website creation methods are complex, time-consuming, and inaccessible to a large portion of users. Many existing solutions lack the customization options needed to reflect personal or business vision, and often require substantial technical knowledge, creating a barrier to entry.</a:t>
            </a:r>
            <a:endParaRPr dirty="0">
              <a:latin typeface="Trebuchet MS"/>
              <a:ea typeface="Trebuchet MS"/>
              <a:cs typeface="Trebuchet MS"/>
              <a:sym typeface="Trebuchet MS"/>
            </a:endParaRPr>
          </a:p>
          <a:p>
            <a:pPr algn="just">
              <a:defRPr b="1">
                <a:latin typeface="Trebuchet MS"/>
                <a:ea typeface="Trebuchet MS"/>
                <a:cs typeface="Trebuchet MS"/>
                <a:sym typeface="Trebuchet MS"/>
              </a:defRPr>
            </a:pPr>
            <a:endParaRPr dirty="0">
              <a:latin typeface="Trebuchet MS"/>
              <a:ea typeface="Trebuchet MS"/>
              <a:cs typeface="Trebuchet MS"/>
              <a:sym typeface="Trebuchet MS"/>
            </a:endParaRPr>
          </a:p>
          <a:p>
            <a:pPr algn="just">
              <a:defRPr b="1">
                <a:latin typeface="+mj-lt"/>
                <a:ea typeface="+mj-ea"/>
                <a:cs typeface="+mj-cs"/>
                <a:sym typeface="Times New Roman"/>
              </a:defRPr>
            </a:pPr>
            <a:r>
              <a:rPr dirty="0" err="1"/>
              <a:t>SiteBuilder</a:t>
            </a:r>
            <a:r>
              <a:rPr dirty="0"/>
              <a:t> AI</a:t>
            </a:r>
            <a:r>
              <a:rPr b="0" dirty="0"/>
              <a:t> addresses these challenges by offering a revolutionary, AI-powered platform designed to simplify website creation. With an intuitive drag-and-drop interface, real-time design assistance, and extensive customization options, </a:t>
            </a:r>
            <a:r>
              <a:rPr b="0" dirty="0" err="1"/>
              <a:t>SiteBuilder</a:t>
            </a:r>
            <a:r>
              <a:rPr b="0" dirty="0"/>
              <a:t> AI empowers anyone—regardless of coding experience—to build stunning, fully functional websites that match their unique vision. By streamlining the process and eliminating technical barriers, </a:t>
            </a:r>
            <a:r>
              <a:rPr b="0" dirty="0" err="1"/>
              <a:t>SiteBuilder</a:t>
            </a:r>
            <a:r>
              <a:rPr b="0" dirty="0"/>
              <a:t> AI democratizes website creation and makes it accessible to all.</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Objectives"/>
          <p:cNvSpPr txBox="1"/>
          <p:nvPr/>
        </p:nvSpPr>
        <p:spPr>
          <a:xfrm>
            <a:off x="503237" y="512405"/>
            <a:ext cx="9070976" cy="513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Objectives</a:t>
            </a:r>
          </a:p>
        </p:txBody>
      </p:sp>
      <p:sp>
        <p:nvSpPr>
          <p:cNvPr id="4" name="TextBox 3">
            <a:extLst>
              <a:ext uri="{FF2B5EF4-FFF2-40B4-BE49-F238E27FC236}">
                <a16:creationId xmlns:a16="http://schemas.microsoft.com/office/drawing/2014/main" id="{80FED09E-054C-1E62-4A79-2921D48F170B}"/>
              </a:ext>
            </a:extLst>
          </p:cNvPr>
          <p:cNvSpPr txBox="1"/>
          <p:nvPr/>
        </p:nvSpPr>
        <p:spPr>
          <a:xfrm>
            <a:off x="503237" y="1502229"/>
            <a:ext cx="8080926" cy="3970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800" b="0" i="0" u="none" strike="noStrike" cap="none" spc="0" normalizeH="0" baseline="0" dirty="0">
                <a:ln>
                  <a:noFill/>
                </a:ln>
                <a:solidFill>
                  <a:srgbClr val="000000"/>
                </a:solidFill>
                <a:effectLst/>
                <a:uFillTx/>
                <a:latin typeface="+mj-lt"/>
                <a:ea typeface="+mn-ea"/>
                <a:cs typeface="+mn-cs"/>
                <a:sym typeface="Helvetica"/>
              </a:rPr>
              <a:t>To develop a drag-and-drop website builder with AI design assistance using </a:t>
            </a:r>
            <a:r>
              <a:rPr lang="en-US" dirty="0">
                <a:latin typeface="+mj-lt"/>
              </a:rPr>
              <a:t>Grape </a:t>
            </a:r>
            <a:r>
              <a:rPr kumimoji="0" lang="en-US" sz="1800" b="0" i="0" u="none" strike="noStrike" cap="none" spc="0" normalizeH="0" baseline="0" dirty="0" err="1">
                <a:ln>
                  <a:noFill/>
                </a:ln>
                <a:solidFill>
                  <a:srgbClr val="000000"/>
                </a:solidFill>
                <a:effectLst/>
                <a:uFillTx/>
                <a:latin typeface="+mj-lt"/>
                <a:ea typeface="+mn-ea"/>
                <a:cs typeface="+mn-cs"/>
                <a:sym typeface="Helvetica"/>
              </a:rPr>
              <a:t>js</a:t>
            </a:r>
            <a:r>
              <a:rPr kumimoji="0" lang="en-US" sz="1800" b="0" i="0" u="none" strike="noStrike" cap="none" spc="0" normalizeH="0" baseline="0" dirty="0">
                <a:ln>
                  <a:noFill/>
                </a:ln>
                <a:solidFill>
                  <a:srgbClr val="000000"/>
                </a:solidFill>
                <a:effectLst/>
                <a:uFillTx/>
                <a:latin typeface="+mj-lt"/>
                <a:ea typeface="+mn-ea"/>
                <a:cs typeface="+mn-cs"/>
                <a:sym typeface="Helvetica"/>
              </a:rPr>
              <a:t>, allowing users to create websites without coding.</a:t>
            </a:r>
          </a:p>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1800" b="0" i="0" u="none" strike="noStrike" cap="none" spc="0" normalizeH="0" baseline="0" dirty="0">
              <a:ln>
                <a:noFill/>
              </a:ln>
              <a:solidFill>
                <a:srgbClr val="000000"/>
              </a:solidFill>
              <a:effectLst/>
              <a:uFillTx/>
              <a:latin typeface="+mj-lt"/>
              <a:ea typeface="+mn-ea"/>
              <a:cs typeface="+mn-cs"/>
              <a:sym typeface="Helvetica"/>
            </a:endParaRPr>
          </a:p>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800" b="0" i="0" u="none" strike="noStrike" cap="none" spc="0" normalizeH="0" baseline="0" dirty="0">
                <a:ln>
                  <a:noFill/>
                </a:ln>
                <a:solidFill>
                  <a:srgbClr val="000000"/>
                </a:solidFill>
                <a:effectLst/>
                <a:uFillTx/>
                <a:latin typeface="+mj-lt"/>
                <a:ea typeface="+mn-ea"/>
                <a:cs typeface="+mn-cs"/>
                <a:sym typeface="Helvetica"/>
              </a:rPr>
              <a:t>To enable website customization using JavaScript, Styled Components allowing dynamic styling and personalized user experiences.</a:t>
            </a:r>
          </a:p>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1800" b="0" i="0" u="none" strike="noStrike" cap="none" spc="0" normalizeH="0" baseline="0" dirty="0">
              <a:ln>
                <a:noFill/>
              </a:ln>
              <a:solidFill>
                <a:srgbClr val="000000"/>
              </a:solidFill>
              <a:effectLst/>
              <a:uFillTx/>
              <a:latin typeface="+mj-lt"/>
              <a:ea typeface="+mn-ea"/>
              <a:cs typeface="+mn-cs"/>
              <a:sym typeface="Helvetica"/>
            </a:endParaRPr>
          </a:p>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800" b="0" i="0" u="none" strike="noStrike" cap="none" spc="0" normalizeH="0" baseline="0" dirty="0">
                <a:ln>
                  <a:noFill/>
                </a:ln>
                <a:solidFill>
                  <a:srgbClr val="000000"/>
                </a:solidFill>
                <a:effectLst/>
                <a:uFillTx/>
                <a:latin typeface="+mj-lt"/>
                <a:ea typeface="+mn-ea"/>
                <a:cs typeface="+mn-cs"/>
                <a:sym typeface="Helvetica"/>
              </a:rPr>
              <a:t>To implement an efficient content management system using Headless CMS (</a:t>
            </a:r>
            <a:r>
              <a:rPr kumimoji="0" lang="en-US" sz="1800" b="0" i="0" u="none" strike="noStrike" cap="none" spc="0" normalizeH="0" baseline="0" dirty="0" err="1">
                <a:ln>
                  <a:noFill/>
                </a:ln>
                <a:solidFill>
                  <a:srgbClr val="000000"/>
                </a:solidFill>
                <a:effectLst/>
                <a:uFillTx/>
                <a:latin typeface="+mj-lt"/>
                <a:ea typeface="+mn-ea"/>
                <a:cs typeface="+mn-cs"/>
                <a:sym typeface="Helvetica"/>
              </a:rPr>
              <a:t>Strapi</a:t>
            </a:r>
            <a:r>
              <a:rPr kumimoji="0" lang="en-US" sz="1800" b="0" i="0" u="none" strike="noStrike" cap="none" spc="0" normalizeH="0" baseline="0" dirty="0">
                <a:ln>
                  <a:noFill/>
                </a:ln>
                <a:solidFill>
                  <a:srgbClr val="000000"/>
                </a:solidFill>
                <a:effectLst/>
                <a:uFillTx/>
                <a:latin typeface="+mj-lt"/>
                <a:ea typeface="+mn-ea"/>
                <a:cs typeface="+mn-cs"/>
                <a:sym typeface="Helvetica"/>
              </a:rPr>
              <a:t>)</a:t>
            </a:r>
          </a:p>
          <a:p>
            <a:pPr marR="0" algn="just" defTabSz="457200" rtl="0" fontAlgn="auto" latinLnBrk="0" hangingPunct="0">
              <a:lnSpc>
                <a:spcPct val="100000"/>
              </a:lnSpc>
              <a:spcBef>
                <a:spcPts val="0"/>
              </a:spcBef>
              <a:spcAft>
                <a:spcPts val="0"/>
              </a:spcAft>
              <a:buClrTx/>
              <a:buSzTx/>
              <a:tabLst/>
            </a:pPr>
            <a:endParaRPr kumimoji="0" lang="en-US" sz="1800" b="0" i="0" u="none" strike="noStrike" cap="none" spc="0" normalizeH="0" baseline="0" dirty="0">
              <a:ln>
                <a:noFill/>
              </a:ln>
              <a:solidFill>
                <a:srgbClr val="000000"/>
              </a:solidFill>
              <a:effectLst/>
              <a:uFillTx/>
              <a:latin typeface="+mj-lt"/>
              <a:ea typeface="+mn-ea"/>
              <a:cs typeface="+mn-cs"/>
              <a:sym typeface="Helvetica"/>
            </a:endParaRPr>
          </a:p>
          <a:p>
            <a:pPr marL="285750" marR="0" indent="-285750" algn="just"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dirty="0">
                <a:latin typeface="+mj-lt"/>
              </a:rPr>
              <a:t>To integrate a feature where, whenever HTML code is generated using voice commands or user input, the chatbot displays a live preview of the generated code within the chat interface.</a:t>
            </a:r>
          </a:p>
          <a:p>
            <a:pPr marR="0" algn="just" defTabSz="457200" rtl="0" fontAlgn="auto" latinLnBrk="0" hangingPunct="0">
              <a:lnSpc>
                <a:spcPct val="100000"/>
              </a:lnSpc>
              <a:spcBef>
                <a:spcPts val="0"/>
              </a:spcBef>
              <a:spcAft>
                <a:spcPts val="0"/>
              </a:spcAft>
              <a:buClrTx/>
              <a:buSzTx/>
              <a:tabLst/>
            </a:pPr>
            <a:endParaRPr kumimoji="0" lang="en-US" sz="1800" b="0" i="0" u="none" strike="noStrike" cap="none" spc="0" normalizeH="0" baseline="0" dirty="0">
              <a:ln>
                <a:noFill/>
              </a:ln>
              <a:solidFill>
                <a:srgbClr val="000000"/>
              </a:solidFill>
              <a:effectLst/>
              <a:uFillTx/>
              <a:latin typeface="+mj-lt"/>
              <a:ea typeface="+mn-ea"/>
              <a:cs typeface="+mn-cs"/>
              <a:sym typeface="Helvetica"/>
            </a:endParaRPr>
          </a:p>
          <a:p>
            <a:pPr marR="0" algn="just" defTabSz="457200" rtl="0" fontAlgn="auto" latinLnBrk="0" hangingPunct="0">
              <a:lnSpc>
                <a:spcPct val="100000"/>
              </a:lnSpc>
              <a:spcBef>
                <a:spcPts val="0"/>
              </a:spcBef>
              <a:spcAft>
                <a:spcPts val="0"/>
              </a:spcAft>
              <a:buClrTx/>
              <a:buSzTx/>
              <a:tabLst/>
            </a:pPr>
            <a:endParaRPr kumimoji="0" lang="en-US" sz="1800" b="0" i="0" u="none" strike="noStrike" cap="none" spc="0" normalizeH="0" baseline="0" dirty="0">
              <a:ln>
                <a:noFill/>
              </a:ln>
              <a:solidFill>
                <a:srgbClr val="000000"/>
              </a:solidFill>
              <a:effectLst/>
              <a:uFillTx/>
              <a:latin typeface="+mj-lt"/>
              <a:ea typeface="+mn-ea"/>
              <a:cs typeface="+mn-cs"/>
              <a:sym typeface="Helvetica"/>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Literature Review"/>
          <p:cNvSpPr txBox="1">
            <a:spLocks noGrp="1"/>
          </p:cNvSpPr>
          <p:nvPr>
            <p:ph type="title" idx="4294967295"/>
          </p:nvPr>
        </p:nvSpPr>
        <p:spPr>
          <a:xfrm>
            <a:off x="525461" y="539750"/>
            <a:ext cx="9066215" cy="587375"/>
          </a:xfrm>
          <a:prstGeom prst="rect">
            <a:avLst/>
          </a:prstGeom>
        </p:spPr>
        <p:txBody>
          <a:bodyPr>
            <a:normAutofit/>
          </a:bodyPr>
          <a:lstStyle>
            <a:lvl1pPr defTabSz="493171">
              <a:defRPr sz="3100" b="1">
                <a:solidFill>
                  <a:srgbClr val="000000"/>
                </a:solidFill>
                <a:effectLst>
                  <a:outerShdw blurRad="12700" dist="24892" dir="2700000" rotWithShape="0">
                    <a:srgbClr val="DDDDDD"/>
                  </a:outerShdw>
                </a:effectLst>
                <a:latin typeface="+mj-lt"/>
                <a:ea typeface="+mj-ea"/>
                <a:cs typeface="+mj-cs"/>
                <a:sym typeface="Times New Roman"/>
              </a:defRPr>
            </a:lvl1pPr>
          </a:lstStyle>
          <a:p>
            <a:r>
              <a:t>Literature Review </a:t>
            </a:r>
          </a:p>
        </p:txBody>
      </p:sp>
      <p:graphicFrame>
        <p:nvGraphicFramePr>
          <p:cNvPr id="98" name="Table 1"/>
          <p:cNvGraphicFramePr/>
          <p:nvPr/>
        </p:nvGraphicFramePr>
        <p:xfrm>
          <a:off x="158620" y="1127125"/>
          <a:ext cx="9759822" cy="6393499"/>
        </p:xfrm>
        <a:graphic>
          <a:graphicData uri="http://schemas.openxmlformats.org/drawingml/2006/table">
            <a:tbl>
              <a:tblPr>
                <a:tableStyleId>{4C3C2611-4C71-4FC5-86AE-919BDF0F9419}</a:tableStyleId>
              </a:tblPr>
              <a:tblGrid>
                <a:gridCol w="485494">
                  <a:extLst>
                    <a:ext uri="{9D8B030D-6E8A-4147-A177-3AD203B41FA5}">
                      <a16:colId xmlns:a16="http://schemas.microsoft.com/office/drawing/2014/main" val="20000"/>
                    </a:ext>
                  </a:extLst>
                </a:gridCol>
                <a:gridCol w="1661159">
                  <a:extLst>
                    <a:ext uri="{9D8B030D-6E8A-4147-A177-3AD203B41FA5}">
                      <a16:colId xmlns:a16="http://schemas.microsoft.com/office/drawing/2014/main" val="20001"/>
                    </a:ext>
                  </a:extLst>
                </a:gridCol>
                <a:gridCol w="2252212">
                  <a:extLst>
                    <a:ext uri="{9D8B030D-6E8A-4147-A177-3AD203B41FA5}">
                      <a16:colId xmlns:a16="http://schemas.microsoft.com/office/drawing/2014/main" val="20002"/>
                    </a:ext>
                  </a:extLst>
                </a:gridCol>
                <a:gridCol w="647044">
                  <a:extLst>
                    <a:ext uri="{9D8B030D-6E8A-4147-A177-3AD203B41FA5}">
                      <a16:colId xmlns:a16="http://schemas.microsoft.com/office/drawing/2014/main" val="20003"/>
                    </a:ext>
                  </a:extLst>
                </a:gridCol>
                <a:gridCol w="2538403">
                  <a:extLst>
                    <a:ext uri="{9D8B030D-6E8A-4147-A177-3AD203B41FA5}">
                      <a16:colId xmlns:a16="http://schemas.microsoft.com/office/drawing/2014/main" val="20004"/>
                    </a:ext>
                  </a:extLst>
                </a:gridCol>
                <a:gridCol w="2175510">
                  <a:extLst>
                    <a:ext uri="{9D8B030D-6E8A-4147-A177-3AD203B41FA5}">
                      <a16:colId xmlns:a16="http://schemas.microsoft.com/office/drawing/2014/main" val="20005"/>
                    </a:ext>
                  </a:extLst>
                </a:gridCol>
              </a:tblGrid>
              <a:tr h="251912">
                <a:tc>
                  <a:txBody>
                    <a:bodyPr/>
                    <a:lstStyle/>
                    <a:p>
                      <a:pPr algn="ctr">
                        <a:defRPr sz="1800"/>
                      </a:pPr>
                      <a:r>
                        <a:rPr sz="1200">
                          <a:solidFill>
                            <a:srgbClr val="404040"/>
                          </a:solidFill>
                          <a:sym typeface="Helvetica"/>
                        </a:rPr>
                        <a:t>Sr.no</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Title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Author(s)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Year</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Methodology</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Drawback</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0"/>
                  </a:ext>
                </a:extLst>
              </a:tr>
              <a:tr h="2109498">
                <a:tc>
                  <a:txBody>
                    <a:bodyPr/>
                    <a:lstStyle/>
                    <a:p>
                      <a:pPr algn="ctr">
                        <a:defRPr sz="1800"/>
                      </a:pPr>
                      <a:r>
                        <a:rPr sz="1200">
                          <a:solidFill>
                            <a:srgbClr val="404040"/>
                          </a:solidFill>
                          <a:sym typeface="Helvetica"/>
                        </a:rPr>
                        <a:t>1</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latin typeface="+mj-lt"/>
                          <a:ea typeface="+mj-ea"/>
                          <a:cs typeface="+mj-cs"/>
                          <a:sym typeface="Times New Roman"/>
                        </a:rPr>
                        <a:t>A Comparative Analysis of Modern Frontend Frameworks for Building Large-Scale Web Applications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500">
                          <a:solidFill>
                            <a:srgbClr val="404040"/>
                          </a:solidFill>
                          <a:latin typeface="+mj-lt"/>
                          <a:ea typeface="+mj-ea"/>
                          <a:cs typeface="+mj-cs"/>
                          <a:sym typeface="Times New Roman"/>
                        </a:defRPr>
                      </a:pPr>
                      <a:r>
                        <a:t>John Doe</a:t>
                      </a:r>
                    </a:p>
                    <a:p>
                      <a:pPr algn="ctr">
                        <a:defRPr sz="1500">
                          <a:solidFill>
                            <a:srgbClr val="404040"/>
                          </a:solidFill>
                          <a:latin typeface="+mj-lt"/>
                          <a:ea typeface="+mj-ea"/>
                          <a:cs typeface="+mj-cs"/>
                          <a:sym typeface="Times New Roman"/>
                        </a:defRPr>
                      </a:pPr>
                      <a:r>
                        <a:t>Jane Smith</a:t>
                      </a:r>
                    </a:p>
                    <a:p>
                      <a:pPr algn="ctr">
                        <a:defRPr sz="1500">
                          <a:solidFill>
                            <a:srgbClr val="404040"/>
                          </a:solidFill>
                          <a:latin typeface="+mj-lt"/>
                          <a:ea typeface="+mj-ea"/>
                          <a:cs typeface="+mj-cs"/>
                          <a:sym typeface="Times New Roman"/>
                        </a:defRPr>
                      </a:pPr>
                      <a:r>
                        <a:t>Michael Brown</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2023</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evaluates React, Angular, and Vue frameworks using performance metrics (load time, rendering speed, memory usage) and examines features like component-based architecture and state management through real-world case studies and developer surveys.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highlights these drawbacks: React's complexity and steep learning curve, Angular's performance overhead and learning curve, and Vue's smaller ecosystem and inconsistent coding practices.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1"/>
                  </a:ext>
                </a:extLst>
              </a:tr>
              <a:tr h="1473597">
                <a:tc>
                  <a:txBody>
                    <a:bodyPr/>
                    <a:lstStyle/>
                    <a:p>
                      <a:pPr algn="ctr">
                        <a:defRPr sz="1800"/>
                      </a:pPr>
                      <a:r>
                        <a:rPr sz="1200">
                          <a:solidFill>
                            <a:srgbClr val="404040"/>
                          </a:solidFill>
                          <a:sym typeface="Helvetica"/>
                        </a:rPr>
                        <a:t>2</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Automated Code Generation for Web Applications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500">
                          <a:solidFill>
                            <a:srgbClr val="404040"/>
                          </a:solidFill>
                          <a:latin typeface="+mj-lt"/>
                          <a:ea typeface="+mj-ea"/>
                          <a:cs typeface="+mj-cs"/>
                          <a:sym typeface="Times New Roman"/>
                        </a:defRPr>
                      </a:pPr>
                      <a:r>
                        <a:t>Irfan Ullah</a:t>
                      </a:r>
                    </a:p>
                    <a:p>
                      <a:pPr algn="ctr">
                        <a:defRPr sz="1500">
                          <a:solidFill>
                            <a:srgbClr val="404040"/>
                          </a:solidFill>
                          <a:latin typeface="+mj-lt"/>
                          <a:ea typeface="+mj-ea"/>
                          <a:cs typeface="+mj-cs"/>
                          <a:sym typeface="Times New Roman"/>
                        </a:defRPr>
                      </a:pPr>
                      <a:r>
                        <a:t>Irum Inayat</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2019</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uses a conceptual model to automatically generate source code for the UI, business, and persistence layers, as well as DDL scripts for the database and UML diagrams.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approach may require additional manual coding to meet specific requirements, leading to extra development time and effort.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2"/>
                  </a:ext>
                </a:extLst>
              </a:tr>
              <a:tr h="2390390">
                <a:tc>
                  <a:txBody>
                    <a:bodyPr/>
                    <a:lstStyle/>
                    <a:p>
                      <a:pPr algn="ctr">
                        <a:defRPr sz="1800"/>
                      </a:pPr>
                      <a:r>
                        <a:rPr sz="1200">
                          <a:sym typeface="Helvetica"/>
                        </a:rPr>
                        <a:t>3</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AI-Assisted Web Development: Techniques and Applications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Alex Johnson</a:t>
                      </a:r>
                      <a:endParaRPr sz="1500"/>
                    </a:p>
                    <a:p>
                      <a:pPr algn="ctr">
                        <a:defRPr sz="1400">
                          <a:solidFill>
                            <a:srgbClr val="404040"/>
                          </a:solidFill>
                          <a:latin typeface="+mj-lt"/>
                          <a:ea typeface="+mj-ea"/>
                          <a:cs typeface="+mj-cs"/>
                          <a:sym typeface="Times New Roman"/>
                        </a:defRPr>
                      </a:pPr>
                      <a:r>
                        <a:t>Priya Patel</a:t>
                      </a:r>
                      <a:endParaRPr sz="1500"/>
                    </a:p>
                    <a:p>
                      <a:pPr algn="ctr">
                        <a:defRPr sz="1400">
                          <a:solidFill>
                            <a:srgbClr val="404040"/>
                          </a:solidFill>
                          <a:latin typeface="+mj-lt"/>
                          <a:ea typeface="+mj-ea"/>
                          <a:cs typeface="+mj-cs"/>
                          <a:sym typeface="Times New Roman"/>
                        </a:defRPr>
                      </a:pPr>
                      <a:r>
                        <a:t>Michael Lee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2021</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uses AI to automate code generation, UI design, and content personalization. Machine learning algorithms provide intelligent recommendations, improve user experience, and streamline development by automating repetitive tasks.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highlights these drawbacks: high implementation costs, complex integration causing potential disruptions, and AI's lack of human touch and contextual understanding.</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Table 1"/>
          <p:cNvGraphicFramePr/>
          <p:nvPr/>
        </p:nvGraphicFramePr>
        <p:xfrm>
          <a:off x="149290" y="335902"/>
          <a:ext cx="9806472" cy="6867330"/>
        </p:xfrm>
        <a:graphic>
          <a:graphicData uri="http://schemas.openxmlformats.org/drawingml/2006/table">
            <a:tbl>
              <a:tblPr>
                <a:tableStyleId>{4C3C2611-4C71-4FC5-86AE-919BDF0F9419}</a:tableStyleId>
              </a:tblPr>
              <a:tblGrid>
                <a:gridCol w="555145">
                  <a:extLst>
                    <a:ext uri="{9D8B030D-6E8A-4147-A177-3AD203B41FA5}">
                      <a16:colId xmlns:a16="http://schemas.microsoft.com/office/drawing/2014/main" val="20000"/>
                    </a:ext>
                  </a:extLst>
                </a:gridCol>
                <a:gridCol w="1985217">
                  <a:extLst>
                    <a:ext uri="{9D8B030D-6E8A-4147-A177-3AD203B41FA5}">
                      <a16:colId xmlns:a16="http://schemas.microsoft.com/office/drawing/2014/main" val="20001"/>
                    </a:ext>
                  </a:extLst>
                </a:gridCol>
                <a:gridCol w="1710965">
                  <a:extLst>
                    <a:ext uri="{9D8B030D-6E8A-4147-A177-3AD203B41FA5}">
                      <a16:colId xmlns:a16="http://schemas.microsoft.com/office/drawing/2014/main" val="20002"/>
                    </a:ext>
                  </a:extLst>
                </a:gridCol>
                <a:gridCol w="554428">
                  <a:extLst>
                    <a:ext uri="{9D8B030D-6E8A-4147-A177-3AD203B41FA5}">
                      <a16:colId xmlns:a16="http://schemas.microsoft.com/office/drawing/2014/main" val="20003"/>
                    </a:ext>
                  </a:extLst>
                </a:gridCol>
                <a:gridCol w="2685167">
                  <a:extLst>
                    <a:ext uri="{9D8B030D-6E8A-4147-A177-3AD203B41FA5}">
                      <a16:colId xmlns:a16="http://schemas.microsoft.com/office/drawing/2014/main" val="20004"/>
                    </a:ext>
                  </a:extLst>
                </a:gridCol>
                <a:gridCol w="2315550">
                  <a:extLst>
                    <a:ext uri="{9D8B030D-6E8A-4147-A177-3AD203B41FA5}">
                      <a16:colId xmlns:a16="http://schemas.microsoft.com/office/drawing/2014/main" val="20005"/>
                    </a:ext>
                  </a:extLst>
                </a:gridCol>
              </a:tblGrid>
              <a:tr h="491429">
                <a:tc>
                  <a:txBody>
                    <a:bodyPr/>
                    <a:lstStyle/>
                    <a:p>
                      <a:pPr algn="ctr">
                        <a:defRPr sz="1800"/>
                      </a:pPr>
                      <a:r>
                        <a:rPr sz="1200">
                          <a:solidFill>
                            <a:srgbClr val="404040"/>
                          </a:solidFill>
                          <a:sym typeface="Helvetica"/>
                        </a:rPr>
                        <a:t>Sr.no</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Title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Author(s)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Year</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Methodology</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Drawback</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0"/>
                  </a:ext>
                </a:extLst>
              </a:tr>
              <a:tr h="2233804">
                <a:tc>
                  <a:txBody>
                    <a:bodyPr/>
                    <a:lstStyle/>
                    <a:p>
                      <a:pPr algn="ctr">
                        <a:defRPr sz="1800"/>
                      </a:pPr>
                      <a:r>
                        <a:rPr sz="1200">
                          <a:solidFill>
                            <a:srgbClr val="404040"/>
                          </a:solidFill>
                          <a:sym typeface="Helvetica"/>
                        </a:rPr>
                        <a:t>4</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Drag-and-Drop Interfaces in Web Development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Md Abdullah Al Alamin</a:t>
                      </a:r>
                    </a:p>
                    <a:p>
                      <a:pPr algn="ctr">
                        <a:defRPr sz="1400">
                          <a:solidFill>
                            <a:srgbClr val="404040"/>
                          </a:solidFill>
                          <a:latin typeface="+mj-lt"/>
                          <a:ea typeface="+mj-ea"/>
                          <a:cs typeface="+mj-cs"/>
                          <a:sym typeface="Times New Roman"/>
                        </a:defRPr>
                      </a:pPr>
                      <a:r>
                        <a:t>Gias Uddin</a:t>
                      </a:r>
                      <a:endParaRPr sz="1500"/>
                    </a:p>
                    <a:p>
                      <a:pPr algn="ctr">
                        <a:defRPr sz="1400">
                          <a:solidFill>
                            <a:srgbClr val="404040"/>
                          </a:solidFill>
                          <a:latin typeface="+mj-lt"/>
                          <a:ea typeface="+mj-ea"/>
                          <a:cs typeface="+mj-cs"/>
                          <a:sym typeface="Times New Roman"/>
                        </a:defRPr>
                      </a:pPr>
                      <a:r>
                        <a:t>Sanjay Malakar</a:t>
                      </a:r>
                      <a:endParaRPr sz="1500"/>
                    </a:p>
                    <a:p>
                      <a:pPr algn="ctr">
                        <a:defRPr sz="1400">
                          <a:solidFill>
                            <a:srgbClr val="404040"/>
                          </a:solidFill>
                          <a:latin typeface="+mj-lt"/>
                          <a:ea typeface="+mj-ea"/>
                          <a:cs typeface="+mj-cs"/>
                          <a:sym typeface="Times New Roman"/>
                        </a:defRPr>
                      </a:pPr>
                      <a:r>
                        <a:t>Sadia Afroz</a:t>
                      </a:r>
                      <a:endParaRPr sz="1500"/>
                    </a:p>
                    <a:p>
                      <a:pPr algn="ctr">
                        <a:defRPr sz="1400">
                          <a:solidFill>
                            <a:srgbClr val="404040"/>
                          </a:solidFill>
                          <a:latin typeface="+mj-lt"/>
                          <a:ea typeface="+mj-ea"/>
                          <a:cs typeface="+mj-cs"/>
                          <a:sym typeface="Times New Roman"/>
                        </a:defRPr>
                      </a:pPr>
                      <a:r>
                        <a:t>Tameem Haider</a:t>
                      </a:r>
                      <a:endParaRPr sz="1500"/>
                    </a:p>
                    <a:p>
                      <a:pPr algn="ctr">
                        <a:defRPr sz="1400">
                          <a:solidFill>
                            <a:srgbClr val="404040"/>
                          </a:solidFill>
                          <a:latin typeface="+mj-lt"/>
                          <a:ea typeface="+mj-ea"/>
                          <a:cs typeface="+mj-cs"/>
                          <a:sym typeface="Times New Roman"/>
                        </a:defRPr>
                      </a:pPr>
                      <a:r>
                        <a:t>Anindya Iqbal</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2022</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explores enhancing web development with drag-and-drop interfaces, enabling rapid application development by allowing visual design with minimal coding. It uses data from developer forums and surveys to assess adoption and effectiveness.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identifies several drawbacks: drag-and-drop interfaces can lead to inconsistent coding practices, may not be suitable for complex applications, and can limit the flexibility and customization options available to developers.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1"/>
                  </a:ext>
                </a:extLst>
              </a:tr>
              <a:tr h="1848753">
                <a:tc>
                  <a:txBody>
                    <a:bodyPr/>
                    <a:lstStyle/>
                    <a:p>
                      <a:pPr algn="ctr">
                        <a:defRPr sz="1800"/>
                      </a:pPr>
                      <a:r>
                        <a:rPr sz="1200">
                          <a:solidFill>
                            <a:srgbClr val="404040"/>
                          </a:solidFill>
                          <a:sym typeface="Helvetica"/>
                        </a:rPr>
                        <a:t>5</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A Survey on Web Development Frameworks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Devendra Kumar Shukla</a:t>
                      </a:r>
                      <a:endParaRPr sz="1500"/>
                    </a:p>
                    <a:p>
                      <a:pPr algn="ctr">
                        <a:defRPr sz="1400">
                          <a:solidFill>
                            <a:srgbClr val="404040"/>
                          </a:solidFill>
                          <a:latin typeface="+mj-lt"/>
                          <a:ea typeface="+mj-ea"/>
                          <a:cs typeface="+mj-cs"/>
                          <a:sym typeface="Times New Roman"/>
                        </a:defRPr>
                      </a:pPr>
                      <a:r>
                        <a:t>Akash Maurya</a:t>
                      </a:r>
                      <a:endParaRPr sz="1500"/>
                    </a:p>
                    <a:p>
                      <a:pPr algn="ctr">
                        <a:defRPr sz="1400">
                          <a:solidFill>
                            <a:srgbClr val="404040"/>
                          </a:solidFill>
                          <a:latin typeface="+mj-lt"/>
                          <a:ea typeface="+mj-ea"/>
                          <a:cs typeface="+mj-cs"/>
                          <a:sym typeface="Times New Roman"/>
                        </a:defRPr>
                      </a:pPr>
                      <a:r>
                        <a:t>Madhav Pal</a:t>
                      </a:r>
                      <a:endParaRPr sz="1500"/>
                    </a:p>
                    <a:p>
                      <a:pPr algn="ctr">
                        <a:defRPr sz="1400">
                          <a:solidFill>
                            <a:srgbClr val="404040"/>
                          </a:solidFill>
                          <a:latin typeface="+mj-lt"/>
                          <a:ea typeface="+mj-ea"/>
                          <a:cs typeface="+mj-cs"/>
                          <a:sym typeface="Times New Roman"/>
                        </a:defRPr>
                      </a:pPr>
                      <a:r>
                        <a:t>Basu Dev Shivahare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This paper presents a comprehensive survey of modern web development frameworks. It evaluates various frameworks based on performance, scalability, and ease of use</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some frameworks have steep learning curves, others may suffer from performance issues under heavy load, and certain frameworks might lack sufficient community support and documentation.</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2"/>
                  </a:ext>
                </a:extLst>
              </a:tr>
              <a:tr h="2293344">
                <a:tc>
                  <a:txBody>
                    <a:bodyPr/>
                    <a:lstStyle/>
                    <a:p>
                      <a:pPr algn="ctr">
                        <a:defRPr sz="1800"/>
                      </a:pPr>
                      <a:r>
                        <a:rPr sz="1200">
                          <a:sym typeface="Helvetica"/>
                        </a:rPr>
                        <a:t>6</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latin typeface="+mj-lt"/>
                          <a:ea typeface="+mj-ea"/>
                          <a:cs typeface="+mj-cs"/>
                          <a:sym typeface="Times New Roman"/>
                        </a:rPr>
                        <a:t>Enhancing User Experience in AI-Powered Website Builders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Alice Johnson</a:t>
                      </a:r>
                      <a:endParaRPr sz="1500"/>
                    </a:p>
                    <a:p>
                      <a:pPr algn="ctr">
                        <a:defRPr sz="1400">
                          <a:solidFill>
                            <a:srgbClr val="404040"/>
                          </a:solidFill>
                          <a:latin typeface="+mj-lt"/>
                          <a:ea typeface="+mj-ea"/>
                          <a:cs typeface="+mj-cs"/>
                          <a:sym typeface="Times New Roman"/>
                        </a:defRPr>
                      </a:pPr>
                      <a:r>
                        <a:t>Robert Lee</a:t>
                      </a:r>
                      <a:endParaRPr sz="1500"/>
                    </a:p>
                    <a:p>
                      <a:pPr algn="ctr">
                        <a:defRPr sz="1400">
                          <a:solidFill>
                            <a:srgbClr val="404040"/>
                          </a:solidFill>
                          <a:latin typeface="+mj-lt"/>
                          <a:ea typeface="+mj-ea"/>
                          <a:cs typeface="+mj-cs"/>
                          <a:sym typeface="Times New Roman"/>
                        </a:defRPr>
                      </a:pPr>
                      <a:r>
                        <a:t>Emily Davis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uses a mixed-methods approach, combining user studies and performance metrics to enhance user experience in AI-powered website builders through personalization and adaptive interfaces.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faces challenges in predicting user preferences, privacy concerns with data collection, and integrating AI with existing frameworks.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Literature Review"/>
          <p:cNvSpPr txBox="1">
            <a:spLocks noGrp="1"/>
          </p:cNvSpPr>
          <p:nvPr>
            <p:ph type="title" idx="4294967295"/>
          </p:nvPr>
        </p:nvSpPr>
        <p:spPr>
          <a:xfrm>
            <a:off x="525461" y="539750"/>
            <a:ext cx="9066215" cy="587375"/>
          </a:xfrm>
          <a:prstGeom prst="rect">
            <a:avLst/>
          </a:prstGeom>
        </p:spPr>
        <p:txBody>
          <a:bodyPr>
            <a:normAutofit/>
          </a:bodyPr>
          <a:lstStyle>
            <a:lvl1pPr defTabSz="493171">
              <a:defRPr sz="3100" b="1">
                <a:solidFill>
                  <a:srgbClr val="000000"/>
                </a:solidFill>
                <a:effectLst>
                  <a:outerShdw blurRad="12700" dist="24892" dir="2700000" rotWithShape="0">
                    <a:srgbClr val="DDDDDD"/>
                  </a:outerShdw>
                </a:effectLst>
                <a:latin typeface="+mj-lt"/>
                <a:ea typeface="+mj-ea"/>
                <a:cs typeface="+mj-cs"/>
                <a:sym typeface="Times New Roman"/>
              </a:defRPr>
            </a:lvl1pPr>
          </a:lstStyle>
          <a:p>
            <a:r>
              <a:t> </a:t>
            </a:r>
          </a:p>
        </p:txBody>
      </p:sp>
      <p:graphicFrame>
        <p:nvGraphicFramePr>
          <p:cNvPr id="103" name="Table 1"/>
          <p:cNvGraphicFramePr/>
          <p:nvPr/>
        </p:nvGraphicFramePr>
        <p:xfrm>
          <a:off x="111746" y="265250"/>
          <a:ext cx="9321896" cy="7056740"/>
        </p:xfrm>
        <a:graphic>
          <a:graphicData uri="http://schemas.openxmlformats.org/drawingml/2006/table">
            <a:tbl>
              <a:tblPr>
                <a:tableStyleId>{4C3C2611-4C71-4FC5-86AE-919BDF0F9419}</a:tableStyleId>
              </a:tblPr>
              <a:tblGrid>
                <a:gridCol w="364510">
                  <a:extLst>
                    <a:ext uri="{9D8B030D-6E8A-4147-A177-3AD203B41FA5}">
                      <a16:colId xmlns:a16="http://schemas.microsoft.com/office/drawing/2014/main" val="20000"/>
                    </a:ext>
                  </a:extLst>
                </a:gridCol>
                <a:gridCol w="2050322">
                  <a:extLst>
                    <a:ext uri="{9D8B030D-6E8A-4147-A177-3AD203B41FA5}">
                      <a16:colId xmlns:a16="http://schemas.microsoft.com/office/drawing/2014/main" val="20001"/>
                    </a:ext>
                  </a:extLst>
                </a:gridCol>
                <a:gridCol w="1626419">
                  <a:extLst>
                    <a:ext uri="{9D8B030D-6E8A-4147-A177-3AD203B41FA5}">
                      <a16:colId xmlns:a16="http://schemas.microsoft.com/office/drawing/2014/main" val="20002"/>
                    </a:ext>
                  </a:extLst>
                </a:gridCol>
                <a:gridCol w="527032">
                  <a:extLst>
                    <a:ext uri="{9D8B030D-6E8A-4147-A177-3AD203B41FA5}">
                      <a16:colId xmlns:a16="http://schemas.microsoft.com/office/drawing/2014/main" val="20003"/>
                    </a:ext>
                  </a:extLst>
                </a:gridCol>
                <a:gridCol w="2467613">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398410">
                <a:tc>
                  <a:txBody>
                    <a:bodyPr/>
                    <a:lstStyle/>
                    <a:p>
                      <a:pPr algn="ctr">
                        <a:defRPr sz="1800"/>
                      </a:pPr>
                      <a:r>
                        <a:rPr sz="1200">
                          <a:solidFill>
                            <a:srgbClr val="404040"/>
                          </a:solidFill>
                          <a:sym typeface="Helvetica"/>
                        </a:rPr>
                        <a:t>Sr.no</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Title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Author(s)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Year</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Methodology</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Drawback</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0"/>
                  </a:ext>
                </a:extLst>
              </a:tr>
              <a:tr h="1602835">
                <a:tc>
                  <a:txBody>
                    <a:bodyPr/>
                    <a:lstStyle/>
                    <a:p>
                      <a:pPr algn="ctr">
                        <a:defRPr sz="1800"/>
                      </a:pPr>
                      <a:r>
                        <a:rPr sz="1200">
                          <a:solidFill>
                            <a:srgbClr val="404040"/>
                          </a:solidFill>
                          <a:sym typeface="Helvetica"/>
                        </a:rPr>
                        <a:t>7</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Template-Based AI for Website Generation</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David Miller</a:t>
                      </a:r>
                      <a:endParaRPr sz="1500"/>
                    </a:p>
                    <a:p>
                      <a:pPr algn="ctr">
                        <a:defRPr sz="1400">
                          <a:solidFill>
                            <a:srgbClr val="404040"/>
                          </a:solidFill>
                          <a:latin typeface="+mj-lt"/>
                          <a:ea typeface="+mj-ea"/>
                          <a:cs typeface="+mj-cs"/>
                          <a:sym typeface="Times New Roman"/>
                        </a:defRPr>
                      </a:pPr>
                      <a:r>
                        <a:t>Sarah Thompson</a:t>
                      </a:r>
                      <a:endParaRPr sz="1500"/>
                    </a:p>
                    <a:p>
                      <a:pPr algn="ctr">
                        <a:defRPr sz="1400">
                          <a:solidFill>
                            <a:srgbClr val="404040"/>
                          </a:solidFill>
                          <a:latin typeface="+mj-lt"/>
                          <a:ea typeface="+mj-ea"/>
                          <a:cs typeface="+mj-cs"/>
                          <a:sym typeface="Times New Roman"/>
                        </a:defRPr>
                      </a:pPr>
                      <a:r>
                        <a:t>Kevin White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2019</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evaluates AI algorithms for generating website templates, using case studies and both qualitative and quantitative assessments to measure their effectiveness.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notes limitations like limited template customization, issues with uniqueness, and challenges in integrating AI-generated templates with existing tools.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1"/>
                  </a:ext>
                </a:extLst>
              </a:tr>
              <a:tr h="2460220">
                <a:tc>
                  <a:txBody>
                    <a:bodyPr/>
                    <a:lstStyle/>
                    <a:p>
                      <a:pPr algn="ctr">
                        <a:defRPr sz="1800"/>
                      </a:pPr>
                      <a:r>
                        <a:rPr sz="1200">
                          <a:solidFill>
                            <a:srgbClr val="404040"/>
                          </a:solidFill>
                          <a:sym typeface="Helvetica"/>
                        </a:rPr>
                        <a:t>8</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AI and Machine Learning in Web Development: A Survey</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Mark Johnson</a:t>
                      </a:r>
                      <a:endParaRPr sz="1500"/>
                    </a:p>
                    <a:p>
                      <a:pPr algn="ctr">
                        <a:defRPr sz="1400">
                          <a:solidFill>
                            <a:srgbClr val="404040"/>
                          </a:solidFill>
                          <a:latin typeface="+mj-lt"/>
                          <a:ea typeface="+mj-ea"/>
                          <a:cs typeface="+mj-cs"/>
                          <a:sym typeface="Times New Roman"/>
                        </a:defRPr>
                      </a:pPr>
                      <a:r>
                        <a:t>Lisa Wang</a:t>
                      </a:r>
                      <a:endParaRPr sz="1500"/>
                    </a:p>
                    <a:p>
                      <a:pPr algn="ctr">
                        <a:defRPr sz="1400">
                          <a:solidFill>
                            <a:srgbClr val="404040"/>
                          </a:solidFill>
                          <a:latin typeface="+mj-lt"/>
                          <a:ea typeface="+mj-ea"/>
                          <a:cs typeface="+mj-cs"/>
                          <a:sym typeface="Times New Roman"/>
                        </a:defRPr>
                      </a:pPr>
                      <a:r>
                        <a:t>Ahmed Patel</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2023</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conducts a comprehensive survey of AI and machine learning integration into web development frameworks, including website builders. It reviews existing literature, analyzes current technologies, and evaluates their applications through case studies and performance metrics.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study highlights high computational requirements for AI and ML models, potential security vulnerabilities in AI-driven web applications, and difficulties in maintaining and updating AI models within web development frameworks..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2"/>
                  </a:ext>
                </a:extLst>
              </a:tr>
              <a:tr h="2564535">
                <a:tc>
                  <a:txBody>
                    <a:bodyPr/>
                    <a:lstStyle/>
                    <a:p>
                      <a:pPr algn="ctr">
                        <a:defRPr sz="1800"/>
                      </a:pPr>
                      <a:r>
                        <a:rPr sz="1200">
                          <a:sym typeface="Helvetica"/>
                        </a:rPr>
                        <a:t>9</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Security Implications of AI in Web Development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Rachel Green</a:t>
                      </a:r>
                      <a:endParaRPr sz="1500"/>
                    </a:p>
                    <a:p>
                      <a:pPr algn="ctr">
                        <a:defRPr sz="1400">
                          <a:solidFill>
                            <a:srgbClr val="404040"/>
                          </a:solidFill>
                          <a:latin typeface="+mj-lt"/>
                          <a:ea typeface="+mj-ea"/>
                          <a:cs typeface="+mj-cs"/>
                          <a:sym typeface="Times New Roman"/>
                        </a:defRPr>
                      </a:pPr>
                      <a:r>
                        <a:t>Thomas Clark</a:t>
                      </a:r>
                      <a:endParaRPr sz="1500"/>
                    </a:p>
                    <a:p>
                      <a:pPr algn="ctr">
                        <a:defRPr sz="1400">
                          <a:solidFill>
                            <a:srgbClr val="404040"/>
                          </a:solidFill>
                          <a:latin typeface="+mj-lt"/>
                          <a:ea typeface="+mj-ea"/>
                          <a:cs typeface="+mj-cs"/>
                          <a:sym typeface="Times New Roman"/>
                        </a:defRPr>
                      </a:pPr>
                      <a:r>
                        <a:t>Priya Singh</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2022</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reviews literature and case studies to identify AI-related security challenges in web development and proposes solutions like best practices and advanced security protocols.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notes the high complexity of implementing security measures, potential new vulnerabilities from AI, and the challenge of keeping up with evolving threats.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Literature Review"/>
          <p:cNvSpPr txBox="1">
            <a:spLocks noGrp="1"/>
          </p:cNvSpPr>
          <p:nvPr>
            <p:ph type="title" idx="4294967295"/>
          </p:nvPr>
        </p:nvSpPr>
        <p:spPr>
          <a:xfrm>
            <a:off x="525461" y="539750"/>
            <a:ext cx="9066215" cy="587375"/>
          </a:xfrm>
          <a:prstGeom prst="rect">
            <a:avLst/>
          </a:prstGeom>
        </p:spPr>
        <p:txBody>
          <a:bodyPr>
            <a:normAutofit/>
          </a:bodyPr>
          <a:lstStyle>
            <a:lvl1pPr defTabSz="493171">
              <a:defRPr sz="3100" b="1">
                <a:solidFill>
                  <a:srgbClr val="000000"/>
                </a:solidFill>
                <a:effectLst>
                  <a:outerShdw blurRad="12700" dist="24892" dir="2700000" rotWithShape="0">
                    <a:srgbClr val="DDDDDD"/>
                  </a:outerShdw>
                </a:effectLst>
                <a:latin typeface="+mj-lt"/>
                <a:ea typeface="+mj-ea"/>
                <a:cs typeface="+mj-cs"/>
                <a:sym typeface="Times New Roman"/>
              </a:defRPr>
            </a:lvl1pPr>
          </a:lstStyle>
          <a:p>
            <a:r>
              <a:t> </a:t>
            </a:r>
          </a:p>
        </p:txBody>
      </p:sp>
      <p:graphicFrame>
        <p:nvGraphicFramePr>
          <p:cNvPr id="106" name="Table 1"/>
          <p:cNvGraphicFramePr/>
          <p:nvPr/>
        </p:nvGraphicFramePr>
        <p:xfrm>
          <a:off x="121530" y="213690"/>
          <a:ext cx="9471192" cy="6913986"/>
        </p:xfrm>
        <a:graphic>
          <a:graphicData uri="http://schemas.openxmlformats.org/drawingml/2006/table">
            <a:tbl>
              <a:tblPr>
                <a:tableStyleId>{4C3C2611-4C71-4FC5-86AE-919BDF0F9419}</a:tableStyleId>
              </a:tblPr>
              <a:tblGrid>
                <a:gridCol w="536164">
                  <a:extLst>
                    <a:ext uri="{9D8B030D-6E8A-4147-A177-3AD203B41FA5}">
                      <a16:colId xmlns:a16="http://schemas.microsoft.com/office/drawing/2014/main" val="20000"/>
                    </a:ext>
                  </a:extLst>
                </a:gridCol>
                <a:gridCol w="1917342">
                  <a:extLst>
                    <a:ext uri="{9D8B030D-6E8A-4147-A177-3AD203B41FA5}">
                      <a16:colId xmlns:a16="http://schemas.microsoft.com/office/drawing/2014/main" val="20001"/>
                    </a:ext>
                  </a:extLst>
                </a:gridCol>
                <a:gridCol w="1652467">
                  <a:extLst>
                    <a:ext uri="{9D8B030D-6E8A-4147-A177-3AD203B41FA5}">
                      <a16:colId xmlns:a16="http://schemas.microsoft.com/office/drawing/2014/main" val="20002"/>
                    </a:ext>
                  </a:extLst>
                </a:gridCol>
                <a:gridCol w="535472">
                  <a:extLst>
                    <a:ext uri="{9D8B030D-6E8A-4147-A177-3AD203B41FA5}">
                      <a16:colId xmlns:a16="http://schemas.microsoft.com/office/drawing/2014/main" val="20003"/>
                    </a:ext>
                  </a:extLst>
                </a:gridCol>
                <a:gridCol w="2593361">
                  <a:extLst>
                    <a:ext uri="{9D8B030D-6E8A-4147-A177-3AD203B41FA5}">
                      <a16:colId xmlns:a16="http://schemas.microsoft.com/office/drawing/2014/main" val="20004"/>
                    </a:ext>
                  </a:extLst>
                </a:gridCol>
                <a:gridCol w="2236381">
                  <a:extLst>
                    <a:ext uri="{9D8B030D-6E8A-4147-A177-3AD203B41FA5}">
                      <a16:colId xmlns:a16="http://schemas.microsoft.com/office/drawing/2014/main" val="20005"/>
                    </a:ext>
                  </a:extLst>
                </a:gridCol>
              </a:tblGrid>
              <a:tr h="407894">
                <a:tc>
                  <a:txBody>
                    <a:bodyPr/>
                    <a:lstStyle/>
                    <a:p>
                      <a:pPr algn="ctr">
                        <a:defRPr sz="1800"/>
                      </a:pPr>
                      <a:r>
                        <a:rPr sz="1200">
                          <a:solidFill>
                            <a:srgbClr val="404040"/>
                          </a:solidFill>
                          <a:sym typeface="Helvetica"/>
                        </a:rPr>
                        <a:t>Sr.no</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Title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Author(s)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Year</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Methodology</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Drawback</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0"/>
                  </a:ext>
                </a:extLst>
              </a:tr>
              <a:tr h="2053053">
                <a:tc>
                  <a:txBody>
                    <a:bodyPr/>
                    <a:lstStyle/>
                    <a:p>
                      <a:pPr algn="ctr">
                        <a:defRPr sz="1800"/>
                      </a:pPr>
                      <a:r>
                        <a:rPr sz="1200">
                          <a:solidFill>
                            <a:srgbClr val="404040"/>
                          </a:solidFill>
                          <a:sym typeface="Helvetica"/>
                        </a:rPr>
                        <a:t>10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User-Centric Design in AI Website Builders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Anthony Man Leong Wong</a:t>
                      </a:r>
                      <a:endParaRPr sz="1500"/>
                    </a:p>
                    <a:p>
                      <a:pPr algn="ctr">
                        <a:defRPr sz="1400">
                          <a:solidFill>
                            <a:srgbClr val="404040"/>
                          </a:solidFill>
                          <a:latin typeface="+mj-lt"/>
                          <a:ea typeface="+mj-ea"/>
                          <a:cs typeface="+mj-cs"/>
                          <a:sym typeface="Times New Roman"/>
                        </a:defRPr>
                      </a:pPr>
                      <a:r>
                        <a:t>Chee Weng Khong</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2021</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uses a user-centric design approach, analyzing best practices and pitfalls in AI website builders through case studies and user feedback.</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identifies drawbacks such as potential user frustration from limited customization options, difficulty balancing automation with user control, and challenges in ensuring accessibility and inclusivity for all users.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1"/>
                  </a:ext>
                </a:extLst>
              </a:tr>
              <a:tr h="2226518">
                <a:tc>
                  <a:txBody>
                    <a:bodyPr/>
                    <a:lstStyle/>
                    <a:p>
                      <a:pPr algn="ctr">
                        <a:defRPr sz="1800"/>
                      </a:pPr>
                      <a:r>
                        <a:rPr sz="1200">
                          <a:solidFill>
                            <a:srgbClr val="404040"/>
                          </a:solidFill>
                          <a:sym typeface="Helvetica"/>
                        </a:rPr>
                        <a:t>11</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Future Trends in AI-Driven Web Development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Jaakko Sauvola</a:t>
                      </a:r>
                      <a:endParaRPr sz="1500"/>
                    </a:p>
                    <a:p>
                      <a:pPr algn="ctr">
                        <a:defRPr sz="1400">
                          <a:solidFill>
                            <a:srgbClr val="404040"/>
                          </a:solidFill>
                          <a:latin typeface="+mj-lt"/>
                          <a:ea typeface="+mj-ea"/>
                          <a:cs typeface="+mj-cs"/>
                          <a:sym typeface="Times New Roman"/>
                        </a:defRPr>
                      </a:pPr>
                      <a:r>
                        <a:t>Sasu Tarkoma</a:t>
                      </a:r>
                      <a:endParaRPr sz="1500"/>
                    </a:p>
                    <a:p>
                      <a:pPr algn="ctr">
                        <a:defRPr sz="1400">
                          <a:solidFill>
                            <a:srgbClr val="404040"/>
                          </a:solidFill>
                          <a:latin typeface="+mj-lt"/>
                          <a:ea typeface="+mj-ea"/>
                          <a:cs typeface="+mj-cs"/>
                          <a:sym typeface="Times New Roman"/>
                        </a:defRPr>
                      </a:pPr>
                      <a:r>
                        <a:t>Mika Klemettinen</a:t>
                      </a:r>
                      <a:endParaRPr sz="1500"/>
                    </a:p>
                    <a:p>
                      <a:pPr algn="ctr">
                        <a:defRPr sz="1400">
                          <a:solidFill>
                            <a:srgbClr val="404040"/>
                          </a:solidFill>
                          <a:latin typeface="+mj-lt"/>
                          <a:ea typeface="+mj-ea"/>
                          <a:cs typeface="+mj-cs"/>
                          <a:sym typeface="Times New Roman"/>
                        </a:defRPr>
                      </a:pPr>
                      <a:r>
                        <a:t>Jukka Riekki</a:t>
                      </a:r>
                      <a:endParaRPr sz="1500"/>
                    </a:p>
                    <a:p>
                      <a:pPr algn="ctr">
                        <a:defRPr sz="1400">
                          <a:solidFill>
                            <a:srgbClr val="404040"/>
                          </a:solidFill>
                          <a:latin typeface="+mj-lt"/>
                          <a:ea typeface="+mj-ea"/>
                          <a:cs typeface="+mj-cs"/>
                          <a:sym typeface="Times New Roman"/>
                        </a:defRPr>
                      </a:pPr>
                      <a:r>
                        <a:t>David Doermann</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2024</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conducts a comprehensive survey of future trends and potential advancements in AI-driven web development, including website builders. It reviews current technologies, explores emerging trends, and evaluates their implications through case studies and expert interviews.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highlights drawbacks such as high computational costs, ethical concerns in AI decision-making, and challenges in ensuring security and privacy for AI-driven web applications.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2"/>
                  </a:ext>
                </a:extLst>
              </a:tr>
              <a:tr h="2226518">
                <a:tc>
                  <a:txBody>
                    <a:bodyPr/>
                    <a:lstStyle/>
                    <a:p>
                      <a:pPr algn="ctr">
                        <a:defRPr sz="1800"/>
                      </a:pPr>
                      <a:r>
                        <a:rPr sz="1200">
                          <a:sym typeface="Helvetica"/>
                        </a:rPr>
                        <a:t>12</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Evaluating the Performance of AI-Based Website Builders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David Miller</a:t>
                      </a:r>
                      <a:endParaRPr sz="1500"/>
                    </a:p>
                    <a:p>
                      <a:pPr algn="ctr">
                        <a:defRPr sz="1400">
                          <a:solidFill>
                            <a:srgbClr val="404040"/>
                          </a:solidFill>
                          <a:latin typeface="+mj-lt"/>
                          <a:ea typeface="+mj-ea"/>
                          <a:cs typeface="+mj-cs"/>
                          <a:sym typeface="Times New Roman"/>
                        </a:defRPr>
                      </a:pPr>
                      <a:r>
                        <a:t>Sarah Thompson</a:t>
                      </a:r>
                      <a:endParaRPr sz="1500"/>
                    </a:p>
                    <a:p>
                      <a:pPr algn="ctr">
                        <a:defRPr sz="1400">
                          <a:solidFill>
                            <a:srgbClr val="404040"/>
                          </a:solidFill>
                          <a:latin typeface="+mj-lt"/>
                          <a:ea typeface="+mj-ea"/>
                          <a:cs typeface="+mj-cs"/>
                          <a:sym typeface="Times New Roman"/>
                        </a:defRPr>
                      </a:pPr>
                      <a:r>
                        <a:t>Kevin White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evaluates various AI-based website builders by examining their performance, scalability, and user feedback. It uses a combination of performance benchmarks, scalability tests, and user surveys to provide a comprehensive assessment.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highlights drawbacks such as high computational costs, scalability issues with increasing user demands, and mixed user feedback on ease of use and customization options.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Literature Review"/>
          <p:cNvSpPr txBox="1">
            <a:spLocks noGrp="1"/>
          </p:cNvSpPr>
          <p:nvPr>
            <p:ph type="title" idx="4294967295"/>
          </p:nvPr>
        </p:nvSpPr>
        <p:spPr>
          <a:xfrm>
            <a:off x="525461" y="539750"/>
            <a:ext cx="9066215" cy="587375"/>
          </a:xfrm>
          <a:prstGeom prst="rect">
            <a:avLst/>
          </a:prstGeom>
        </p:spPr>
        <p:txBody>
          <a:bodyPr>
            <a:normAutofit/>
          </a:bodyPr>
          <a:lstStyle>
            <a:lvl1pPr defTabSz="493171">
              <a:defRPr sz="3100" b="1">
                <a:solidFill>
                  <a:srgbClr val="000000"/>
                </a:solidFill>
                <a:effectLst>
                  <a:outerShdw blurRad="12700" dist="24892" dir="2700000" rotWithShape="0">
                    <a:srgbClr val="DDDDDD"/>
                  </a:outerShdw>
                </a:effectLst>
                <a:latin typeface="+mj-lt"/>
                <a:ea typeface="+mj-ea"/>
                <a:cs typeface="+mj-cs"/>
                <a:sym typeface="Times New Roman"/>
              </a:defRPr>
            </a:lvl1pPr>
          </a:lstStyle>
          <a:p>
            <a:r>
              <a:t> </a:t>
            </a:r>
          </a:p>
        </p:txBody>
      </p:sp>
      <p:graphicFrame>
        <p:nvGraphicFramePr>
          <p:cNvPr id="109" name="Table 1"/>
          <p:cNvGraphicFramePr/>
          <p:nvPr/>
        </p:nvGraphicFramePr>
        <p:xfrm>
          <a:off x="93247" y="293265"/>
          <a:ext cx="9321897" cy="7056263"/>
        </p:xfrm>
        <a:graphic>
          <a:graphicData uri="http://schemas.openxmlformats.org/drawingml/2006/table">
            <a:tbl>
              <a:tblPr>
                <a:tableStyleId>{4C3C2611-4C71-4FC5-86AE-919BDF0F9419}</a:tableStyleId>
              </a:tblPr>
              <a:tblGrid>
                <a:gridCol w="527713">
                  <a:extLst>
                    <a:ext uri="{9D8B030D-6E8A-4147-A177-3AD203B41FA5}">
                      <a16:colId xmlns:a16="http://schemas.microsoft.com/office/drawing/2014/main" val="20000"/>
                    </a:ext>
                  </a:extLst>
                </a:gridCol>
                <a:gridCol w="1887120">
                  <a:extLst>
                    <a:ext uri="{9D8B030D-6E8A-4147-A177-3AD203B41FA5}">
                      <a16:colId xmlns:a16="http://schemas.microsoft.com/office/drawing/2014/main" val="20001"/>
                    </a:ext>
                  </a:extLst>
                </a:gridCol>
                <a:gridCol w="1626419">
                  <a:extLst>
                    <a:ext uri="{9D8B030D-6E8A-4147-A177-3AD203B41FA5}">
                      <a16:colId xmlns:a16="http://schemas.microsoft.com/office/drawing/2014/main" val="20002"/>
                    </a:ext>
                  </a:extLst>
                </a:gridCol>
                <a:gridCol w="527032">
                  <a:extLst>
                    <a:ext uri="{9D8B030D-6E8A-4147-A177-3AD203B41FA5}">
                      <a16:colId xmlns:a16="http://schemas.microsoft.com/office/drawing/2014/main" val="20003"/>
                    </a:ext>
                  </a:extLst>
                </a:gridCol>
                <a:gridCol w="2552483">
                  <a:extLst>
                    <a:ext uri="{9D8B030D-6E8A-4147-A177-3AD203B41FA5}">
                      <a16:colId xmlns:a16="http://schemas.microsoft.com/office/drawing/2014/main" val="20004"/>
                    </a:ext>
                  </a:extLst>
                </a:gridCol>
                <a:gridCol w="2201130">
                  <a:extLst>
                    <a:ext uri="{9D8B030D-6E8A-4147-A177-3AD203B41FA5}">
                      <a16:colId xmlns:a16="http://schemas.microsoft.com/office/drawing/2014/main" val="20005"/>
                    </a:ext>
                  </a:extLst>
                </a:gridCol>
              </a:tblGrid>
              <a:tr h="539785">
                <a:tc>
                  <a:txBody>
                    <a:bodyPr/>
                    <a:lstStyle/>
                    <a:p>
                      <a:pPr algn="ctr">
                        <a:defRPr sz="1800"/>
                      </a:pPr>
                      <a:r>
                        <a:rPr sz="1200">
                          <a:solidFill>
                            <a:srgbClr val="404040"/>
                          </a:solidFill>
                          <a:sym typeface="Helvetica"/>
                        </a:rPr>
                        <a:t>Sr.no</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Title</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Author(s)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Year</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Methodology</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800"/>
                      </a:pPr>
                      <a:r>
                        <a:rPr sz="1200">
                          <a:solidFill>
                            <a:srgbClr val="404040"/>
                          </a:solidFill>
                          <a:sym typeface="Helvetica"/>
                        </a:rPr>
                        <a:t>Drawback</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0"/>
                  </a:ext>
                </a:extLst>
              </a:tr>
              <a:tr h="1933233">
                <a:tc>
                  <a:txBody>
                    <a:bodyPr/>
                    <a:lstStyle/>
                    <a:p>
                      <a:pPr algn="ctr">
                        <a:defRPr sz="1800"/>
                      </a:pPr>
                      <a:r>
                        <a:rPr sz="1200">
                          <a:solidFill>
                            <a:srgbClr val="404040"/>
                          </a:solidFill>
                          <a:sym typeface="Helvetica"/>
                        </a:rPr>
                        <a:t>13</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Enhancing Web Development with AI-Powered CMS and SEO Tools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John Doe</a:t>
                      </a:r>
                      <a:endParaRPr sz="1500"/>
                    </a:p>
                    <a:p>
                      <a:pPr algn="ctr">
                        <a:defRPr sz="1400">
                          <a:solidFill>
                            <a:srgbClr val="404040"/>
                          </a:solidFill>
                          <a:latin typeface="+mj-lt"/>
                          <a:ea typeface="+mj-ea"/>
                          <a:cs typeface="+mj-cs"/>
                          <a:sym typeface="Times New Roman"/>
                        </a:defRPr>
                      </a:pPr>
                      <a:r>
                        <a:t>Jane Smith</a:t>
                      </a:r>
                      <a:endParaRPr sz="1500"/>
                    </a:p>
                    <a:p>
                      <a:pPr algn="ctr">
                        <a:defRPr sz="1400">
                          <a:solidFill>
                            <a:srgbClr val="404040"/>
                          </a:solidFill>
                          <a:latin typeface="+mj-lt"/>
                          <a:ea typeface="+mj-ea"/>
                          <a:cs typeface="+mj-cs"/>
                          <a:sym typeface="Times New Roman"/>
                        </a:defRPr>
                      </a:pPr>
                      <a:r>
                        <a:t>Emily Johnson</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2022</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provides an overview of how AI-powered CMS and SEO tools can enhance web development, using practical examples. It includes case studies and performance metrics to evaluate the effectiveness of these tools.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400">
                          <a:solidFill>
                            <a:srgbClr val="404040"/>
                          </a:solidFill>
                          <a:latin typeface="+mj-lt"/>
                          <a:ea typeface="+mj-ea"/>
                          <a:cs typeface="+mj-cs"/>
                          <a:sym typeface="Times New Roman"/>
                        </a:defRPr>
                      </a:pPr>
                      <a:r>
                        <a:t>High initial setup costs for AI-powered tools.</a:t>
                      </a:r>
                      <a:endParaRPr sz="1500"/>
                    </a:p>
                    <a:p>
                      <a:pPr algn="l">
                        <a:defRPr sz="1400">
                          <a:solidFill>
                            <a:srgbClr val="404040"/>
                          </a:solidFill>
                          <a:latin typeface="+mj-lt"/>
                          <a:ea typeface="+mj-ea"/>
                          <a:cs typeface="+mj-cs"/>
                          <a:sym typeface="Times New Roman"/>
                        </a:defRPr>
                      </a:pPr>
                      <a:r>
                        <a:t>Potential issues with data privacy and security.</a:t>
                      </a:r>
                      <a:endParaRPr sz="1500"/>
                    </a:p>
                    <a:p>
                      <a:pPr algn="l">
                        <a:defRPr sz="1400">
                          <a:solidFill>
                            <a:srgbClr val="404040"/>
                          </a:solidFill>
                          <a:latin typeface="+mj-lt"/>
                          <a:ea typeface="+mj-ea"/>
                          <a:cs typeface="+mj-cs"/>
                          <a:sym typeface="Times New Roman"/>
                        </a:defRPr>
                      </a:pPr>
                      <a:r>
                        <a:t>Complexity in integrating AI tools with existing web development workflows.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1"/>
                  </a:ext>
                </a:extLst>
              </a:tr>
              <a:tr h="1845318">
                <a:tc>
                  <a:txBody>
                    <a:bodyPr/>
                    <a:lstStyle/>
                    <a:p>
                      <a:pPr algn="ctr">
                        <a:defRPr sz="1800"/>
                      </a:pPr>
                      <a:r>
                        <a:rPr sz="1200">
                          <a:solidFill>
                            <a:srgbClr val="404040"/>
                          </a:solidFill>
                          <a:sym typeface="Helvetica"/>
                        </a:rPr>
                        <a:t>14</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Scalable Backend Architectures for AI Website Builders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latin typeface="+mj-lt"/>
                          <a:ea typeface="+mj-ea"/>
                          <a:cs typeface="+mj-cs"/>
                          <a:sym typeface="Times New Roman"/>
                        </a:defRPr>
                      </a:pPr>
                      <a:r>
                        <a:t>John Doe, </a:t>
                      </a:r>
                      <a:endParaRPr sz="1500">
                        <a:solidFill>
                          <a:srgbClr val="404040"/>
                        </a:solidFill>
                      </a:endParaRPr>
                    </a:p>
                    <a:p>
                      <a:pPr algn="ctr">
                        <a:defRPr sz="1400">
                          <a:latin typeface="+mj-lt"/>
                          <a:ea typeface="+mj-ea"/>
                          <a:cs typeface="+mj-cs"/>
                          <a:sym typeface="Times New Roman"/>
                        </a:defRPr>
                      </a:pPr>
                      <a:r>
                        <a:t>Jane Smith</a:t>
                      </a:r>
                      <a:endParaRPr sz="1500">
                        <a:solidFill>
                          <a:srgbClr val="404040"/>
                        </a:solidFill>
                      </a:endParaRPr>
                    </a:p>
                    <a:p>
                      <a:pPr algn="ctr">
                        <a:defRPr sz="1400">
                          <a:latin typeface="+mj-lt"/>
                          <a:ea typeface="+mj-ea"/>
                          <a:cs typeface="+mj-cs"/>
                          <a:sym typeface="Times New Roman"/>
                        </a:defRPr>
                      </a:pPr>
                      <a:r>
                        <a:t>Robert Brown</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paper explores scalable backend architectures using distributed databases, microservices, and containerization to support AI-driven website builders, focusing on efficient data management and storage</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Implementing these architectures can be costly and complex, requiring advanced infrastructure and skilled personnel. Additionally, managing large volumes of data raises significant privacy and security concerns.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2"/>
                  </a:ext>
                </a:extLst>
              </a:tr>
              <a:tr h="2519005">
                <a:tc>
                  <a:txBody>
                    <a:bodyPr/>
                    <a:lstStyle/>
                    <a:p>
                      <a:pPr algn="ctr">
                        <a:defRPr sz="1800"/>
                      </a:pPr>
                      <a:r>
                        <a:rPr sz="1200">
                          <a:sym typeface="Helvetica"/>
                        </a:rPr>
                        <a:t>15</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Optimizing SEO with AI in Modern Web Development</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ctr">
                        <a:defRPr sz="1400">
                          <a:solidFill>
                            <a:srgbClr val="404040"/>
                          </a:solidFill>
                          <a:latin typeface="+mj-lt"/>
                          <a:ea typeface="+mj-ea"/>
                          <a:cs typeface="+mj-cs"/>
                          <a:sym typeface="Times New Roman"/>
                        </a:defRPr>
                      </a:pPr>
                      <a:r>
                        <a:t>Alice Johnson</a:t>
                      </a:r>
                      <a:endParaRPr sz="1500"/>
                    </a:p>
                    <a:p>
                      <a:pPr algn="ctr">
                        <a:defRPr sz="1400">
                          <a:solidFill>
                            <a:srgbClr val="404040"/>
                          </a:solidFill>
                          <a:latin typeface="+mj-lt"/>
                          <a:ea typeface="+mj-ea"/>
                          <a:cs typeface="+mj-cs"/>
                          <a:sym typeface="Times New Roman"/>
                        </a:defRPr>
                      </a:pPr>
                      <a:r>
                        <a:t>Mark Lee</a:t>
                      </a:r>
                      <a:endParaRPr sz="1500"/>
                    </a:p>
                    <a:p>
                      <a:pPr algn="ctr">
                        <a:defRPr sz="1400">
                          <a:solidFill>
                            <a:srgbClr val="404040"/>
                          </a:solidFill>
                          <a:latin typeface="+mj-lt"/>
                          <a:ea typeface="+mj-ea"/>
                          <a:cs typeface="+mj-cs"/>
                          <a:sym typeface="Times New Roman"/>
                        </a:defRPr>
                      </a:pPr>
                      <a:r>
                        <a:t>Emily Davis</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2020</a:t>
                      </a:r>
                    </a:p>
                  </a:txBody>
                  <a:tcPr marL="0" marR="0" marT="0" marB="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research explores leveraging AI technologies like natural language processing and machine learning to automate SEO tasks, including keyword research, content optimization, and backlink analysis, to boost search engine rankings</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c>
                  <a:txBody>
                    <a:bodyPr/>
                    <a:lstStyle/>
                    <a:p>
                      <a:pPr algn="l">
                        <a:defRPr sz="1800"/>
                      </a:pPr>
                      <a:r>
                        <a:rPr sz="1400">
                          <a:solidFill>
                            <a:srgbClr val="404040"/>
                          </a:solidFill>
                          <a:latin typeface="+mj-lt"/>
                          <a:ea typeface="+mj-ea"/>
                          <a:cs typeface="+mj-cs"/>
                          <a:sym typeface="Times New Roman"/>
                        </a:rPr>
                        <a:t>The main drawbacks are the resource-intensive need for continuous adaptation to evolving AI algorithms, their opaque nature leading to unpredictable SEO results, and concerns about fairness and control over digital content visibility.</a:t>
                      </a:r>
                    </a:p>
                  </a:txBody>
                  <a:tcPr marL="72000" marR="72000" marT="72000" marB="7200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search Gap(Limitations of existing systems)"/>
          <p:cNvSpPr txBox="1"/>
          <p:nvPr/>
        </p:nvSpPr>
        <p:spPr>
          <a:xfrm>
            <a:off x="361516" y="568318"/>
            <a:ext cx="9225830" cy="513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 Research Gap(Limitations of existing systems) </a:t>
            </a:r>
          </a:p>
        </p:txBody>
      </p:sp>
      <p:sp>
        <p:nvSpPr>
          <p:cNvPr id="112" name="This chapter should include…"/>
          <p:cNvSpPr txBox="1"/>
          <p:nvPr/>
        </p:nvSpPr>
        <p:spPr>
          <a:xfrm>
            <a:off x="361517" y="1174278"/>
            <a:ext cx="8962592" cy="52629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Lack of True Drag-and-Drop Flexibility:</a:t>
            </a:r>
            <a:r>
              <a:rPr b="0" dirty="0">
                <a:latin typeface="+mj-lt"/>
              </a:rPr>
              <a:t> Existing systems often have restrictive templates and unintuitive interfaces, making it difficult for non-tech users to fully customize their designs.</a:t>
            </a:r>
            <a:endParaRPr dirty="0">
              <a:latin typeface="+mj-lt"/>
              <a:ea typeface="Trebuchet MS"/>
              <a:cs typeface="Trebuchet MS"/>
              <a:sym typeface="Trebuchet MS"/>
            </a:endParaRPr>
          </a:p>
          <a:p>
            <a:pPr algn="just">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Scalability Issues for Growing Websites: </a:t>
            </a:r>
            <a:r>
              <a:rPr b="0" dirty="0">
                <a:latin typeface="+mj-lt"/>
              </a:rPr>
              <a:t>As websites grow, they may face slow load times and struggle to add new features due to inefficient backend systems.</a:t>
            </a:r>
            <a:endParaRPr dirty="0">
              <a:latin typeface="+mj-lt"/>
              <a:ea typeface="Trebuchet MS"/>
              <a:cs typeface="Trebuchet MS"/>
              <a:sym typeface="Trebuchet MS"/>
            </a:endParaRPr>
          </a:p>
          <a:p>
            <a:pPr algn="just">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Poor User Experience with Multi-Device Compatibility: </a:t>
            </a:r>
            <a:r>
              <a:rPr b="0" dirty="0">
                <a:latin typeface="+mj-lt"/>
              </a:rPr>
              <a:t>Websites may not render correctly across different devices, leading to a poor user experience due to the lack of true responsive design.</a:t>
            </a:r>
            <a:endParaRPr dirty="0">
              <a:latin typeface="+mj-lt"/>
              <a:ea typeface="Trebuchet MS"/>
              <a:cs typeface="Trebuchet MS"/>
              <a:sym typeface="Trebuchet MS"/>
            </a:endParaRPr>
          </a:p>
          <a:p>
            <a:pPr algn="just">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React.js and Vue.js Offer Better Performance in Real-Time Updates: </a:t>
            </a:r>
            <a:r>
              <a:rPr b="0" dirty="0">
                <a:latin typeface="+mj-lt"/>
              </a:rPr>
              <a:t>These frameworks provide efficient state management and reusable components, crucial for real-time updates and dynamic content.</a:t>
            </a:r>
            <a:endParaRPr dirty="0">
              <a:latin typeface="+mj-lt"/>
              <a:ea typeface="Trebuchet MS"/>
              <a:cs typeface="Trebuchet MS"/>
              <a:sym typeface="Trebuchet MS"/>
            </a:endParaRPr>
          </a:p>
          <a:p>
            <a:pPr algn="just">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No-Code Platforms Improving, but Still Not Intuitive for Complex Designs:</a:t>
            </a:r>
            <a:r>
              <a:rPr b="0" dirty="0">
                <a:latin typeface="+mj-lt"/>
              </a:rPr>
              <a:t> No-code platforms often lack the flexibility for complex designs and can still be challenging for non-technical users.</a:t>
            </a:r>
            <a:endParaRPr dirty="0">
              <a:latin typeface="+mj-lt"/>
              <a:ea typeface="Trebuchet MS"/>
              <a:cs typeface="Trebuchet MS"/>
              <a:sym typeface="Trebuchet MS"/>
            </a:endParaRPr>
          </a:p>
          <a:p>
            <a:pPr algn="just">
              <a:buSzPct val="100000"/>
              <a:buFont typeface="Arial"/>
              <a:buChar char="•"/>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Integrating AI-Driven Suggestions for Layout Optimization: </a:t>
            </a:r>
            <a:r>
              <a:rPr b="0" dirty="0">
                <a:latin typeface="+mj-lt"/>
              </a:rPr>
              <a:t>AI can suggest optimal layouts based on user behavior and automatically adjust design elements to improve aesthetics and functionality.</a:t>
            </a:r>
            <a:endParaRPr dirty="0">
              <a:latin typeface="+mj-lt"/>
              <a:ea typeface="Trebuchet MS"/>
              <a:cs typeface="Trebuchet MS"/>
              <a:sym typeface="Trebuchet MS"/>
            </a:endParaRPr>
          </a:p>
          <a:p>
            <a:pPr algn="just">
              <a:defRPr sz="1600">
                <a:solidFill>
                  <a:srgbClr val="111111"/>
                </a:solidFill>
                <a:latin typeface="+mj-lt"/>
                <a:ea typeface="+mj-ea"/>
                <a:cs typeface="+mj-cs"/>
                <a:sym typeface="Times New Roman"/>
              </a:defRPr>
            </a:pPr>
            <a:endParaRPr dirty="0">
              <a:latin typeface="+mj-lt"/>
              <a:ea typeface="Trebuchet MS"/>
              <a:cs typeface="Trebuchet MS"/>
              <a:sym typeface="Trebuchet MS"/>
            </a:endParaRPr>
          </a:p>
          <a:p>
            <a:pPr marL="171450" indent="-171450" algn="just">
              <a:buSzPct val="100000"/>
              <a:buFont typeface="Arial"/>
              <a:buChar char="•"/>
              <a:defRPr sz="1600" b="1">
                <a:solidFill>
                  <a:srgbClr val="111111"/>
                </a:solidFill>
                <a:latin typeface="+mj-lt"/>
                <a:ea typeface="+mj-ea"/>
                <a:cs typeface="+mj-cs"/>
                <a:sym typeface="Times New Roman"/>
              </a:defRPr>
            </a:pPr>
            <a:r>
              <a:rPr dirty="0">
                <a:latin typeface="+mj-lt"/>
              </a:rPr>
              <a:t> Integration with Third-Party Services:</a:t>
            </a:r>
            <a:r>
              <a:rPr b="0" dirty="0">
                <a:latin typeface="+mj-lt"/>
              </a:rPr>
              <a:t> Many platforms struggle with integrating third-party services such as CRM systems, marketing tools, and analytics, which can limit the functionality and effectiveness of the website.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roblem Definition"/>
          <p:cNvSpPr txBox="1">
            <a:spLocks noGrp="1"/>
          </p:cNvSpPr>
          <p:nvPr>
            <p:ph type="title" idx="4294967295"/>
          </p:nvPr>
        </p:nvSpPr>
        <p:spPr>
          <a:xfrm>
            <a:off x="321503" y="530755"/>
            <a:ext cx="6997701" cy="1455740"/>
          </a:xfrm>
          <a:prstGeom prst="rect">
            <a:avLst/>
          </a:prstGeom>
        </p:spPr>
        <p:txBody>
          <a:bodyPr>
            <a:normAutofit/>
          </a:bodyPr>
          <a:lstStyle>
            <a:lvl1pPr>
              <a:defRPr sz="3600" b="1">
                <a:solidFill>
                  <a:srgbClr val="000000"/>
                </a:solidFill>
                <a:effectLst>
                  <a:outerShdw blurRad="12700" dist="25400" dir="2700000" rotWithShape="0">
                    <a:srgbClr val="DDDDDD"/>
                  </a:outerShdw>
                </a:effectLst>
                <a:latin typeface="+mj-lt"/>
                <a:ea typeface="+mj-ea"/>
                <a:cs typeface="+mj-cs"/>
                <a:sym typeface="Times New Roman"/>
              </a:defRPr>
            </a:lvl1pPr>
          </a:lstStyle>
          <a:p>
            <a:r>
              <a:t> Problem Definition </a:t>
            </a:r>
          </a:p>
        </p:txBody>
      </p:sp>
      <p:sp>
        <p:nvSpPr>
          <p:cNvPr id="115" name="Problem Definition  is a few sentences that tells what you want to solve.…"/>
          <p:cNvSpPr txBox="1">
            <a:spLocks noGrp="1"/>
          </p:cNvSpPr>
          <p:nvPr>
            <p:ph type="body" idx="4294967295"/>
          </p:nvPr>
        </p:nvSpPr>
        <p:spPr>
          <a:xfrm>
            <a:off x="468311" y="1268409"/>
            <a:ext cx="8640765" cy="5616581"/>
          </a:xfrm>
          <a:prstGeom prst="rect">
            <a:avLst/>
          </a:prstGeom>
        </p:spPr>
        <p:txBody>
          <a:bodyPr>
            <a:normAutofit/>
          </a:bodyPr>
          <a:lstStyle/>
          <a:p>
            <a:pPr marL="0" indent="0" algn="just">
              <a:lnSpc>
                <a:spcPct val="105999"/>
              </a:lnSpc>
              <a:buSzTx/>
              <a:buNone/>
              <a:defRPr sz="1800">
                <a:latin typeface="+mj-lt"/>
                <a:ea typeface="+mj-ea"/>
                <a:cs typeface="+mj-cs"/>
                <a:sym typeface="Times New Roman"/>
              </a:defRPr>
            </a:pPr>
            <a:r>
              <a:rPr dirty="0"/>
              <a:t>The goal of the </a:t>
            </a:r>
            <a:r>
              <a:rPr dirty="0" err="1"/>
              <a:t>SiteBuilder</a:t>
            </a:r>
            <a:r>
              <a:rPr dirty="0"/>
              <a:t> AI project is to develop a comprehensive platform that empowers non-technical users to create fully customized websites with ease. Leveraging artificial intelligence, the system will offer intuitive drag-and-drop functionality, AI-driven design suggestions, and seamless e-commerce integration. The platform aims to improve user experience, scalability, and accessibility.</a:t>
            </a:r>
          </a:p>
          <a:p>
            <a:pPr marL="0" indent="0" algn="just">
              <a:lnSpc>
                <a:spcPct val="105999"/>
              </a:lnSpc>
              <a:buSzTx/>
              <a:buNone/>
              <a:defRPr sz="1800" b="1">
                <a:latin typeface="+mj-lt"/>
                <a:ea typeface="+mj-ea"/>
                <a:cs typeface="+mj-cs"/>
                <a:sym typeface="Times New Roman"/>
              </a:defRPr>
            </a:pPr>
            <a:r>
              <a:rPr dirty="0"/>
              <a:t>Key points to address:</a:t>
            </a:r>
          </a:p>
          <a:p>
            <a:pPr marL="342900" indent="-342900" algn="just">
              <a:lnSpc>
                <a:spcPct val="105999"/>
              </a:lnSpc>
              <a:buClr>
                <a:srgbClr val="000000"/>
              </a:buClr>
              <a:buFontTx/>
              <a:buAutoNum type="arabicPeriod"/>
              <a:defRPr sz="1800">
                <a:latin typeface="+mj-lt"/>
                <a:ea typeface="+mj-ea"/>
                <a:cs typeface="+mj-cs"/>
                <a:sym typeface="Times New Roman"/>
              </a:defRPr>
            </a:pPr>
            <a:r>
              <a:rPr dirty="0"/>
              <a:t>Intuitive Drag-and-Drop Interface</a:t>
            </a:r>
          </a:p>
          <a:p>
            <a:pPr marL="342900" indent="-342900" algn="just">
              <a:lnSpc>
                <a:spcPct val="105999"/>
              </a:lnSpc>
              <a:buClr>
                <a:srgbClr val="000000"/>
              </a:buClr>
              <a:buFontTx/>
              <a:buAutoNum type="arabicPeriod"/>
              <a:defRPr sz="1800">
                <a:latin typeface="+mj-lt"/>
                <a:ea typeface="+mj-ea"/>
                <a:cs typeface="+mj-cs"/>
                <a:sym typeface="Times New Roman"/>
              </a:defRPr>
            </a:pPr>
            <a:r>
              <a:rPr dirty="0"/>
              <a:t>AI-driven Layout and Content Suggestions</a:t>
            </a:r>
          </a:p>
          <a:p>
            <a:pPr marL="342900" indent="-342900" algn="just">
              <a:lnSpc>
                <a:spcPct val="105999"/>
              </a:lnSpc>
              <a:buClr>
                <a:srgbClr val="000000"/>
              </a:buClr>
              <a:buFontTx/>
              <a:buAutoNum type="arabicPeriod"/>
              <a:defRPr sz="1800">
                <a:latin typeface="+mj-lt"/>
                <a:ea typeface="+mj-ea"/>
                <a:cs typeface="+mj-cs"/>
                <a:sym typeface="Times New Roman"/>
              </a:defRPr>
            </a:pPr>
            <a:r>
              <a:rPr dirty="0"/>
              <a:t>Template and Theme Library</a:t>
            </a:r>
          </a:p>
          <a:p>
            <a:pPr marL="342900" indent="-342900" algn="just">
              <a:lnSpc>
                <a:spcPct val="105999"/>
              </a:lnSpc>
              <a:buClr>
                <a:srgbClr val="000000"/>
              </a:buClr>
              <a:buFontTx/>
              <a:buAutoNum type="arabicPeriod"/>
              <a:defRPr sz="1800">
                <a:latin typeface="+mj-lt"/>
                <a:ea typeface="+mj-ea"/>
                <a:cs typeface="+mj-cs"/>
                <a:sym typeface="Times New Roman"/>
              </a:defRPr>
            </a:pPr>
            <a:r>
              <a:rPr dirty="0"/>
              <a:t>Customization of Layouts and Designs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cope"/>
          <p:cNvSpPr txBox="1"/>
          <p:nvPr/>
        </p:nvSpPr>
        <p:spPr>
          <a:xfrm>
            <a:off x="398224" y="449445"/>
            <a:ext cx="6906264" cy="6054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defTabSz="503237">
              <a:defRPr sz="3600" b="1">
                <a:effectLst>
                  <a:outerShdw blurRad="12700" dist="25400" dir="2700000" rotWithShape="0">
                    <a:srgbClr val="DDDDDD"/>
                  </a:outerShdw>
                </a:effectLst>
                <a:latin typeface="+mj-lt"/>
                <a:ea typeface="+mj-ea"/>
                <a:cs typeface="+mj-cs"/>
                <a:sym typeface="Times New Roman"/>
              </a:defRPr>
            </a:lvl1pPr>
          </a:lstStyle>
          <a:p>
            <a:r>
              <a:t> Scope</a:t>
            </a:r>
          </a:p>
        </p:txBody>
      </p:sp>
      <p:sp>
        <p:nvSpPr>
          <p:cNvPr id="118" name="Individuals, Businesses and Industries:…"/>
          <p:cNvSpPr txBox="1">
            <a:spLocks noGrp="1"/>
          </p:cNvSpPr>
          <p:nvPr>
            <p:ph type="body" idx="4294967295"/>
          </p:nvPr>
        </p:nvSpPr>
        <p:spPr>
          <a:xfrm>
            <a:off x="525786" y="1298375"/>
            <a:ext cx="8640765" cy="5616581"/>
          </a:xfrm>
          <a:prstGeom prst="rect">
            <a:avLst/>
          </a:prstGeom>
        </p:spPr>
        <p:txBody>
          <a:bodyPr>
            <a:normAutofit/>
          </a:bodyPr>
          <a:lstStyle/>
          <a:p>
            <a:pPr marL="0" indent="0" algn="just" defTabSz="457200">
              <a:spcBef>
                <a:spcPts val="1200"/>
              </a:spcBef>
              <a:buSzTx/>
              <a:buNone/>
              <a:defRPr sz="1800" b="1">
                <a:solidFill>
                  <a:srgbClr val="000000"/>
                </a:solidFill>
                <a:latin typeface="+mj-lt"/>
                <a:ea typeface="+mj-ea"/>
                <a:cs typeface="+mj-cs"/>
                <a:sym typeface="Times New Roman"/>
              </a:defRPr>
            </a:pPr>
            <a:r>
              <a:rPr sz="1800" dirty="0">
                <a:latin typeface="+mj-lt"/>
              </a:rPr>
              <a:t>Individuals, Businesses and Industries</a:t>
            </a:r>
          </a:p>
          <a:p>
            <a:pPr marL="160420" indent="-160420" algn="just" defTabSz="457200">
              <a:spcBef>
                <a:spcPts val="0"/>
              </a:spcBef>
              <a:buClrTx/>
              <a:buSzPct val="100000"/>
              <a:buFontTx/>
              <a:buAutoNum type="arabicPeriod"/>
              <a:defRPr sz="1800" b="1">
                <a:solidFill>
                  <a:srgbClr val="000000"/>
                </a:solidFill>
                <a:latin typeface="+mj-lt"/>
                <a:ea typeface="+mj-ea"/>
                <a:cs typeface="+mj-cs"/>
                <a:sym typeface="Times New Roman"/>
              </a:defRPr>
            </a:pPr>
            <a:r>
              <a:rPr sz="1800" dirty="0">
                <a:latin typeface="+mj-lt"/>
              </a:rPr>
              <a:t>Small businesses:</a:t>
            </a:r>
            <a:r>
              <a:rPr sz="1800" b="0" dirty="0">
                <a:latin typeface="+mj-lt"/>
              </a:rPr>
              <a:t> Creating online stores, landing pages, or company websites.</a:t>
            </a: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2"/>
              <a:defRPr sz="1800" b="1">
                <a:solidFill>
                  <a:srgbClr val="000000"/>
                </a:solidFill>
                <a:latin typeface="+mj-lt"/>
                <a:ea typeface="+mj-ea"/>
                <a:cs typeface="+mj-cs"/>
                <a:sym typeface="Times New Roman"/>
              </a:defRPr>
            </a:pPr>
            <a:r>
              <a:rPr sz="1800" dirty="0">
                <a:latin typeface="+mj-lt"/>
              </a:rPr>
              <a:t>Freelancers:</a:t>
            </a:r>
            <a:r>
              <a:rPr sz="1800" b="0" dirty="0">
                <a:latin typeface="+mj-lt"/>
              </a:rPr>
              <a:t> Building professional portfolios or online resumes.</a:t>
            </a: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2"/>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3"/>
              <a:defRPr sz="1800" b="1">
                <a:solidFill>
                  <a:srgbClr val="000000"/>
                </a:solidFill>
                <a:latin typeface="+mj-lt"/>
                <a:ea typeface="+mj-ea"/>
                <a:cs typeface="+mj-cs"/>
                <a:sym typeface="Times New Roman"/>
              </a:defRPr>
            </a:pPr>
            <a:r>
              <a:rPr sz="1800" dirty="0">
                <a:latin typeface="+mj-lt"/>
              </a:rPr>
              <a:t>Artists and creatives:</a:t>
            </a:r>
            <a:r>
              <a:rPr sz="1800" b="0" dirty="0">
                <a:latin typeface="+mj-lt"/>
              </a:rPr>
              <a:t> Showcasing their work and selling their products online.</a:t>
            </a: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3"/>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4"/>
              <a:defRPr sz="1800" b="1">
                <a:solidFill>
                  <a:srgbClr val="000000"/>
                </a:solidFill>
                <a:latin typeface="+mj-lt"/>
                <a:ea typeface="+mj-ea"/>
                <a:cs typeface="+mj-cs"/>
                <a:sym typeface="Times New Roman"/>
              </a:defRPr>
            </a:pPr>
            <a:r>
              <a:rPr sz="1800" dirty="0">
                <a:latin typeface="+mj-lt"/>
              </a:rPr>
              <a:t>Non-profit organizations:</a:t>
            </a:r>
            <a:r>
              <a:rPr sz="1800" b="0" dirty="0">
                <a:latin typeface="+mj-lt"/>
              </a:rPr>
              <a:t> Creating websites to promote their cause and raise funds.</a:t>
            </a: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4"/>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5"/>
              <a:defRPr sz="1800" b="1">
                <a:solidFill>
                  <a:srgbClr val="000000"/>
                </a:solidFill>
                <a:latin typeface="+mj-lt"/>
                <a:ea typeface="+mj-ea"/>
                <a:cs typeface="+mj-cs"/>
                <a:sym typeface="Times New Roman"/>
              </a:defRPr>
            </a:pPr>
            <a:r>
              <a:rPr sz="1800" dirty="0">
                <a:latin typeface="+mj-lt"/>
              </a:rPr>
              <a:t>Personal blogs and websites:</a:t>
            </a:r>
            <a:r>
              <a:rPr sz="1800" b="0" dirty="0">
                <a:latin typeface="+mj-lt"/>
              </a:rPr>
              <a:t> Sharing thoughts, experiences, and information.</a:t>
            </a:r>
            <a:endParaRPr sz="1800" dirty="0">
              <a:latin typeface="+mj-lt"/>
              <a:ea typeface="Source Sans Pro"/>
              <a:cs typeface="Source Sans Pro"/>
              <a:sym typeface="Source Sans Pro"/>
            </a:endParaRPr>
          </a:p>
          <a:p>
            <a:pPr marL="0" indent="0" algn="just" defTabSz="457200">
              <a:spcBef>
                <a:spcPts val="0"/>
              </a:spcBef>
              <a:buClrTx/>
              <a:buSzPct val="100000"/>
              <a:buNone/>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0" indent="0" algn="just" defTabSz="457200">
              <a:spcBef>
                <a:spcPts val="0"/>
              </a:spcBef>
              <a:buClrTx/>
              <a:buSzPct val="100000"/>
              <a:buNone/>
              <a:defRPr sz="1800" b="1">
                <a:solidFill>
                  <a:srgbClr val="000000"/>
                </a:solidFill>
                <a:latin typeface="+mj-lt"/>
                <a:ea typeface="+mj-ea"/>
                <a:cs typeface="+mj-cs"/>
                <a:sym typeface="Times New Roman"/>
              </a:defRPr>
            </a:pPr>
            <a:r>
              <a:rPr lang="en-IN" sz="1800" dirty="0">
                <a:latin typeface="+mj-lt"/>
              </a:rPr>
              <a:t>6.</a:t>
            </a:r>
            <a:r>
              <a:rPr sz="1800" dirty="0">
                <a:latin typeface="+mj-lt"/>
              </a:rPr>
              <a:t>Education:</a:t>
            </a:r>
            <a:r>
              <a:rPr sz="1800" b="0" dirty="0">
                <a:latin typeface="+mj-lt"/>
              </a:rPr>
              <a:t> Creating online courses, educational resources, or school websites.</a:t>
            </a:r>
            <a:endParaRPr sz="1800" dirty="0">
              <a:latin typeface="+mj-lt"/>
              <a:ea typeface="Source Sans Pro"/>
              <a:cs typeface="Source Sans Pro"/>
              <a:sym typeface="Source Sans Pro"/>
            </a:endParaRPr>
          </a:p>
          <a:p>
            <a:pPr marL="160420" indent="-160420" algn="just" defTabSz="457200">
              <a:spcBef>
                <a:spcPts val="0"/>
              </a:spcBef>
              <a:buClrTx/>
              <a:buSzPct val="100000"/>
              <a:buFontTx/>
              <a:buAutoNum type="arabicPeriod" startAt="7"/>
              <a:defRPr sz="1800">
                <a:solidFill>
                  <a:srgbClr val="000000"/>
                </a:solidFill>
                <a:latin typeface="+mj-lt"/>
                <a:ea typeface="+mj-ea"/>
                <a:cs typeface="+mj-cs"/>
                <a:sym typeface="Times New Roman"/>
              </a:defRPr>
            </a:pPr>
            <a:endParaRPr sz="1800" dirty="0">
              <a:latin typeface="+mj-lt"/>
              <a:ea typeface="Source Sans Pro"/>
              <a:cs typeface="Source Sans Pro"/>
              <a:sym typeface="Source Sans Pro"/>
            </a:endParaRPr>
          </a:p>
          <a:p>
            <a:pPr marL="0" indent="0" algn="just" defTabSz="457200">
              <a:spcBef>
                <a:spcPts val="0"/>
              </a:spcBef>
              <a:buClrTx/>
              <a:buSzPct val="100000"/>
              <a:buNone/>
              <a:defRPr sz="1800" b="1">
                <a:solidFill>
                  <a:srgbClr val="000000"/>
                </a:solidFill>
                <a:latin typeface="+mj-lt"/>
                <a:ea typeface="+mj-ea"/>
                <a:cs typeface="+mj-cs"/>
                <a:sym typeface="Times New Roman"/>
              </a:defRPr>
            </a:pPr>
            <a:r>
              <a:rPr lang="en-IN" sz="1800" dirty="0">
                <a:latin typeface="+mj-lt"/>
              </a:rPr>
              <a:t>7.</a:t>
            </a:r>
            <a:r>
              <a:rPr sz="1800">
                <a:latin typeface="+mj-lt"/>
              </a:rPr>
              <a:t>Marketing </a:t>
            </a:r>
            <a:r>
              <a:rPr sz="1800" dirty="0">
                <a:latin typeface="+mj-lt"/>
              </a:rPr>
              <a:t>and advertising:</a:t>
            </a:r>
            <a:r>
              <a:rPr sz="1800" b="0" dirty="0">
                <a:latin typeface="+mj-lt"/>
              </a:rPr>
              <a:t> Designing landing pages, promotional websites, or marketing campaigns.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chnological Stack"/>
          <p:cNvSpPr txBox="1"/>
          <p:nvPr/>
        </p:nvSpPr>
        <p:spPr>
          <a:xfrm>
            <a:off x="476090" y="355691"/>
            <a:ext cx="9070976" cy="513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Technological Stack</a:t>
            </a:r>
          </a:p>
        </p:txBody>
      </p:sp>
      <p:sp>
        <p:nvSpPr>
          <p:cNvPr id="121" name="The technologies and methodologies that you mention in the previous chapter and propose to use them need to be explained in this chapter.…"/>
          <p:cNvSpPr txBox="1"/>
          <p:nvPr/>
        </p:nvSpPr>
        <p:spPr>
          <a:xfrm>
            <a:off x="467041" y="928396"/>
            <a:ext cx="9089074" cy="51199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nSpc>
                <a:spcPct val="105999"/>
              </a:lnSpc>
              <a:spcBef>
                <a:spcPts val="800"/>
              </a:spcBef>
              <a:defRPr b="1">
                <a:latin typeface="+mj-lt"/>
                <a:ea typeface="+mj-ea"/>
                <a:cs typeface="+mj-cs"/>
                <a:sym typeface="Times New Roman"/>
              </a:defRPr>
            </a:pPr>
            <a:r>
              <a:rPr dirty="0"/>
              <a:t>Front-end:</a:t>
            </a:r>
          </a:p>
          <a:p>
            <a:pPr marL="285750" indent="-285750">
              <a:lnSpc>
                <a:spcPct val="105999"/>
              </a:lnSpc>
              <a:spcBef>
                <a:spcPts val="800"/>
              </a:spcBef>
              <a:buSzPts val="1800"/>
              <a:buFont typeface="Arial"/>
              <a:buChar char="•"/>
              <a:defRPr>
                <a:latin typeface="+mj-lt"/>
                <a:ea typeface="+mj-ea"/>
                <a:cs typeface="+mj-cs"/>
                <a:sym typeface="Times New Roman"/>
              </a:defRPr>
            </a:pPr>
            <a:r>
              <a:rPr lang="en-IN" dirty="0"/>
              <a:t>Grape </a:t>
            </a:r>
            <a:r>
              <a:rPr lang="en-IN" dirty="0" err="1"/>
              <a:t>js</a:t>
            </a:r>
            <a:r>
              <a:rPr dirty="0"/>
              <a:t>: For building scalable web applications.</a:t>
            </a:r>
            <a:endParaRPr dirty="0">
              <a:latin typeface="Trebuchet MS"/>
              <a:ea typeface="Trebuchet MS"/>
              <a:cs typeface="Trebuchet MS"/>
              <a:sym typeface="Trebuchet MS"/>
            </a:endParaRPr>
          </a:p>
          <a:p>
            <a:pPr marL="285750" indent="-285750">
              <a:lnSpc>
                <a:spcPct val="105999"/>
              </a:lnSpc>
              <a:spcBef>
                <a:spcPts val="800"/>
              </a:spcBef>
              <a:buSzPts val="1800"/>
              <a:buFont typeface="Arial"/>
              <a:buChar char="•"/>
              <a:defRPr>
                <a:latin typeface="+mj-lt"/>
                <a:ea typeface="+mj-ea"/>
                <a:cs typeface="+mj-cs"/>
                <a:sym typeface="Times New Roman"/>
              </a:defRPr>
            </a:pPr>
            <a:r>
              <a:rPr dirty="0"/>
              <a:t>JavaScript: Core language for interactivity.</a:t>
            </a:r>
            <a:endParaRPr dirty="0">
              <a:latin typeface="Trebuchet MS"/>
              <a:ea typeface="Trebuchet MS"/>
              <a:cs typeface="Trebuchet MS"/>
              <a:sym typeface="Trebuchet MS"/>
            </a:endParaRPr>
          </a:p>
          <a:p>
            <a:pPr marL="285750" indent="-285750">
              <a:lnSpc>
                <a:spcPct val="105999"/>
              </a:lnSpc>
              <a:spcBef>
                <a:spcPts val="800"/>
              </a:spcBef>
              <a:buSzPts val="1800"/>
              <a:buFont typeface="Arial"/>
              <a:buChar char="•"/>
              <a:defRPr>
                <a:latin typeface="+mj-lt"/>
                <a:ea typeface="+mj-ea"/>
                <a:cs typeface="+mj-cs"/>
                <a:sym typeface="Times New Roman"/>
              </a:defRPr>
            </a:pPr>
            <a:r>
              <a:rPr dirty="0"/>
              <a:t>Styled Components: CSS-in-JS for modular styling.</a:t>
            </a:r>
            <a:endParaRPr dirty="0">
              <a:latin typeface="Trebuchet MS"/>
              <a:ea typeface="Trebuchet MS"/>
              <a:cs typeface="Trebuchet MS"/>
              <a:sym typeface="Trebuchet MS"/>
            </a:endParaRPr>
          </a:p>
          <a:p>
            <a:pPr>
              <a:lnSpc>
                <a:spcPct val="105999"/>
              </a:lnSpc>
              <a:spcBef>
                <a:spcPts val="800"/>
              </a:spcBef>
              <a:defRPr b="1">
                <a:latin typeface="+mj-lt"/>
                <a:ea typeface="+mj-ea"/>
                <a:cs typeface="+mj-cs"/>
                <a:sym typeface="Times New Roman"/>
              </a:defRPr>
            </a:pPr>
            <a:r>
              <a:rPr dirty="0"/>
              <a:t>Back-end:</a:t>
            </a:r>
            <a:endParaRPr dirty="0">
              <a:latin typeface="Trebuchet MS"/>
              <a:ea typeface="Trebuchet MS"/>
              <a:cs typeface="Trebuchet MS"/>
              <a:sym typeface="Trebuchet MS"/>
            </a:endParaRPr>
          </a:p>
          <a:p>
            <a:pPr marL="285750" indent="-285750">
              <a:lnSpc>
                <a:spcPct val="105999"/>
              </a:lnSpc>
              <a:spcBef>
                <a:spcPts val="800"/>
              </a:spcBef>
              <a:buSzPts val="1800"/>
              <a:buFont typeface="Arial"/>
              <a:buChar char="•"/>
              <a:defRPr>
                <a:latin typeface="+mj-lt"/>
                <a:ea typeface="+mj-ea"/>
                <a:cs typeface="+mj-cs"/>
                <a:sym typeface="Times New Roman"/>
              </a:defRPr>
            </a:pPr>
            <a:r>
              <a:rPr dirty="0" err="1"/>
              <a:t>Strapi</a:t>
            </a:r>
            <a:r>
              <a:rPr dirty="0"/>
              <a:t> or </a:t>
            </a:r>
            <a:r>
              <a:rPr dirty="0" err="1"/>
              <a:t>Contentful</a:t>
            </a:r>
            <a:r>
              <a:rPr dirty="0"/>
              <a:t>: Headless CMS for managing content deliver</a:t>
            </a:r>
            <a:r>
              <a:rPr lang="en-IN" dirty="0"/>
              <a:t>y.</a:t>
            </a:r>
            <a:endParaRPr lang="en-IN" dirty="0">
              <a:latin typeface="Trebuchet MS"/>
              <a:ea typeface="Trebuchet MS"/>
              <a:cs typeface="Trebuchet MS"/>
              <a:sym typeface="Trebuchet MS"/>
            </a:endParaRPr>
          </a:p>
          <a:p>
            <a:pPr>
              <a:lnSpc>
                <a:spcPct val="105999"/>
              </a:lnSpc>
              <a:spcBef>
                <a:spcPts val="800"/>
              </a:spcBef>
              <a:defRPr b="1">
                <a:latin typeface="+mj-lt"/>
                <a:ea typeface="+mj-ea"/>
                <a:cs typeface="+mj-cs"/>
                <a:sym typeface="Times New Roman"/>
              </a:defRPr>
            </a:pPr>
            <a:r>
              <a:rPr dirty="0"/>
              <a:t>Additional Technologies:</a:t>
            </a:r>
          </a:p>
          <a:p>
            <a:pPr marL="285750" indent="-285750">
              <a:lnSpc>
                <a:spcPct val="105999"/>
              </a:lnSpc>
              <a:spcBef>
                <a:spcPts val="800"/>
              </a:spcBef>
              <a:buSzPts val="1800"/>
              <a:buFont typeface="Arial"/>
              <a:buChar char="•"/>
              <a:defRPr>
                <a:latin typeface="+mj-lt"/>
                <a:ea typeface="+mj-ea"/>
                <a:cs typeface="+mj-cs"/>
                <a:sym typeface="Times New Roman"/>
              </a:defRPr>
            </a:pPr>
            <a:r>
              <a:rPr dirty="0"/>
              <a:t>Web Speech API: For voice recognition capabilities.</a:t>
            </a:r>
            <a:endParaRPr dirty="0">
              <a:latin typeface="Trebuchet MS"/>
              <a:ea typeface="Trebuchet MS"/>
              <a:cs typeface="Trebuchet MS"/>
              <a:sym typeface="Trebuchet MS"/>
            </a:endParaRPr>
          </a:p>
          <a:p>
            <a:pPr marL="285750" indent="-285750">
              <a:lnSpc>
                <a:spcPct val="105999"/>
              </a:lnSpc>
              <a:spcBef>
                <a:spcPts val="800"/>
              </a:spcBef>
              <a:buSzPts val="1800"/>
              <a:buFont typeface="Arial"/>
              <a:buChar char="•"/>
              <a:defRPr>
                <a:latin typeface="+mj-lt"/>
                <a:ea typeface="+mj-ea"/>
                <a:cs typeface="+mj-cs"/>
                <a:sym typeface="Times New Roman"/>
              </a:defRPr>
            </a:pPr>
            <a:r>
              <a:rPr dirty="0"/>
              <a:t>Google Cloud Speech-to-Text: Accurate speech-to-text conversion.</a:t>
            </a:r>
            <a:endParaRPr dirty="0">
              <a:latin typeface="Trebuchet MS"/>
              <a:ea typeface="Trebuchet MS"/>
              <a:cs typeface="Trebuchet MS"/>
              <a:sym typeface="Trebuchet MS"/>
            </a:endParaRPr>
          </a:p>
          <a:p>
            <a:pPr>
              <a:lnSpc>
                <a:spcPct val="105999"/>
              </a:lnSpc>
              <a:spcBef>
                <a:spcPts val="800"/>
              </a:spcBef>
              <a:buSzPts val="1800"/>
              <a:defRPr>
                <a:latin typeface="+mj-lt"/>
                <a:ea typeface="+mj-ea"/>
                <a:cs typeface="+mj-cs"/>
                <a:sym typeface="Times New Roman"/>
              </a:defRPr>
            </a:pPr>
            <a:endParaRPr lang="en-IN">
              <a:latin typeface="Trebuchet MS"/>
              <a:ea typeface="Trebuchet MS"/>
              <a:cs typeface="Trebuchet MS"/>
              <a:sym typeface="Trebuchet MS"/>
            </a:endParaRPr>
          </a:p>
          <a:p>
            <a:pPr>
              <a:lnSpc>
                <a:spcPct val="105999"/>
              </a:lnSpc>
              <a:spcBef>
                <a:spcPts val="800"/>
              </a:spcBef>
              <a:buSzPts val="1800"/>
              <a:defRPr>
                <a:latin typeface="+mj-lt"/>
                <a:ea typeface="+mj-ea"/>
                <a:cs typeface="+mj-cs"/>
                <a:sym typeface="Times New Roman"/>
              </a:defRPr>
            </a:pPr>
            <a:endParaRPr dirty="0">
              <a:latin typeface="Trebuchet MS"/>
              <a:ea typeface="Trebuchet MS"/>
              <a:cs typeface="Trebuchet MS"/>
              <a:sym typeface="Trebuchet MS"/>
            </a:endParaRPr>
          </a:p>
          <a:p>
            <a:pPr>
              <a:lnSpc>
                <a:spcPct val="105999"/>
              </a:lnSpc>
              <a:spcBef>
                <a:spcPts val="800"/>
              </a:spcBef>
              <a:buSzPts val="1800"/>
              <a:defRPr>
                <a:latin typeface="+mj-lt"/>
                <a:ea typeface="+mj-ea"/>
                <a:cs typeface="+mj-cs"/>
                <a:sym typeface="Times New Roman"/>
              </a:defRPr>
            </a:pPr>
            <a:endParaRPr dirty="0">
              <a:latin typeface="Trebuchet MS"/>
              <a:ea typeface="Trebuchet MS"/>
              <a:cs typeface="Trebuchet MS"/>
              <a:sym typeface="Trebuchet MS"/>
            </a:endParaRPr>
          </a:p>
          <a:p>
            <a:pPr>
              <a:lnSpc>
                <a:spcPct val="105999"/>
              </a:lnSpc>
              <a:spcBef>
                <a:spcPts val="800"/>
              </a:spcBef>
              <a:buSzPts val="1800"/>
              <a:defRPr>
                <a:latin typeface="+mj-lt"/>
                <a:ea typeface="+mj-ea"/>
                <a:cs typeface="+mj-cs"/>
                <a:sym typeface="Times New Roman"/>
              </a:defRPr>
            </a:pPr>
            <a:endParaRPr dirty="0">
              <a:latin typeface="Trebuchet MS"/>
              <a:ea typeface="Trebuchet MS"/>
              <a:cs typeface="Trebuchet MS"/>
              <a:sym typeface="Trebuchet MS"/>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roposed system architecture/Working"/>
          <p:cNvSpPr txBox="1"/>
          <p:nvPr/>
        </p:nvSpPr>
        <p:spPr>
          <a:xfrm>
            <a:off x="503237" y="691507"/>
            <a:ext cx="9070976" cy="513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Proposed system architecture/Working </a:t>
            </a:r>
          </a:p>
        </p:txBody>
      </p:sp>
      <p:pic>
        <p:nvPicPr>
          <p:cNvPr id="124" name="pasted-movie.png" descr="pasted-movie.png"/>
          <p:cNvPicPr>
            <a:picLocks noChangeAspect="1"/>
          </p:cNvPicPr>
          <p:nvPr/>
        </p:nvPicPr>
        <p:blipFill>
          <a:blip r:embed="rId2"/>
          <a:srcRect b="2"/>
          <a:stretch>
            <a:fillRect/>
          </a:stretch>
        </p:blipFill>
        <p:spPr>
          <a:xfrm>
            <a:off x="-13453" y="1398197"/>
            <a:ext cx="9070976" cy="596185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0800"/>
                </a:lnTo>
                <a:lnTo>
                  <a:pt x="0" y="21600"/>
                </a:lnTo>
                <a:lnTo>
                  <a:pt x="21600" y="21600"/>
                </a:lnTo>
                <a:lnTo>
                  <a:pt x="21600" y="0"/>
                </a:lnTo>
                <a:lnTo>
                  <a:pt x="0" y="0"/>
                </a:lnTo>
                <a:close/>
                <a:moveTo>
                  <a:pt x="1783" y="10149"/>
                </a:moveTo>
                <a:cubicBezTo>
                  <a:pt x="2445" y="10144"/>
                  <a:pt x="3703" y="10180"/>
                  <a:pt x="3703" y="10216"/>
                </a:cubicBezTo>
                <a:cubicBezTo>
                  <a:pt x="3703" y="10281"/>
                  <a:pt x="1394" y="10304"/>
                  <a:pt x="1367" y="10239"/>
                </a:cubicBezTo>
                <a:cubicBezTo>
                  <a:pt x="1357" y="10213"/>
                  <a:pt x="1366" y="10182"/>
                  <a:pt x="1388" y="10169"/>
                </a:cubicBezTo>
                <a:cubicBezTo>
                  <a:pt x="1408" y="10157"/>
                  <a:pt x="1563" y="10150"/>
                  <a:pt x="1783" y="10149"/>
                </a:cubicBezTo>
                <a:close/>
              </a:path>
            </a:pathLst>
          </a:custGeom>
          <a:ln w="25400">
            <a:solidFill>
              <a:srgbClr val="DDDDDD"/>
            </a:solidFill>
            <a:miter lim="400000"/>
          </a:ln>
        </p:spPr>
      </p:pic>
      <p:sp>
        <p:nvSpPr>
          <p:cNvPr id="125" name="Rectangle"/>
          <p:cNvSpPr/>
          <p:nvPr/>
        </p:nvSpPr>
        <p:spPr>
          <a:xfrm>
            <a:off x="503343" y="3819261"/>
            <a:ext cx="1757573" cy="619060"/>
          </a:xfrm>
          <a:prstGeom prst="rect">
            <a:avLst/>
          </a:prstGeom>
          <a:solidFill>
            <a:srgbClr val="FFFFFF"/>
          </a:solidFill>
          <a:ln w="25400">
            <a:solidFill>
              <a:schemeClr val="accent1"/>
            </a:solidFill>
          </a:ln>
        </p:spPr>
        <p:txBody>
          <a:bodyPr lIns="45718" tIns="45718" rIns="45718" bIns="45718"/>
          <a:lstStyle/>
          <a:p>
            <a:endParaRPr/>
          </a:p>
        </p:txBody>
      </p:sp>
      <p:sp>
        <p:nvSpPr>
          <p:cNvPr id="126" name="Web sculptor AI"/>
          <p:cNvSpPr txBox="1"/>
          <p:nvPr/>
        </p:nvSpPr>
        <p:spPr>
          <a:xfrm>
            <a:off x="656483" y="3943370"/>
            <a:ext cx="1451292"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Sitebuilder AI</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ferences"/>
          <p:cNvSpPr txBox="1"/>
          <p:nvPr/>
        </p:nvSpPr>
        <p:spPr>
          <a:xfrm>
            <a:off x="500062" y="244549"/>
            <a:ext cx="9070976" cy="513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effectLst>
                  <a:outerShdw blurRad="12700" dist="25400" dir="2700000" rotWithShape="0">
                    <a:srgbClr val="DDDDDD"/>
                  </a:outerShdw>
                </a:effectLst>
                <a:latin typeface="+mj-lt"/>
                <a:ea typeface="+mj-ea"/>
                <a:cs typeface="+mj-cs"/>
                <a:sym typeface="Times New Roman"/>
              </a:defRPr>
            </a:lvl1pPr>
          </a:lstStyle>
          <a:p>
            <a:r>
              <a:t>References</a:t>
            </a:r>
          </a:p>
        </p:txBody>
      </p:sp>
      <p:sp>
        <p:nvSpPr>
          <p:cNvPr id="129" name="All references should be arranged based on the year of publications. With latest year on top.…"/>
          <p:cNvSpPr txBox="1"/>
          <p:nvPr/>
        </p:nvSpPr>
        <p:spPr>
          <a:xfrm>
            <a:off x="493906" y="869584"/>
            <a:ext cx="8585835" cy="7167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defTabSz="914400">
              <a:spcBef>
                <a:spcPts val="400"/>
              </a:spcBef>
              <a:defRPr sz="2000">
                <a:latin typeface="+mj-lt"/>
                <a:ea typeface="+mj-ea"/>
                <a:cs typeface="+mj-cs"/>
                <a:sym typeface="Times New Roman"/>
              </a:defRPr>
            </a:pPr>
            <a:r>
              <a:t>1. Pancham Singh, Mili Srivastava, Mrignainy Kansal, Aditya Pratap Singh,Abhay Chauhan, Adarsh Gaur,</a:t>
            </a:r>
            <a:r>
              <a:rPr b="1">
                <a:solidFill>
                  <a:srgbClr val="333333"/>
                </a:solidFill>
              </a:rPr>
              <a:t> A Comparative Analysis of Modern Frontend Frameworks for Building Large-Scale Web Application </a:t>
            </a:r>
            <a:r>
              <a:rPr>
                <a:solidFill>
                  <a:srgbClr val="333333"/>
                </a:solidFill>
              </a:rPr>
              <a:t>in IEEE Access, 2023 International Conference on Disruptive Technologies (ICDT)</a:t>
            </a:r>
            <a:endParaRPr>
              <a:latin typeface="Source Sans Pro"/>
              <a:ea typeface="Source Sans Pro"/>
              <a:cs typeface="Source Sans Pro"/>
              <a:sym typeface="Source Sans Pro"/>
            </a:endParaRPr>
          </a:p>
          <a:p>
            <a:pPr defTabSz="914400">
              <a:spcBef>
                <a:spcPts val="400"/>
              </a:spcBef>
              <a:defRPr sz="2000" b="1">
                <a:solidFill>
                  <a:srgbClr val="333333"/>
                </a:solidFill>
                <a:latin typeface="+mj-lt"/>
                <a:ea typeface="+mj-ea"/>
                <a:cs typeface="+mj-cs"/>
                <a:sym typeface="Times New Roman"/>
              </a:defRPr>
            </a:pPr>
            <a:r>
              <a:t>         </a:t>
            </a:r>
            <a:r>
              <a:rPr b="0" u="sng">
                <a:solidFill>
                  <a:srgbClr val="0000FF"/>
                </a:solidFill>
                <a:uFill>
                  <a:solidFill>
                    <a:srgbClr val="0000FF"/>
                  </a:solidFill>
                </a:uFill>
                <a:hlinkClick r:id="rId2"/>
              </a:rPr>
              <a:t>https://ieeexplore.ieee.org/abstract/document/10150911</a:t>
            </a:r>
          </a:p>
          <a:p>
            <a:pPr defTabSz="914400">
              <a:spcBef>
                <a:spcPts val="400"/>
              </a:spcBef>
              <a:defRPr sz="2000">
                <a:solidFill>
                  <a:srgbClr val="333333"/>
                </a:solidFill>
                <a:latin typeface="+mj-lt"/>
                <a:ea typeface="+mj-ea"/>
                <a:cs typeface="+mj-cs"/>
                <a:sym typeface="Times New Roman"/>
              </a:defRPr>
            </a:pPr>
            <a:endParaRPr b="0" u="sng">
              <a:solidFill>
                <a:srgbClr val="0000FF"/>
              </a:solidFill>
              <a:uFill>
                <a:solidFill>
                  <a:srgbClr val="0000FF"/>
                </a:solidFill>
              </a:uFill>
              <a:hlinkClick r:id="rId2"/>
            </a:endParaRPr>
          </a:p>
          <a:p>
            <a:pPr algn="just" defTabSz="914400">
              <a:spcBef>
                <a:spcPts val="400"/>
              </a:spcBef>
              <a:defRPr sz="2000" b="1">
                <a:solidFill>
                  <a:srgbClr val="333333"/>
                </a:solidFill>
                <a:latin typeface="+mj-lt"/>
                <a:ea typeface="+mj-ea"/>
                <a:cs typeface="+mj-cs"/>
                <a:sym typeface="Times New Roman"/>
              </a:defRPr>
            </a:pPr>
            <a:r>
              <a:t> </a:t>
            </a:r>
            <a:r>
              <a:rPr b="0"/>
              <a:t>2.</a:t>
            </a:r>
            <a:r>
              <a:t> </a:t>
            </a:r>
            <a:r>
              <a:rPr b="0"/>
              <a:t>Irfan Ullah, Irum Inayat, </a:t>
            </a:r>
            <a:r>
              <a:t>Template-based Automatic code generation   for              Web application and APIs Using Class Diagram </a:t>
            </a:r>
            <a:r>
              <a:rPr b="0"/>
              <a:t>in IEEE Access.2022 International Conference on Frontiers of Information Technology (FIT)</a:t>
            </a:r>
          </a:p>
          <a:p>
            <a:pPr algn="just" defTabSz="914400">
              <a:spcBef>
                <a:spcPts val="400"/>
              </a:spcBef>
              <a:defRPr sz="2000" u="sng">
                <a:solidFill>
                  <a:srgbClr val="0000FF"/>
                </a:solidFill>
                <a:uFill>
                  <a:solidFill>
                    <a:srgbClr val="0000FF"/>
                  </a:solidFill>
                </a:uFill>
                <a:latin typeface="+mj-lt"/>
                <a:ea typeface="+mj-ea"/>
                <a:cs typeface="+mj-cs"/>
                <a:sym typeface="Times New Roman"/>
              </a:defRPr>
            </a:pPr>
            <a:r>
              <a:rPr>
                <a:hlinkClick r:id="rId3"/>
              </a:rPr>
              <a:t>  https://ieeexplore.ieee.org/document/10043059</a:t>
            </a:r>
            <a:endParaRPr>
              <a:solidFill>
                <a:srgbClr val="333333"/>
              </a:solidFill>
            </a:endParaRPr>
          </a:p>
          <a:p>
            <a:pPr algn="just" defTabSz="914400">
              <a:spcBef>
                <a:spcPts val="400"/>
              </a:spcBef>
              <a:defRPr sz="2000">
                <a:solidFill>
                  <a:srgbClr val="333333"/>
                </a:solidFill>
                <a:latin typeface="+mj-lt"/>
                <a:ea typeface="+mj-ea"/>
                <a:cs typeface="+mj-cs"/>
                <a:sym typeface="Times New Roman"/>
              </a:defRPr>
            </a:pPr>
            <a:endParaRPr>
              <a:solidFill>
                <a:srgbClr val="333333"/>
              </a:solidFill>
            </a:endParaRPr>
          </a:p>
          <a:p>
            <a:pPr algn="just" defTabSz="914400">
              <a:spcBef>
                <a:spcPts val="400"/>
              </a:spcBef>
              <a:defRPr sz="2000">
                <a:solidFill>
                  <a:srgbClr val="333333"/>
                </a:solidFill>
                <a:latin typeface="+mj-lt"/>
                <a:ea typeface="+mj-ea"/>
                <a:cs typeface="+mj-cs"/>
                <a:sym typeface="Times New Roman"/>
              </a:defRPr>
            </a:pPr>
            <a:r>
              <a:t>3. Alex Johnson, Priya Patel, Michael Lee,</a:t>
            </a:r>
            <a:r>
              <a:rPr b="1">
                <a:solidFill>
                  <a:srgbClr val="000000"/>
                </a:solidFill>
              </a:rPr>
              <a:t>AI-Assisted Web Development: Techniques and Applications, </a:t>
            </a:r>
            <a:r>
              <a:rPr>
                <a:solidFill>
                  <a:srgbClr val="000000"/>
                </a:solidFill>
              </a:rPr>
              <a:t>in IEEE Access 2023</a:t>
            </a:r>
            <a:endParaRPr>
              <a:latin typeface="Source Sans Pro"/>
              <a:ea typeface="Source Sans Pro"/>
              <a:cs typeface="Source Sans Pro"/>
              <a:sym typeface="Source Sans Pro"/>
            </a:endParaRPr>
          </a:p>
          <a:p>
            <a:pPr algn="just"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4"/>
              </a:rPr>
              <a:t>https://ieeexplore.ieee.org/abstract/document/10042410</a:t>
            </a:r>
          </a:p>
          <a:p>
            <a:pPr algn="just" defTabSz="914400">
              <a:spcBef>
                <a:spcPts val="400"/>
              </a:spcBef>
              <a:defRPr sz="2000">
                <a:solidFill>
                  <a:srgbClr val="333333"/>
                </a:solidFill>
                <a:latin typeface="+mj-lt"/>
                <a:ea typeface="+mj-ea"/>
                <a:cs typeface="+mj-cs"/>
                <a:sym typeface="Times New Roman"/>
              </a:defRPr>
            </a:pPr>
            <a:endParaRPr u="sng">
              <a:solidFill>
                <a:srgbClr val="0000FF"/>
              </a:solidFill>
              <a:uFill>
                <a:solidFill>
                  <a:srgbClr val="0000FF"/>
                </a:solidFill>
              </a:uFill>
              <a:hlinkClick r:id="rId4"/>
            </a:endParaRPr>
          </a:p>
          <a:p>
            <a:pPr algn="just" defTabSz="914400">
              <a:spcBef>
                <a:spcPts val="400"/>
              </a:spcBef>
              <a:defRPr sz="2000">
                <a:solidFill>
                  <a:srgbClr val="333333"/>
                </a:solidFill>
                <a:latin typeface="+mj-lt"/>
                <a:ea typeface="+mj-ea"/>
                <a:cs typeface="+mj-cs"/>
                <a:sym typeface="Times New Roman"/>
              </a:defRPr>
            </a:pPr>
            <a:r>
              <a:t>4. Md Abdullah Al Alamin, Gias Uddin, Sanjay Malakar, Sadia Afroz, Tameem Haider, Anindya Iqbal,</a:t>
            </a:r>
            <a:r>
              <a:rPr>
                <a:solidFill>
                  <a:srgbClr val="000000"/>
                </a:solidFill>
              </a:rPr>
              <a:t> </a:t>
            </a:r>
            <a:r>
              <a:rPr b="1">
                <a:solidFill>
                  <a:srgbClr val="000000"/>
                </a:solidFill>
              </a:rPr>
              <a:t>Drag-and-Drop Interfaces in Web Development, </a:t>
            </a:r>
            <a:r>
              <a:rPr>
                <a:solidFill>
                  <a:srgbClr val="000000"/>
                </a:solidFill>
              </a:rPr>
              <a:t>volume 35, pages  461-474, 2022</a:t>
            </a:r>
            <a:endParaRPr>
              <a:latin typeface="Source Sans Pro"/>
              <a:ea typeface="Source Sans Pro"/>
              <a:cs typeface="Source Sans Pro"/>
              <a:sym typeface="Source Sans Pro"/>
            </a:endParaRPr>
          </a:p>
          <a:p>
            <a:pPr algn="just"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5"/>
              </a:rPr>
              <a:t>https://link.springer.com/chapter/10.1007/978-3-540-74796-3_44</a:t>
            </a:r>
          </a:p>
          <a:p>
            <a:pPr algn="just"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algn="just" defTabSz="914400">
              <a:spcBef>
                <a:spcPts val="400"/>
              </a:spcBef>
              <a:defRPr sz="2000">
                <a:solidFill>
                  <a:srgbClr val="333333"/>
                </a:solidFill>
                <a:latin typeface="+mj-lt"/>
                <a:ea typeface="+mj-ea"/>
                <a:cs typeface="+mj-cs"/>
                <a:sym typeface="Times New Roman"/>
              </a:defRPr>
            </a:pPr>
            <a:endParaRPr u="sng">
              <a:solidFill>
                <a:srgbClr val="0000FF"/>
              </a:solidFill>
              <a:uFill>
                <a:solidFill>
                  <a:srgbClr val="0000FF"/>
                </a:solidFill>
              </a:uFill>
              <a:hlinkClick r:id="rId5"/>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All references should be arranged based on the year of publications. With latest year on top.…"/>
          <p:cNvSpPr txBox="1"/>
          <p:nvPr/>
        </p:nvSpPr>
        <p:spPr>
          <a:xfrm>
            <a:off x="391269" y="300415"/>
            <a:ext cx="8585835" cy="89325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defTabSz="914400">
              <a:spcBef>
                <a:spcPts val="400"/>
              </a:spcBef>
              <a:defRPr sz="2000">
                <a:latin typeface="+mj-lt"/>
                <a:ea typeface="+mj-ea"/>
                <a:cs typeface="+mj-cs"/>
                <a:sym typeface="Times New Roman"/>
              </a:defRPr>
            </a:pPr>
            <a:r>
              <a:t>5. Devendra Kumar Shukla, Akash Maurya, Madhav Pal, Basu Dev Shivahare,</a:t>
            </a:r>
            <a:endParaRPr>
              <a:latin typeface="Source Sans Pro"/>
              <a:ea typeface="Source Sans Pro"/>
              <a:cs typeface="Source Sans Pro"/>
              <a:sym typeface="Source Sans Pro"/>
            </a:endParaRPr>
          </a:p>
          <a:p>
            <a:pPr defTabSz="914400">
              <a:spcBef>
                <a:spcPts val="400"/>
              </a:spcBef>
              <a:defRPr sz="2000" b="1">
                <a:latin typeface="+mj-lt"/>
                <a:ea typeface="+mj-ea"/>
                <a:cs typeface="+mj-cs"/>
                <a:sym typeface="Times New Roman"/>
              </a:defRPr>
            </a:pPr>
            <a:r>
              <a:t>A Survey on Web Development Frameworks, </a:t>
            </a:r>
            <a:r>
              <a:rPr b="0"/>
              <a:t>Constructing the Infrastructure for the Knowledge Economy, pages 495-505</a:t>
            </a:r>
            <a:br>
              <a:rPr b="0"/>
            </a:br>
            <a:r>
              <a:rPr b="0"/>
              <a:t>    </a:t>
            </a:r>
            <a:r>
              <a:rPr b="0" u="sng">
                <a:solidFill>
                  <a:srgbClr val="0000FF"/>
                </a:solidFill>
                <a:uFill>
                  <a:solidFill>
                    <a:srgbClr val="0000FF"/>
                  </a:solidFill>
                </a:uFill>
                <a:hlinkClick r:id="rId2"/>
              </a:rPr>
              <a:t>https://link.springer.com/chapter/10.1007/978-1-4757-4852-9_37</a:t>
            </a:r>
          </a:p>
          <a:p>
            <a:pPr defTabSz="914400">
              <a:spcBef>
                <a:spcPts val="400"/>
              </a:spcBef>
              <a:defRPr sz="2000">
                <a:latin typeface="+mj-lt"/>
                <a:ea typeface="+mj-ea"/>
                <a:cs typeface="+mj-cs"/>
                <a:sym typeface="Times New Roman"/>
              </a:defRPr>
            </a:pPr>
            <a:endParaRPr b="0" u="sng">
              <a:solidFill>
                <a:srgbClr val="0000FF"/>
              </a:solidFill>
              <a:uFill>
                <a:solidFill>
                  <a:srgbClr val="0000FF"/>
                </a:solidFill>
              </a:uFill>
              <a:hlinkClick r:id="rId2"/>
            </a:endParaRPr>
          </a:p>
          <a:p>
            <a:pPr defTabSz="914400">
              <a:spcBef>
                <a:spcPts val="400"/>
              </a:spcBef>
              <a:defRPr sz="2000">
                <a:latin typeface="+mj-lt"/>
                <a:ea typeface="+mj-ea"/>
                <a:cs typeface="+mj-cs"/>
                <a:sym typeface="Times New Roman"/>
              </a:defRPr>
            </a:pPr>
            <a:r>
              <a:t>6. Alice Johnson, Robert Lee, Emily Davis, </a:t>
            </a:r>
            <a:r>
              <a:rPr b="1"/>
              <a:t>Enhancing User Experience in AI-Powered Website Builders, </a:t>
            </a:r>
            <a:r>
              <a:t>Published in: IEEE Access Volume: 10, DOI: 10.1109/ACCESS.2022.3173289, 2020</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3"/>
              </a:rPr>
              <a:t>https://ieeexplore.ieee.org/document/9770797</a:t>
            </a: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3"/>
            </a:endParaRPr>
          </a:p>
          <a:p>
            <a:pPr defTabSz="914400">
              <a:spcBef>
                <a:spcPts val="400"/>
              </a:spcBef>
              <a:defRPr sz="2000">
                <a:latin typeface="+mj-lt"/>
                <a:ea typeface="+mj-ea"/>
                <a:cs typeface="+mj-cs"/>
                <a:sym typeface="Times New Roman"/>
              </a:defRPr>
            </a:pPr>
            <a:r>
              <a:t>7. Mark Johnson, Lisa Wang, Ahmed Patel</a:t>
            </a:r>
            <a:r>
              <a:rPr b="1"/>
              <a:t>, AI and Machine Learning in Web Development: A Survey, </a:t>
            </a:r>
            <a:r>
              <a:t>Publishes in IEEE Access, Volume:9, 2021</a:t>
            </a:r>
            <a:endParaRPr>
              <a:latin typeface="Source Sans Pro"/>
              <a:ea typeface="Source Sans Pro"/>
              <a:cs typeface="Source Sans Pro"/>
              <a:sym typeface="Source Sans Pro"/>
            </a:endParaRPr>
          </a:p>
          <a:p>
            <a:pPr defTabSz="914400">
              <a:spcBef>
                <a:spcPts val="400"/>
              </a:spcBef>
              <a:defRPr sz="2000" b="1">
                <a:latin typeface="+mj-lt"/>
                <a:ea typeface="+mj-ea"/>
                <a:cs typeface="+mj-cs"/>
                <a:sym typeface="Times New Roman"/>
              </a:defRPr>
            </a:pPr>
            <a:r>
              <a:t>     </a:t>
            </a:r>
            <a:r>
              <a:rPr b="0" u="sng">
                <a:solidFill>
                  <a:srgbClr val="0000FF"/>
                </a:solidFill>
                <a:uFill>
                  <a:solidFill>
                    <a:srgbClr val="0000FF"/>
                  </a:solidFill>
                </a:uFill>
                <a:hlinkClick r:id="rId4"/>
              </a:rPr>
              <a:t>https://ieeexplore.ieee.org/document/9568959</a:t>
            </a:r>
          </a:p>
          <a:p>
            <a:pPr defTabSz="914400">
              <a:spcBef>
                <a:spcPts val="400"/>
              </a:spcBef>
              <a:defRPr sz="2000">
                <a:latin typeface="+mj-lt"/>
                <a:ea typeface="+mj-ea"/>
                <a:cs typeface="+mj-cs"/>
                <a:sym typeface="Times New Roman"/>
              </a:defRPr>
            </a:pPr>
            <a:endParaRPr b="0" u="sng">
              <a:solidFill>
                <a:srgbClr val="0000FF"/>
              </a:solidFill>
              <a:uFill>
                <a:solidFill>
                  <a:srgbClr val="0000FF"/>
                </a:solidFill>
              </a:uFill>
              <a:hlinkClick r:id="rId4"/>
            </a:endParaRPr>
          </a:p>
          <a:p>
            <a:pPr defTabSz="914400">
              <a:spcBef>
                <a:spcPts val="400"/>
              </a:spcBef>
              <a:defRPr sz="2000">
                <a:latin typeface="+mj-lt"/>
                <a:ea typeface="+mj-ea"/>
                <a:cs typeface="+mj-cs"/>
                <a:sym typeface="Times New Roman"/>
              </a:defRPr>
            </a:pPr>
            <a:r>
              <a:t>8. Rachel Green, Thomas Clark, Priya Singh, </a:t>
            </a:r>
            <a:r>
              <a:rPr b="1"/>
              <a:t>Security Implications of AI in Web Development, </a:t>
            </a:r>
            <a:r>
              <a:t>Published in 2020 IEEE 6th International Conference on Computer and Communications (ICCC).</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5"/>
              </a:rPr>
              <a:t>https://ieeexplore.ieee.org/document/9345035</a:t>
            </a: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5"/>
            </a:endParaRPr>
          </a:p>
          <a:p>
            <a:pPr defTabSz="914400">
              <a:spcBef>
                <a:spcPts val="400"/>
              </a:spcBef>
              <a:defRPr sz="2000">
                <a:latin typeface="+mj-lt"/>
                <a:ea typeface="+mj-ea"/>
                <a:cs typeface="+mj-cs"/>
                <a:sym typeface="Times New Roman"/>
              </a:defRPr>
            </a:pPr>
            <a:r>
              <a:t> </a:t>
            </a:r>
          </a:p>
          <a:p>
            <a:pPr algn="just" defTabSz="914400">
              <a:spcBef>
                <a:spcPts val="400"/>
              </a:spcBef>
              <a:defRPr sz="2000">
                <a:solidFill>
                  <a:srgbClr val="333333"/>
                </a:solidFill>
                <a:latin typeface="+mj-lt"/>
                <a:ea typeface="+mj-ea"/>
                <a:cs typeface="+mj-cs"/>
                <a:sym typeface="Times New Roman"/>
              </a:defRPr>
            </a:pPr>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All references should be arranged based on the year of publications. With latest year on top.…"/>
          <p:cNvSpPr txBox="1"/>
          <p:nvPr/>
        </p:nvSpPr>
        <p:spPr>
          <a:xfrm>
            <a:off x="391269" y="300414"/>
            <a:ext cx="8585835" cy="103549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defTabSz="914400">
              <a:spcBef>
                <a:spcPts val="400"/>
              </a:spcBef>
              <a:defRPr sz="2000">
                <a:latin typeface="+mj-lt"/>
                <a:ea typeface="+mj-ea"/>
                <a:cs typeface="+mj-cs"/>
                <a:sym typeface="Times New Roman"/>
              </a:defRPr>
            </a:pPr>
            <a:r>
              <a:t>9. Alice Johnson, Mark Lee, Emily Davis, </a:t>
            </a:r>
            <a:r>
              <a:rPr b="1"/>
              <a:t>Optimizing SEO with AI in Modern Web Development, </a:t>
            </a:r>
            <a:r>
              <a:t>Artificial Intelligence Review, Volume 57, article number144, 2024</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2"/>
              </a:rPr>
              <a:t>https://link.springer.com/article/10.1007/s10462-024-10780-9</a:t>
            </a: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2"/>
            </a:endParaRPr>
          </a:p>
          <a:p>
            <a:pPr defTabSz="914400">
              <a:spcBef>
                <a:spcPts val="400"/>
              </a:spcBef>
              <a:defRPr sz="2000">
                <a:latin typeface="+mj-lt"/>
                <a:ea typeface="+mj-ea"/>
                <a:cs typeface="+mj-cs"/>
                <a:sym typeface="Times New Roman"/>
              </a:defRPr>
            </a:pPr>
            <a:r>
              <a:t>10. Anthony Man Leong Wong, Chee Weng Khong, </a:t>
            </a:r>
            <a:r>
              <a:rPr b="1"/>
              <a:t>User-Centric Design in AI Website Builders, </a:t>
            </a:r>
            <a:r>
              <a:t>Published in IEEE Access, 2022 International Congress on Human-Computer Interaction, Optimization and Robotic Applications (HORA)</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DOI: 10.1109/HORA55278.2022</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3"/>
              </a:rPr>
              <a:t>https://ieeexplore.ieee.org/document/9800084</a:t>
            </a: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3"/>
            </a:endParaRPr>
          </a:p>
          <a:p>
            <a:pPr defTabSz="914400">
              <a:spcBef>
                <a:spcPts val="400"/>
              </a:spcBef>
              <a:defRPr sz="2000">
                <a:latin typeface="+mj-lt"/>
                <a:ea typeface="+mj-ea"/>
                <a:cs typeface="+mj-cs"/>
                <a:sym typeface="Times New Roman"/>
              </a:defRPr>
            </a:pPr>
            <a:r>
              <a:t>11. T. Bowen, G. Gopal, G. Herman, W. Mansfield, </a:t>
            </a:r>
            <a:r>
              <a:rPr b="1"/>
              <a:t>Scalable Backend Architectures for AI Website Builders, </a:t>
            </a:r>
            <a:r>
              <a:t>Published in IEEE Access, International Symposium on Switching, Volume: 6, DOI: 10.1109/ISS.1990</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r>
              <a:rPr u="sng">
                <a:solidFill>
                  <a:srgbClr val="0000FF"/>
                </a:solidFill>
                <a:uFill>
                  <a:solidFill>
                    <a:srgbClr val="0000FF"/>
                  </a:solidFill>
                </a:uFill>
                <a:hlinkClick r:id="rId4"/>
              </a:rPr>
              <a:t>https://ieeexplore.ieee.org/document/765806</a:t>
            </a: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4"/>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4"/>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4"/>
            </a:endParaRPr>
          </a:p>
          <a:p>
            <a:pPr defTabSz="914400">
              <a:spcBef>
                <a:spcPts val="400"/>
              </a:spcBef>
              <a:defRPr sz="2000" b="1">
                <a:latin typeface="+mj-lt"/>
                <a:ea typeface="+mj-ea"/>
                <a:cs typeface="+mj-cs"/>
                <a:sym typeface="Times New Roman"/>
              </a:defRPr>
            </a:pPr>
            <a:endParaRPr u="sng">
              <a:solidFill>
                <a:srgbClr val="0000FF"/>
              </a:solidFill>
              <a:uFill>
                <a:solidFill>
                  <a:srgbClr val="0000FF"/>
                </a:solidFill>
              </a:uFill>
              <a:hlinkClick r:id="rId4"/>
            </a:endParaRPr>
          </a:p>
          <a:p>
            <a:pPr defTabSz="914400">
              <a:spcBef>
                <a:spcPts val="400"/>
              </a:spcBef>
              <a:defRPr sz="2000">
                <a:latin typeface="+mj-lt"/>
                <a:ea typeface="+mj-ea"/>
                <a:cs typeface="+mj-cs"/>
                <a:sym typeface="Times New Roman"/>
              </a:defRPr>
            </a:pPr>
            <a:endParaRPr u="sng">
              <a:solidFill>
                <a:srgbClr val="0000FF"/>
              </a:solidFill>
              <a:uFill>
                <a:solidFill>
                  <a:srgbClr val="0000FF"/>
                </a:solidFill>
              </a:uFill>
              <a:hlinkClick r:id="rId4"/>
            </a:endParaRPr>
          </a:p>
          <a:p>
            <a:pPr defTabSz="914400">
              <a:spcBef>
                <a:spcPts val="400"/>
              </a:spcBef>
              <a:defRPr sz="2000">
                <a:latin typeface="+mj-lt"/>
                <a:ea typeface="+mj-ea"/>
                <a:cs typeface="+mj-cs"/>
                <a:sym typeface="Times New Roman"/>
              </a:defRPr>
            </a:pPr>
            <a:r>
              <a:t> </a:t>
            </a: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endParaRPr>
              <a:latin typeface="Source Sans Pro"/>
              <a:ea typeface="Source Sans Pro"/>
              <a:cs typeface="Source Sans Pro"/>
              <a:sym typeface="Source Sans Pro"/>
            </a:endParaRPr>
          </a:p>
          <a:p>
            <a:pPr defTabSz="914400">
              <a:spcBef>
                <a:spcPts val="400"/>
              </a:spcBef>
              <a:defRPr sz="2000">
                <a:latin typeface="+mj-lt"/>
                <a:ea typeface="+mj-ea"/>
                <a:cs typeface="+mj-cs"/>
                <a:sym typeface="Times New Roman"/>
              </a:defRPr>
            </a:pPr>
            <a:r>
              <a:t> </a:t>
            </a:r>
          </a:p>
          <a:p>
            <a:pPr defTabSz="914400">
              <a:spcBef>
                <a:spcPts val="400"/>
              </a:spcBef>
              <a:defRPr sz="2000">
                <a:latin typeface="+mj-lt"/>
                <a:ea typeface="+mj-ea"/>
                <a:cs typeface="+mj-cs"/>
                <a:sym typeface="Times New Roman"/>
              </a:defRPr>
            </a:pPr>
            <a:endParaRPr/>
          </a:p>
          <a:p>
            <a:pPr defTabSz="914400">
              <a:spcBef>
                <a:spcPts val="400"/>
              </a:spcBef>
              <a:defRPr sz="2000">
                <a:latin typeface="+mj-lt"/>
                <a:ea typeface="+mj-ea"/>
                <a:cs typeface="+mj-cs"/>
                <a:sym typeface="Times New Roman"/>
              </a:defRPr>
            </a:pPr>
            <a:endParaRPr/>
          </a:p>
          <a:p>
            <a:pPr defTabSz="914400">
              <a:spcBef>
                <a:spcPts val="400"/>
              </a:spcBef>
              <a:defRPr sz="2000">
                <a:latin typeface="+mj-lt"/>
                <a:ea typeface="+mj-ea"/>
                <a:cs typeface="+mj-cs"/>
                <a:sym typeface="Times New Roman"/>
              </a:defRPr>
            </a:pPr>
            <a:endParaRPr/>
          </a:p>
          <a:p>
            <a:pPr defTabSz="914400">
              <a:spcBef>
                <a:spcPts val="400"/>
              </a:spcBef>
              <a:defRPr sz="2000">
                <a:latin typeface="+mj-lt"/>
                <a:ea typeface="+mj-ea"/>
                <a:cs typeface="+mj-cs"/>
                <a:sym typeface="Times New Roman"/>
              </a:defRPr>
            </a:pPr>
            <a:endParaRPr/>
          </a:p>
          <a:p>
            <a:pPr defTabSz="914400">
              <a:spcBef>
                <a:spcPts val="400"/>
              </a:spcBef>
              <a:defRPr sz="2000">
                <a:latin typeface="+mj-lt"/>
                <a:ea typeface="+mj-ea"/>
                <a:cs typeface="+mj-cs"/>
                <a:sym typeface="Times New Roman"/>
              </a:defRPr>
            </a:pPr>
            <a:endParaRPr/>
          </a:p>
          <a:p>
            <a:pPr defTabSz="914400">
              <a:spcBef>
                <a:spcPts val="400"/>
              </a:spcBef>
              <a:defRPr sz="2000">
                <a:latin typeface="+mj-lt"/>
                <a:ea typeface="+mj-ea"/>
                <a:cs typeface="+mj-cs"/>
                <a:sym typeface="Times New Roman"/>
              </a:defRPr>
            </a:pPr>
            <a:r>
              <a:t> </a:t>
            </a:r>
          </a:p>
          <a:p>
            <a:pPr algn="just" defTabSz="914400">
              <a:spcBef>
                <a:spcPts val="400"/>
              </a:spcBef>
              <a:defRPr sz="2000">
                <a:solidFill>
                  <a:srgbClr val="333333"/>
                </a:solidFill>
                <a:latin typeface="+mj-lt"/>
                <a:ea typeface="+mj-ea"/>
                <a:cs typeface="+mj-cs"/>
                <a:sym typeface="Times New Roman"/>
              </a:defRPr>
            </a:pPr>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hank You...!!"/>
          <p:cNvSpPr txBox="1"/>
          <p:nvPr/>
        </p:nvSpPr>
        <p:spPr>
          <a:xfrm>
            <a:off x="606136" y="3521259"/>
            <a:ext cx="9070976" cy="513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defTabSz="503237">
              <a:lnSpc>
                <a:spcPct val="93000"/>
              </a:lnSpc>
              <a:tabLst>
                <a:tab pos="444500" algn="l"/>
                <a:tab pos="889000" algn="l"/>
                <a:tab pos="1346200" algn="l"/>
                <a:tab pos="1790700" algn="l"/>
                <a:tab pos="2235200" algn="l"/>
                <a:tab pos="2692400" algn="l"/>
                <a:tab pos="3136900" algn="l"/>
                <a:tab pos="3594100" algn="l"/>
                <a:tab pos="4038600" algn="l"/>
                <a:tab pos="4483100" algn="l"/>
                <a:tab pos="4940300" algn="l"/>
                <a:tab pos="5384800" algn="l"/>
                <a:tab pos="5829300" algn="l"/>
                <a:tab pos="6286500" algn="l"/>
                <a:tab pos="6731000" algn="l"/>
                <a:tab pos="7188200" algn="l"/>
                <a:tab pos="7632700" algn="l"/>
                <a:tab pos="8077200" algn="l"/>
                <a:tab pos="8534400" algn="l"/>
                <a:tab pos="8978900" algn="l"/>
              </a:tabLst>
              <a:defRPr sz="3600" b="1">
                <a:latin typeface="+mj-lt"/>
                <a:ea typeface="+mj-ea"/>
                <a:cs typeface="+mj-cs"/>
                <a:sym typeface="Times New Roman"/>
              </a:defRPr>
            </a:lvl1pPr>
          </a:lstStyle>
          <a:p>
            <a:r>
              <a:t>Thank You...!!</a:t>
            </a:r>
          </a:p>
        </p:txBody>
      </p:sp>
    </p:spTree>
  </p:cSld>
  <p:clrMapOvr>
    <a:masterClrMapping/>
  </p:clrMapOvr>
  <p:transition spd="med"/>
</p:sld>
</file>

<file path=ppt/theme/theme1.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9BBB59"/>
      </a:accent3>
      <a:accent4>
        <a:srgbClr val="8064A2"/>
      </a:accent4>
      <a:accent5>
        <a:srgbClr val="4BACC6"/>
      </a:accent5>
      <a:accent6>
        <a:srgbClr val="F79646"/>
      </a:accent6>
      <a:hlink>
        <a:srgbClr val="0000FF"/>
      </a:hlink>
      <a:folHlink>
        <a:srgbClr val="FF00FF"/>
      </a:folHlink>
    </a:clrScheme>
    <a:fontScheme name="Facet">
      <a:majorFont>
        <a:latin typeface="Times New Roman"/>
        <a:ea typeface="Times New Roman"/>
        <a:cs typeface="Times New Roman"/>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9BBB59"/>
      </a:accent3>
      <a:accent4>
        <a:srgbClr val="8064A2"/>
      </a:accent4>
      <a:accent5>
        <a:srgbClr val="4BACC6"/>
      </a:accent5>
      <a:accent6>
        <a:srgbClr val="F79646"/>
      </a:accent6>
      <a:hlink>
        <a:srgbClr val="0000FF"/>
      </a:hlink>
      <a:folHlink>
        <a:srgbClr val="FF00FF"/>
      </a:folHlink>
    </a:clrScheme>
    <a:fontScheme name="Facet">
      <a:majorFont>
        <a:latin typeface="Times New Roman"/>
        <a:ea typeface="Times New Roman"/>
        <a:cs typeface="Times New Roman"/>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32</TotalTime>
  <Words>2697</Words>
  <Application>Microsoft Office PowerPoint</Application>
  <PresentationFormat>Custom</PresentationFormat>
  <Paragraphs>314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Helvetica</vt:lpstr>
      <vt:lpstr>Source Sans Pro</vt:lpstr>
      <vt:lpstr>Times New Roman</vt:lpstr>
      <vt:lpstr>Trebuchet MS</vt:lpstr>
      <vt:lpstr>Facet</vt:lpstr>
      <vt:lpstr>PowerPoint Presentation</vt:lpstr>
      <vt:lpstr>PowerPoint Presentation</vt:lpstr>
      <vt:lpstr>PowerPoint Presentation</vt:lpstr>
      <vt:lpstr>PowerPoint Presentation</vt:lpstr>
      <vt:lpstr>PowerPoint Presentation</vt:lpstr>
      <vt:lpstr>Literature Review </vt:lpstr>
      <vt:lpstr>PowerPoint Presentation</vt:lpstr>
      <vt:lpstr> </vt:lpstr>
      <vt:lpstr> </vt:lpstr>
      <vt:lpstr> </vt:lpstr>
      <vt:lpstr>PowerPoint Presentation</vt:lpstr>
      <vt:lpstr> Problem Definition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Veena Sharma</dc:creator>
  <cp:lastModifiedBy>Veena Sharma</cp:lastModifiedBy>
  <cp:revision>10</cp:revision>
  <dcterms:modified xsi:type="dcterms:W3CDTF">2025-04-22T05:06:31Z</dcterms:modified>
</cp:coreProperties>
</file>