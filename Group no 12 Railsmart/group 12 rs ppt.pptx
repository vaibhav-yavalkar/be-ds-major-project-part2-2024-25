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4" r:id="rId9"/>
    <p:sldId id="265" r:id="rId10"/>
  </p:sldIdLst>
  <p:sldSz cx="10083800" cy="7562850"/>
  <p:notesSz cx="10083800" cy="756285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076" autoAdjust="0"/>
    <p:restoredTop sz="94660"/>
  </p:normalViewPr>
  <p:slideViewPr>
    <p:cSldViewPr>
      <p:cViewPr varScale="1">
        <p:scale>
          <a:sx n="62" d="100"/>
          <a:sy n="62" d="100"/>
        </p:scale>
        <p:origin x="1626" y="7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370388" cy="379413"/>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5711825" y="0"/>
            <a:ext cx="4370388" cy="379413"/>
          </a:xfrm>
          <a:prstGeom prst="rect">
            <a:avLst/>
          </a:prstGeom>
        </p:spPr>
        <p:txBody>
          <a:bodyPr vert="horz" lIns="91440" tIns="45720" rIns="91440" bIns="45720" rtlCol="0"/>
          <a:lstStyle>
            <a:lvl1pPr algn="r">
              <a:defRPr sz="1200"/>
            </a:lvl1pPr>
          </a:lstStyle>
          <a:p>
            <a:fld id="{1D4E20F1-8F8E-44D4-A3EC-8A2802358321}" type="datetimeFigureOut">
              <a:rPr lang="en-IN" smtClean="0"/>
              <a:t>09-04-2025</a:t>
            </a:fld>
            <a:endParaRPr lang="en-IN"/>
          </a:p>
        </p:txBody>
      </p:sp>
      <p:sp>
        <p:nvSpPr>
          <p:cNvPr id="4" name="Slide Image Placeholder 3"/>
          <p:cNvSpPr>
            <a:spLocks noGrp="1" noRot="1" noChangeAspect="1"/>
          </p:cNvSpPr>
          <p:nvPr>
            <p:ph type="sldImg" idx="2"/>
          </p:nvPr>
        </p:nvSpPr>
        <p:spPr>
          <a:xfrm>
            <a:off x="3341688" y="946150"/>
            <a:ext cx="3400425" cy="2551113"/>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008063" y="3640138"/>
            <a:ext cx="8067675" cy="29781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7183438"/>
            <a:ext cx="4370388" cy="379412"/>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5711825" y="7183438"/>
            <a:ext cx="4370388" cy="379412"/>
          </a:xfrm>
          <a:prstGeom prst="rect">
            <a:avLst/>
          </a:prstGeom>
        </p:spPr>
        <p:txBody>
          <a:bodyPr vert="horz" lIns="91440" tIns="45720" rIns="91440" bIns="45720" rtlCol="0" anchor="b"/>
          <a:lstStyle>
            <a:lvl1pPr algn="r">
              <a:defRPr sz="1200"/>
            </a:lvl1pPr>
          </a:lstStyle>
          <a:p>
            <a:fld id="{926A7140-DFB2-45D3-B881-6E84A110B216}" type="slidenum">
              <a:rPr lang="en-IN" smtClean="0"/>
              <a:t>‹#›</a:t>
            </a:fld>
            <a:endParaRPr lang="en-IN"/>
          </a:p>
        </p:txBody>
      </p:sp>
    </p:spTree>
    <p:extLst>
      <p:ext uri="{BB962C8B-B14F-4D97-AF65-F5344CB8AC3E}">
        <p14:creationId xmlns:p14="http://schemas.microsoft.com/office/powerpoint/2010/main" val="26887620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26A7140-DFB2-45D3-B881-6E84A110B216}" type="slidenum">
              <a:rPr lang="en-IN" smtClean="0"/>
              <a:t>2</a:t>
            </a:fld>
            <a:endParaRPr lang="en-IN"/>
          </a:p>
        </p:txBody>
      </p:sp>
    </p:spTree>
    <p:extLst>
      <p:ext uri="{BB962C8B-B14F-4D97-AF65-F5344CB8AC3E}">
        <p14:creationId xmlns:p14="http://schemas.microsoft.com/office/powerpoint/2010/main" val="23196150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756285" y="2344483"/>
            <a:ext cx="8571230" cy="1588198"/>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512570" y="4235196"/>
            <a:ext cx="7058660" cy="1890712"/>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4/9/2025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chemeClr val="tx1"/>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4/9/2025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chemeClr val="tx1"/>
                </a:solidFill>
                <a:latin typeface="Times New Roman"/>
                <a:cs typeface="Times New Roman"/>
              </a:defRPr>
            </a:lvl1pPr>
          </a:lstStyle>
          <a:p>
            <a:endParaRPr/>
          </a:p>
        </p:txBody>
      </p:sp>
      <p:sp>
        <p:nvSpPr>
          <p:cNvPr id="3" name="Holder 3"/>
          <p:cNvSpPr>
            <a:spLocks noGrp="1"/>
          </p:cNvSpPr>
          <p:nvPr>
            <p:ph sz="half" idx="2"/>
          </p:nvPr>
        </p:nvSpPr>
        <p:spPr>
          <a:xfrm>
            <a:off x="504190" y="1739455"/>
            <a:ext cx="4386453" cy="4991481"/>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5193157" y="1739455"/>
            <a:ext cx="4386453" cy="4991481"/>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4/9/2025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chemeClr val="tx1"/>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4/9/2025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4/9/2025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4481190"/>
            <a:ext cx="494030" cy="3077845"/>
          </a:xfrm>
          <a:custGeom>
            <a:avLst/>
            <a:gdLst/>
            <a:ahLst/>
            <a:cxnLst/>
            <a:rect l="l" t="t" r="r" b="b"/>
            <a:pathLst>
              <a:path w="494030" h="3077845">
                <a:moveTo>
                  <a:pt x="0" y="0"/>
                </a:moveTo>
                <a:lnTo>
                  <a:pt x="0" y="3077846"/>
                </a:lnTo>
                <a:lnTo>
                  <a:pt x="493588" y="3077846"/>
                </a:lnTo>
                <a:lnTo>
                  <a:pt x="0" y="0"/>
                </a:lnTo>
                <a:close/>
              </a:path>
            </a:pathLst>
          </a:custGeom>
          <a:solidFill>
            <a:srgbClr val="5FCAEE">
              <a:alpha val="70195"/>
            </a:srgbClr>
          </a:solidFill>
        </p:spPr>
        <p:txBody>
          <a:bodyPr wrap="square" lIns="0" tIns="0" rIns="0" bIns="0" rtlCol="0"/>
          <a:lstStyle/>
          <a:p>
            <a:endParaRPr/>
          </a:p>
        </p:txBody>
      </p:sp>
      <p:sp>
        <p:nvSpPr>
          <p:cNvPr id="17" name="bg object 17"/>
          <p:cNvSpPr/>
          <p:nvPr/>
        </p:nvSpPr>
        <p:spPr>
          <a:xfrm>
            <a:off x="5656989" y="4607902"/>
            <a:ext cx="4424680" cy="2951480"/>
          </a:xfrm>
          <a:custGeom>
            <a:avLst/>
            <a:gdLst/>
            <a:ahLst/>
            <a:cxnLst/>
            <a:rect l="l" t="t" r="r" b="b"/>
            <a:pathLst>
              <a:path w="4424680" h="2951479">
                <a:moveTo>
                  <a:pt x="0" y="2951138"/>
                </a:moveTo>
                <a:lnTo>
                  <a:pt x="4424269" y="0"/>
                </a:lnTo>
              </a:path>
            </a:pathLst>
          </a:custGeom>
          <a:ln w="9525">
            <a:solidFill>
              <a:srgbClr val="5FCAEE"/>
            </a:solidFill>
          </a:ln>
        </p:spPr>
        <p:txBody>
          <a:bodyPr wrap="square" lIns="0" tIns="0" rIns="0" bIns="0" rtlCol="0"/>
          <a:lstStyle/>
          <a:p>
            <a:endParaRPr/>
          </a:p>
        </p:txBody>
      </p:sp>
      <p:sp>
        <p:nvSpPr>
          <p:cNvPr id="18" name="bg object 18"/>
          <p:cNvSpPr/>
          <p:nvPr/>
        </p:nvSpPr>
        <p:spPr>
          <a:xfrm>
            <a:off x="7764780" y="0"/>
            <a:ext cx="1343025" cy="7559675"/>
          </a:xfrm>
          <a:custGeom>
            <a:avLst/>
            <a:gdLst/>
            <a:ahLst/>
            <a:cxnLst/>
            <a:rect l="l" t="t" r="r" b="b"/>
            <a:pathLst>
              <a:path w="1343025" h="7559675">
                <a:moveTo>
                  <a:pt x="0" y="0"/>
                </a:moveTo>
                <a:lnTo>
                  <a:pt x="1343025" y="7559674"/>
                </a:lnTo>
              </a:path>
            </a:pathLst>
          </a:custGeom>
          <a:ln w="9525">
            <a:solidFill>
              <a:srgbClr val="5FCAEE"/>
            </a:solidFill>
          </a:ln>
        </p:spPr>
        <p:txBody>
          <a:bodyPr wrap="square" lIns="0" tIns="0" rIns="0" bIns="0" rtlCol="0"/>
          <a:lstStyle/>
          <a:p>
            <a:endParaRPr/>
          </a:p>
        </p:txBody>
      </p:sp>
      <p:sp>
        <p:nvSpPr>
          <p:cNvPr id="19" name="bg object 19"/>
          <p:cNvSpPr/>
          <p:nvPr/>
        </p:nvSpPr>
        <p:spPr>
          <a:xfrm>
            <a:off x="7597534" y="0"/>
            <a:ext cx="2484120" cy="7559040"/>
          </a:xfrm>
          <a:custGeom>
            <a:avLst/>
            <a:gdLst/>
            <a:ahLst/>
            <a:cxnLst/>
            <a:rect l="l" t="t" r="r" b="b"/>
            <a:pathLst>
              <a:path w="2484120" h="7559040">
                <a:moveTo>
                  <a:pt x="2230868" y="0"/>
                </a:moveTo>
                <a:lnTo>
                  <a:pt x="0" y="7559037"/>
                </a:lnTo>
                <a:lnTo>
                  <a:pt x="2483724" y="7559037"/>
                </a:lnTo>
                <a:lnTo>
                  <a:pt x="2483724" y="8969"/>
                </a:lnTo>
                <a:lnTo>
                  <a:pt x="2230868" y="0"/>
                </a:lnTo>
                <a:close/>
              </a:path>
            </a:pathLst>
          </a:custGeom>
          <a:solidFill>
            <a:srgbClr val="5FCAEE">
              <a:alpha val="36077"/>
            </a:srgbClr>
          </a:solidFill>
        </p:spPr>
        <p:txBody>
          <a:bodyPr wrap="square" lIns="0" tIns="0" rIns="0" bIns="0" rtlCol="0"/>
          <a:lstStyle/>
          <a:p>
            <a:endParaRPr/>
          </a:p>
        </p:txBody>
      </p:sp>
      <p:sp>
        <p:nvSpPr>
          <p:cNvPr id="20" name="bg object 20"/>
          <p:cNvSpPr/>
          <p:nvPr/>
        </p:nvSpPr>
        <p:spPr>
          <a:xfrm>
            <a:off x="7943166" y="0"/>
            <a:ext cx="2138680" cy="7559040"/>
          </a:xfrm>
          <a:custGeom>
            <a:avLst/>
            <a:gdLst/>
            <a:ahLst/>
            <a:cxnLst/>
            <a:rect l="l" t="t" r="r" b="b"/>
            <a:pathLst>
              <a:path w="2138679" h="7559040">
                <a:moveTo>
                  <a:pt x="2138092" y="0"/>
                </a:moveTo>
                <a:lnTo>
                  <a:pt x="0" y="0"/>
                </a:lnTo>
                <a:lnTo>
                  <a:pt x="1324530" y="7559035"/>
                </a:lnTo>
                <a:lnTo>
                  <a:pt x="2138092" y="7559035"/>
                </a:lnTo>
                <a:lnTo>
                  <a:pt x="2138092" y="0"/>
                </a:lnTo>
                <a:close/>
              </a:path>
            </a:pathLst>
          </a:custGeom>
          <a:solidFill>
            <a:srgbClr val="5FCAEE">
              <a:alpha val="19999"/>
            </a:srgbClr>
          </a:solidFill>
        </p:spPr>
        <p:txBody>
          <a:bodyPr wrap="square" lIns="0" tIns="0" rIns="0" bIns="0" rtlCol="0"/>
          <a:lstStyle/>
          <a:p>
            <a:endParaRPr/>
          </a:p>
        </p:txBody>
      </p:sp>
      <p:sp>
        <p:nvSpPr>
          <p:cNvPr id="21" name="bg object 21"/>
          <p:cNvSpPr/>
          <p:nvPr/>
        </p:nvSpPr>
        <p:spPr>
          <a:xfrm>
            <a:off x="7318249" y="4320987"/>
            <a:ext cx="2763520" cy="3238500"/>
          </a:xfrm>
          <a:custGeom>
            <a:avLst/>
            <a:gdLst/>
            <a:ahLst/>
            <a:cxnLst/>
            <a:rect l="l" t="t" r="r" b="b"/>
            <a:pathLst>
              <a:path w="2763520" h="3238500">
                <a:moveTo>
                  <a:pt x="2763009" y="0"/>
                </a:moveTo>
                <a:lnTo>
                  <a:pt x="0" y="3238050"/>
                </a:lnTo>
                <a:lnTo>
                  <a:pt x="2763009" y="3238050"/>
                </a:lnTo>
                <a:lnTo>
                  <a:pt x="2763009" y="0"/>
                </a:lnTo>
                <a:close/>
              </a:path>
            </a:pathLst>
          </a:custGeom>
          <a:solidFill>
            <a:srgbClr val="17AFE3">
              <a:alpha val="65881"/>
            </a:srgbClr>
          </a:solidFill>
        </p:spPr>
        <p:txBody>
          <a:bodyPr wrap="square" lIns="0" tIns="0" rIns="0" bIns="0" rtlCol="0"/>
          <a:lstStyle/>
          <a:p>
            <a:endParaRPr/>
          </a:p>
        </p:txBody>
      </p:sp>
      <p:sp>
        <p:nvSpPr>
          <p:cNvPr id="22" name="bg object 22"/>
          <p:cNvSpPr/>
          <p:nvPr/>
        </p:nvSpPr>
        <p:spPr>
          <a:xfrm>
            <a:off x="7730676" y="0"/>
            <a:ext cx="2350770" cy="7559040"/>
          </a:xfrm>
          <a:custGeom>
            <a:avLst/>
            <a:gdLst/>
            <a:ahLst/>
            <a:cxnLst/>
            <a:rect l="l" t="t" r="r" b="b"/>
            <a:pathLst>
              <a:path w="2350770" h="7559040">
                <a:moveTo>
                  <a:pt x="2350582" y="0"/>
                </a:moveTo>
                <a:lnTo>
                  <a:pt x="0" y="0"/>
                </a:lnTo>
                <a:lnTo>
                  <a:pt x="2044257" y="7559035"/>
                </a:lnTo>
                <a:lnTo>
                  <a:pt x="2350582" y="7549977"/>
                </a:lnTo>
                <a:lnTo>
                  <a:pt x="2350582" y="0"/>
                </a:lnTo>
                <a:close/>
              </a:path>
            </a:pathLst>
          </a:custGeom>
          <a:solidFill>
            <a:srgbClr val="17AFE3">
              <a:alpha val="50195"/>
            </a:srgbClr>
          </a:solidFill>
        </p:spPr>
        <p:txBody>
          <a:bodyPr wrap="square" lIns="0" tIns="0" rIns="0" bIns="0" rtlCol="0"/>
          <a:lstStyle/>
          <a:p>
            <a:endParaRPr/>
          </a:p>
        </p:txBody>
      </p:sp>
      <p:sp>
        <p:nvSpPr>
          <p:cNvPr id="23" name="bg object 23"/>
          <p:cNvSpPr/>
          <p:nvPr/>
        </p:nvSpPr>
        <p:spPr>
          <a:xfrm>
            <a:off x="9145524" y="0"/>
            <a:ext cx="935990" cy="7559040"/>
          </a:xfrm>
          <a:custGeom>
            <a:avLst/>
            <a:gdLst/>
            <a:ahLst/>
            <a:cxnLst/>
            <a:rect l="l" t="t" r="r" b="b"/>
            <a:pathLst>
              <a:path w="935990" h="7559040">
                <a:moveTo>
                  <a:pt x="935734" y="0"/>
                </a:moveTo>
                <a:lnTo>
                  <a:pt x="745096" y="0"/>
                </a:lnTo>
                <a:lnTo>
                  <a:pt x="0" y="7559035"/>
                </a:lnTo>
                <a:lnTo>
                  <a:pt x="935734" y="7559035"/>
                </a:lnTo>
                <a:lnTo>
                  <a:pt x="935734" y="0"/>
                </a:lnTo>
                <a:close/>
              </a:path>
            </a:pathLst>
          </a:custGeom>
          <a:solidFill>
            <a:srgbClr val="2D83C3">
              <a:alpha val="70195"/>
            </a:srgbClr>
          </a:solidFill>
        </p:spPr>
        <p:txBody>
          <a:bodyPr wrap="square" lIns="0" tIns="0" rIns="0" bIns="0" rtlCol="0"/>
          <a:lstStyle/>
          <a:p>
            <a:endParaRPr/>
          </a:p>
        </p:txBody>
      </p:sp>
      <p:sp>
        <p:nvSpPr>
          <p:cNvPr id="24" name="bg object 24"/>
          <p:cNvSpPr/>
          <p:nvPr/>
        </p:nvSpPr>
        <p:spPr>
          <a:xfrm>
            <a:off x="8924270" y="0"/>
            <a:ext cx="1157605" cy="7559040"/>
          </a:xfrm>
          <a:custGeom>
            <a:avLst/>
            <a:gdLst/>
            <a:ahLst/>
            <a:cxnLst/>
            <a:rect l="l" t="t" r="r" b="b"/>
            <a:pathLst>
              <a:path w="1157604" h="7559040">
                <a:moveTo>
                  <a:pt x="1156989" y="0"/>
                </a:moveTo>
                <a:lnTo>
                  <a:pt x="0" y="0"/>
                </a:lnTo>
                <a:lnTo>
                  <a:pt x="1033925" y="7559035"/>
                </a:lnTo>
                <a:lnTo>
                  <a:pt x="1156989" y="7559035"/>
                </a:lnTo>
                <a:lnTo>
                  <a:pt x="1156989" y="0"/>
                </a:lnTo>
                <a:close/>
              </a:path>
            </a:pathLst>
          </a:custGeom>
          <a:solidFill>
            <a:srgbClr val="226192">
              <a:alpha val="81959"/>
            </a:srgbClr>
          </a:solidFill>
        </p:spPr>
        <p:txBody>
          <a:bodyPr wrap="square" lIns="0" tIns="0" rIns="0" bIns="0" rtlCol="0"/>
          <a:lstStyle/>
          <a:p>
            <a:endParaRPr/>
          </a:p>
        </p:txBody>
      </p:sp>
      <p:sp>
        <p:nvSpPr>
          <p:cNvPr id="25" name="bg object 25"/>
          <p:cNvSpPr/>
          <p:nvPr/>
        </p:nvSpPr>
        <p:spPr>
          <a:xfrm>
            <a:off x="8894064" y="5420581"/>
            <a:ext cx="1187450" cy="2138680"/>
          </a:xfrm>
          <a:custGeom>
            <a:avLst/>
            <a:gdLst/>
            <a:ahLst/>
            <a:cxnLst/>
            <a:rect l="l" t="t" r="r" b="b"/>
            <a:pathLst>
              <a:path w="1187450" h="2138679">
                <a:moveTo>
                  <a:pt x="1187195" y="0"/>
                </a:moveTo>
                <a:lnTo>
                  <a:pt x="0" y="2138456"/>
                </a:lnTo>
                <a:lnTo>
                  <a:pt x="1187195" y="2132943"/>
                </a:lnTo>
                <a:lnTo>
                  <a:pt x="1187195" y="0"/>
                </a:lnTo>
                <a:close/>
              </a:path>
            </a:pathLst>
          </a:custGeom>
          <a:solidFill>
            <a:srgbClr val="17AFE3">
              <a:alpha val="65881"/>
            </a:srgbClr>
          </a:solidFill>
        </p:spPr>
        <p:txBody>
          <a:bodyPr wrap="square" lIns="0" tIns="0" rIns="0" bIns="0" rtlCol="0"/>
          <a:lstStyle/>
          <a:p>
            <a:endParaRPr/>
          </a:p>
        </p:txBody>
      </p:sp>
      <p:sp>
        <p:nvSpPr>
          <p:cNvPr id="2" name="Holder 2"/>
          <p:cNvSpPr>
            <a:spLocks noGrp="1"/>
          </p:cNvSpPr>
          <p:nvPr>
            <p:ph type="title"/>
          </p:nvPr>
        </p:nvSpPr>
        <p:spPr>
          <a:xfrm>
            <a:off x="922121" y="2184908"/>
            <a:ext cx="8239556" cy="1083310"/>
          </a:xfrm>
          <a:prstGeom prst="rect">
            <a:avLst/>
          </a:prstGeom>
        </p:spPr>
        <p:txBody>
          <a:bodyPr wrap="square" lIns="0" tIns="0" rIns="0" bIns="0">
            <a:spAutoFit/>
          </a:bodyPr>
          <a:lstStyle>
            <a:lvl1pPr>
              <a:defRPr sz="3600" b="1" i="0">
                <a:solidFill>
                  <a:schemeClr val="tx1"/>
                </a:solidFill>
                <a:latin typeface="Times New Roman"/>
                <a:cs typeface="Times New Roman"/>
              </a:defRPr>
            </a:lvl1pPr>
          </a:lstStyle>
          <a:p>
            <a:endParaRPr/>
          </a:p>
        </p:txBody>
      </p:sp>
      <p:sp>
        <p:nvSpPr>
          <p:cNvPr id="3" name="Holder 3"/>
          <p:cNvSpPr>
            <a:spLocks noGrp="1"/>
          </p:cNvSpPr>
          <p:nvPr>
            <p:ph type="body" idx="1"/>
          </p:nvPr>
        </p:nvSpPr>
        <p:spPr>
          <a:xfrm>
            <a:off x="2527680" y="3776836"/>
            <a:ext cx="5023484" cy="1812289"/>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3428492" y="7033450"/>
            <a:ext cx="3226816" cy="378142"/>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504190" y="7033450"/>
            <a:ext cx="2319274" cy="378142"/>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4/9/2025</a:t>
            </a:fld>
            <a:endParaRPr lang="en-US"/>
          </a:p>
        </p:txBody>
      </p:sp>
      <p:sp>
        <p:nvSpPr>
          <p:cNvPr id="6" name="Holder 6"/>
          <p:cNvSpPr>
            <a:spLocks noGrp="1"/>
          </p:cNvSpPr>
          <p:nvPr>
            <p:ph type="sldNum" sz="quarter" idx="7"/>
          </p:nvPr>
        </p:nvSpPr>
        <p:spPr>
          <a:xfrm>
            <a:off x="7260336" y="7033450"/>
            <a:ext cx="2319274" cy="378142"/>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title"/>
          </p:nvPr>
        </p:nvSpPr>
        <p:spPr>
          <a:xfrm>
            <a:off x="241300" y="2174351"/>
            <a:ext cx="9677400" cy="575799"/>
          </a:xfrm>
          <a:prstGeom prst="rect">
            <a:avLst/>
          </a:prstGeom>
        </p:spPr>
        <p:txBody>
          <a:bodyPr vert="horz" wrap="square" lIns="0" tIns="62230" rIns="0" bIns="0" rtlCol="0">
            <a:spAutoFit/>
          </a:bodyPr>
          <a:lstStyle/>
          <a:p>
            <a:pPr marL="3014980" marR="5080" indent="-3002915" algn="ctr">
              <a:lnSpc>
                <a:spcPts val="4010"/>
              </a:lnSpc>
              <a:spcBef>
                <a:spcPts val="490"/>
              </a:spcBef>
            </a:pPr>
            <a:r>
              <a:rPr lang="en-IN" spc="-5" dirty="0"/>
              <a:t>Job Recommendation System </a:t>
            </a:r>
            <a:endParaRPr spc="-10" dirty="0"/>
          </a:p>
        </p:txBody>
      </p:sp>
      <p:sp>
        <p:nvSpPr>
          <p:cNvPr id="19" name="object 19"/>
          <p:cNvSpPr txBox="1"/>
          <p:nvPr/>
        </p:nvSpPr>
        <p:spPr>
          <a:xfrm>
            <a:off x="3670300" y="6067425"/>
            <a:ext cx="3429000" cy="794448"/>
          </a:xfrm>
          <a:prstGeom prst="rect">
            <a:avLst/>
          </a:prstGeom>
        </p:spPr>
        <p:txBody>
          <a:bodyPr vert="horz" wrap="square" lIns="0" tIns="12065" rIns="0" bIns="0" rtlCol="0">
            <a:spAutoFit/>
          </a:bodyPr>
          <a:lstStyle/>
          <a:p>
            <a:pPr marL="175260" algn="ctr">
              <a:lnSpc>
                <a:spcPts val="3265"/>
              </a:lnSpc>
              <a:spcBef>
                <a:spcPts val="95"/>
              </a:spcBef>
            </a:pPr>
            <a:r>
              <a:rPr sz="2800" b="1" spc="-15" dirty="0">
                <a:latin typeface="Times New Roman"/>
                <a:cs typeface="Times New Roman"/>
              </a:rPr>
              <a:t>Project</a:t>
            </a:r>
            <a:r>
              <a:rPr sz="2800" b="1" spc="-20" dirty="0">
                <a:latin typeface="Times New Roman"/>
                <a:cs typeface="Times New Roman"/>
              </a:rPr>
              <a:t> </a:t>
            </a:r>
            <a:r>
              <a:rPr sz="2800" b="1" spc="-5" dirty="0">
                <a:latin typeface="Times New Roman"/>
                <a:cs typeface="Times New Roman"/>
              </a:rPr>
              <a:t>Guide</a:t>
            </a:r>
            <a:endParaRPr sz="2800" dirty="0">
              <a:latin typeface="Times New Roman"/>
              <a:cs typeface="Times New Roman"/>
            </a:endParaRPr>
          </a:p>
          <a:p>
            <a:pPr marL="12700" algn="ctr">
              <a:lnSpc>
                <a:spcPts val="2785"/>
              </a:lnSpc>
            </a:pPr>
            <a:r>
              <a:rPr sz="2400" b="1" dirty="0">
                <a:latin typeface="Times New Roman"/>
                <a:cs typeface="Times New Roman"/>
              </a:rPr>
              <a:t>P</a:t>
            </a:r>
            <a:r>
              <a:rPr sz="2400" b="1" spc="-50" dirty="0">
                <a:latin typeface="Times New Roman"/>
                <a:cs typeface="Times New Roman"/>
              </a:rPr>
              <a:t>r</a:t>
            </a:r>
            <a:r>
              <a:rPr sz="2400" b="1" dirty="0">
                <a:latin typeface="Times New Roman"/>
                <a:cs typeface="Times New Roman"/>
              </a:rPr>
              <a:t>of.</a:t>
            </a:r>
            <a:r>
              <a:rPr sz="2400" b="1" spc="-140" dirty="0">
                <a:latin typeface="Times New Roman"/>
                <a:cs typeface="Times New Roman"/>
              </a:rPr>
              <a:t> </a:t>
            </a:r>
            <a:r>
              <a:rPr lang="en-IN" sz="2400" b="1" spc="-5" dirty="0">
                <a:latin typeface="Times New Roman"/>
                <a:cs typeface="Times New Roman"/>
              </a:rPr>
              <a:t>Aishwarya Londhe</a:t>
            </a:r>
            <a:endParaRPr sz="2400" dirty="0">
              <a:latin typeface="Times New Roman"/>
              <a:cs typeface="Times New Roman"/>
            </a:endParaRPr>
          </a:p>
        </p:txBody>
      </p:sp>
      <p:grpSp>
        <p:nvGrpSpPr>
          <p:cNvPr id="20" name="object 20"/>
          <p:cNvGrpSpPr/>
          <p:nvPr/>
        </p:nvGrpSpPr>
        <p:grpSpPr>
          <a:xfrm>
            <a:off x="0" y="0"/>
            <a:ext cx="10081895" cy="1952625"/>
            <a:chOff x="0" y="0"/>
            <a:chExt cx="10081895" cy="1952625"/>
          </a:xfrm>
        </p:grpSpPr>
        <p:pic>
          <p:nvPicPr>
            <p:cNvPr id="21" name="object 21"/>
            <p:cNvPicPr/>
            <p:nvPr/>
          </p:nvPicPr>
          <p:blipFill>
            <a:blip r:embed="rId2" cstate="print"/>
            <a:stretch>
              <a:fillRect/>
            </a:stretch>
          </p:blipFill>
          <p:spPr>
            <a:xfrm>
              <a:off x="0" y="1717484"/>
              <a:ext cx="10081259" cy="100774"/>
            </a:xfrm>
            <a:prstGeom prst="rect">
              <a:avLst/>
            </a:prstGeom>
          </p:spPr>
        </p:pic>
        <p:pic>
          <p:nvPicPr>
            <p:cNvPr id="22" name="object 22"/>
            <p:cNvPicPr/>
            <p:nvPr/>
          </p:nvPicPr>
          <p:blipFill>
            <a:blip r:embed="rId3" cstate="print"/>
            <a:stretch>
              <a:fillRect/>
            </a:stretch>
          </p:blipFill>
          <p:spPr>
            <a:xfrm>
              <a:off x="0" y="0"/>
              <a:ext cx="10081386" cy="1952244"/>
            </a:xfrm>
            <a:prstGeom prst="rect">
              <a:avLst/>
            </a:prstGeom>
          </p:spPr>
        </p:pic>
      </p:grpSp>
      <p:sp>
        <p:nvSpPr>
          <p:cNvPr id="26" name="TextBox 25">
            <a:extLst>
              <a:ext uri="{FF2B5EF4-FFF2-40B4-BE49-F238E27FC236}">
                <a16:creationId xmlns:a16="http://schemas.microsoft.com/office/drawing/2014/main" id="{D2ACCA6B-BFF3-D50D-AC9E-6DFD6DC38DC5}"/>
              </a:ext>
            </a:extLst>
          </p:cNvPr>
          <p:cNvSpPr txBox="1"/>
          <p:nvPr/>
        </p:nvSpPr>
        <p:spPr>
          <a:xfrm>
            <a:off x="2070100" y="3631491"/>
            <a:ext cx="6248400" cy="2062103"/>
          </a:xfrm>
          <a:prstGeom prst="rect">
            <a:avLst/>
          </a:prstGeom>
          <a:noFill/>
        </p:spPr>
        <p:txBody>
          <a:bodyPr wrap="square">
            <a:spAutoFit/>
          </a:bodyPr>
          <a:lstStyle/>
          <a:p>
            <a:pPr algn="ctr"/>
            <a:r>
              <a:rPr lang="en-IN" sz="3200" b="1" dirty="0">
                <a:latin typeface="Times New Roman" panose="02020603050405020304" pitchFamily="18" charset="0"/>
                <a:cs typeface="Times New Roman" panose="02020603050405020304" pitchFamily="18" charset="0"/>
              </a:rPr>
              <a:t>Harsh Mulik 		21107044 </a:t>
            </a:r>
          </a:p>
          <a:p>
            <a:pPr algn="ctr"/>
            <a:r>
              <a:rPr lang="en-IN" sz="3200" b="1" dirty="0">
                <a:latin typeface="Times New Roman" panose="02020603050405020304" pitchFamily="18" charset="0"/>
                <a:cs typeface="Times New Roman" panose="02020603050405020304" pitchFamily="18" charset="0"/>
              </a:rPr>
              <a:t>Tanvi </a:t>
            </a:r>
            <a:r>
              <a:rPr lang="en-IN" sz="3200" b="1" dirty="0" err="1">
                <a:latin typeface="Times New Roman" panose="02020603050405020304" pitchFamily="18" charset="0"/>
                <a:cs typeface="Times New Roman" panose="02020603050405020304" pitchFamily="18" charset="0"/>
              </a:rPr>
              <a:t>Mirgal</a:t>
            </a:r>
            <a:r>
              <a:rPr lang="en-IN" sz="3200" b="1" dirty="0">
                <a:latin typeface="Times New Roman" panose="02020603050405020304" pitchFamily="18" charset="0"/>
                <a:cs typeface="Times New Roman" panose="02020603050405020304" pitchFamily="18" charset="0"/>
              </a:rPr>
              <a:t> 		21107028</a:t>
            </a:r>
          </a:p>
          <a:p>
            <a:pPr algn="ctr"/>
            <a:r>
              <a:rPr lang="en-IN" sz="3200" b="1" dirty="0">
                <a:latin typeface="Times New Roman" panose="02020603050405020304" pitchFamily="18" charset="0"/>
                <a:cs typeface="Times New Roman" panose="02020603050405020304" pitchFamily="18" charset="0"/>
              </a:rPr>
              <a:t>Sakshi </a:t>
            </a:r>
            <a:r>
              <a:rPr lang="en-IN" sz="3200" b="1" dirty="0" err="1">
                <a:latin typeface="Times New Roman" panose="02020603050405020304" pitchFamily="18" charset="0"/>
                <a:cs typeface="Times New Roman" panose="02020603050405020304" pitchFamily="18" charset="0"/>
              </a:rPr>
              <a:t>Jamdhade</a:t>
            </a:r>
            <a:r>
              <a:rPr lang="en-IN" sz="3200" b="1" dirty="0">
                <a:latin typeface="Times New Roman" panose="02020603050405020304" pitchFamily="18" charset="0"/>
                <a:cs typeface="Times New Roman" panose="02020603050405020304" pitchFamily="18" charset="0"/>
              </a:rPr>
              <a:t> 	21107042</a:t>
            </a:r>
          </a:p>
          <a:p>
            <a:pPr algn="ctr"/>
            <a:r>
              <a:rPr lang="en-IN" sz="3200" b="1" dirty="0" err="1">
                <a:latin typeface="Times New Roman" panose="02020603050405020304" pitchFamily="18" charset="0"/>
                <a:cs typeface="Times New Roman" panose="02020603050405020304" pitchFamily="18" charset="0"/>
              </a:rPr>
              <a:t>Meghraj</a:t>
            </a:r>
            <a:r>
              <a:rPr lang="en-IN" sz="3200" b="1" dirty="0">
                <a:latin typeface="Times New Roman" panose="02020603050405020304" pitchFamily="18" charset="0"/>
                <a:cs typeface="Times New Roman" panose="02020603050405020304" pitchFamily="18" charset="0"/>
              </a:rPr>
              <a:t> Padwal	21107025</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534856" y="783129"/>
            <a:ext cx="2925449" cy="356347"/>
          </a:xfrm>
          <a:prstGeom prst="rect">
            <a:avLst/>
          </a:prstGeom>
        </p:spPr>
      </p:pic>
      <p:sp>
        <p:nvSpPr>
          <p:cNvPr id="3" name="object 3"/>
          <p:cNvSpPr txBox="1">
            <a:spLocks noGrp="1"/>
          </p:cNvSpPr>
          <p:nvPr>
            <p:ph type="title"/>
          </p:nvPr>
        </p:nvSpPr>
        <p:spPr>
          <a:xfrm>
            <a:off x="490524" y="627634"/>
            <a:ext cx="2965450" cy="574040"/>
          </a:xfrm>
          <a:prstGeom prst="rect">
            <a:avLst/>
          </a:prstGeom>
        </p:spPr>
        <p:txBody>
          <a:bodyPr vert="horz" wrap="square" lIns="0" tIns="12700" rIns="0" bIns="0" rtlCol="0">
            <a:spAutoFit/>
          </a:bodyPr>
          <a:lstStyle/>
          <a:p>
            <a:pPr marL="12700">
              <a:lnSpc>
                <a:spcPct val="100000"/>
              </a:lnSpc>
              <a:spcBef>
                <a:spcPts val="100"/>
              </a:spcBef>
            </a:pPr>
            <a:r>
              <a:rPr dirty="0"/>
              <a:t>1.</a:t>
            </a:r>
            <a:r>
              <a:rPr spc="-100" dirty="0"/>
              <a:t> </a:t>
            </a:r>
            <a:r>
              <a:rPr spc="-5" dirty="0"/>
              <a:t>Introduction</a:t>
            </a:r>
          </a:p>
        </p:txBody>
      </p:sp>
      <p:sp>
        <p:nvSpPr>
          <p:cNvPr id="4" name="object 4"/>
          <p:cNvSpPr txBox="1"/>
          <p:nvPr/>
        </p:nvSpPr>
        <p:spPr>
          <a:xfrm>
            <a:off x="598728" y="1740789"/>
            <a:ext cx="8798560" cy="4786567"/>
          </a:xfrm>
          <a:prstGeom prst="rect">
            <a:avLst/>
          </a:prstGeom>
        </p:spPr>
        <p:txBody>
          <a:bodyPr vert="horz" wrap="square" lIns="0" tIns="43815" rIns="0" bIns="0" rtlCol="0">
            <a:spAutoFit/>
          </a:bodyPr>
          <a:lstStyle/>
          <a:p>
            <a:pPr marL="12065" marR="34290" algn="just">
              <a:lnSpc>
                <a:spcPts val="2690"/>
              </a:lnSpc>
              <a:spcBef>
                <a:spcPts val="345"/>
              </a:spcBef>
              <a:tabLst>
                <a:tab pos="356235" algn="l"/>
              </a:tabLst>
            </a:pPr>
            <a:r>
              <a:rPr lang="en-US" sz="2400" dirty="0">
                <a:latin typeface="Times New Roman" panose="02020603050405020304" pitchFamily="18" charset="0"/>
                <a:cs typeface="Times New Roman" panose="02020603050405020304" pitchFamily="18" charset="0"/>
              </a:rPr>
              <a:t>This project presents a Job Recommendation System based on Content-Based Filtering techniques. The system analyzes job descriptions and matches them with user-entered skills and preferences to provide personalized job suggestions. </a:t>
            </a:r>
          </a:p>
          <a:p>
            <a:pPr marL="354965" marR="34290" indent="-342900" algn="just">
              <a:lnSpc>
                <a:spcPts val="2690"/>
              </a:lnSpc>
              <a:spcBef>
                <a:spcPts val="345"/>
              </a:spcBef>
              <a:buFont typeface="Arial" panose="020B0604020202020204" pitchFamily="34" charset="0"/>
              <a:buChar char="•"/>
              <a:tabLst>
                <a:tab pos="356235" algn="l"/>
              </a:tabLst>
            </a:pPr>
            <a:r>
              <a:rPr lang="en-US" sz="2400" dirty="0">
                <a:latin typeface="Times New Roman" panose="02020603050405020304" pitchFamily="18" charset="0"/>
                <a:cs typeface="Times New Roman" panose="02020603050405020304" pitchFamily="18" charset="0"/>
              </a:rPr>
              <a:t>Problem</a:t>
            </a:r>
            <a:r>
              <a:rPr lang="en-US" sz="2400" spc="-5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Identified</a:t>
            </a:r>
            <a:r>
              <a:rPr lang="en-US" sz="2400" spc="-7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a:t>
            </a:r>
          </a:p>
          <a:p>
            <a:pPr marL="840105" marR="248285" lvl="1" indent="-343535">
              <a:lnSpc>
                <a:spcPts val="2690"/>
              </a:lnSpc>
              <a:spcBef>
                <a:spcPts val="1450"/>
              </a:spcBef>
              <a:buFont typeface="Arial MT"/>
              <a:buChar char="•"/>
              <a:tabLst>
                <a:tab pos="910590" algn="l"/>
                <a:tab pos="911225" algn="l"/>
              </a:tabLst>
            </a:pPr>
            <a:r>
              <a:rPr lang="en-US" sz="2400" dirty="0">
                <a:latin typeface="Times New Roman" panose="02020603050405020304" pitchFamily="18" charset="0"/>
                <a:cs typeface="Times New Roman" panose="02020603050405020304" pitchFamily="18" charset="0"/>
              </a:rPr>
              <a:t>Job seekers often struggle with information overload, irrelevant listings, and a lack of personalized recommendations on traditional job portals.</a:t>
            </a:r>
          </a:p>
          <a:p>
            <a:pPr marL="355600" indent="-343535">
              <a:lnSpc>
                <a:spcPct val="100000"/>
              </a:lnSpc>
              <a:spcBef>
                <a:spcPts val="1125"/>
              </a:spcBef>
              <a:buFont typeface="Arial MT"/>
              <a:buChar char="•"/>
              <a:tabLst>
                <a:tab pos="355600" algn="l"/>
                <a:tab pos="356235" algn="l"/>
              </a:tabLst>
            </a:pPr>
            <a:r>
              <a:rPr sz="2400" dirty="0">
                <a:latin typeface="Times New Roman" panose="02020603050405020304" pitchFamily="18" charset="0"/>
                <a:cs typeface="Times New Roman" panose="02020603050405020304" pitchFamily="18" charset="0"/>
              </a:rPr>
              <a:t>Solution</a:t>
            </a:r>
            <a:r>
              <a:rPr sz="2400" spc="-5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Proposed</a:t>
            </a:r>
            <a:r>
              <a:rPr sz="2400" spc="-3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t>
            </a:r>
          </a:p>
          <a:p>
            <a:pPr marL="840105" marR="5080" lvl="1" indent="-343535">
              <a:lnSpc>
                <a:spcPts val="2690"/>
              </a:lnSpc>
              <a:spcBef>
                <a:spcPts val="1450"/>
              </a:spcBef>
              <a:buFont typeface="Arial MT"/>
              <a:buChar char="•"/>
              <a:tabLst>
                <a:tab pos="840105" algn="l"/>
                <a:tab pos="840740" algn="l"/>
              </a:tabLst>
            </a:pPr>
            <a:r>
              <a:rPr lang="en-US" sz="2400" dirty="0">
                <a:latin typeface="Times New Roman" panose="02020603050405020304" pitchFamily="18" charset="0"/>
                <a:cs typeface="Times New Roman" panose="02020603050405020304" pitchFamily="18" charset="0"/>
              </a:rPr>
              <a:t>A Content-Based Recommendation System that analyzes job postings and user preferences to recommend jobs based on textual similarity..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11849" y="783129"/>
            <a:ext cx="2521891" cy="447718"/>
          </a:xfrm>
          <a:prstGeom prst="rect">
            <a:avLst/>
          </a:prstGeom>
        </p:spPr>
      </p:pic>
      <p:sp>
        <p:nvSpPr>
          <p:cNvPr id="3" name="object 3"/>
          <p:cNvSpPr txBox="1">
            <a:spLocks noGrp="1"/>
          </p:cNvSpPr>
          <p:nvPr>
            <p:ph type="title"/>
          </p:nvPr>
        </p:nvSpPr>
        <p:spPr>
          <a:xfrm>
            <a:off x="490524" y="627634"/>
            <a:ext cx="2540000" cy="574040"/>
          </a:xfrm>
          <a:prstGeom prst="rect">
            <a:avLst/>
          </a:prstGeom>
        </p:spPr>
        <p:txBody>
          <a:bodyPr vert="horz" wrap="square" lIns="0" tIns="12700" rIns="0" bIns="0" rtlCol="0">
            <a:spAutoFit/>
          </a:bodyPr>
          <a:lstStyle/>
          <a:p>
            <a:pPr marL="12700">
              <a:lnSpc>
                <a:spcPct val="100000"/>
              </a:lnSpc>
              <a:spcBef>
                <a:spcPts val="100"/>
              </a:spcBef>
            </a:pPr>
            <a:r>
              <a:rPr dirty="0"/>
              <a:t>2.</a:t>
            </a:r>
            <a:r>
              <a:rPr spc="-100" dirty="0"/>
              <a:t> </a:t>
            </a:r>
            <a:r>
              <a:rPr dirty="0"/>
              <a:t>Objectives</a:t>
            </a:r>
          </a:p>
        </p:txBody>
      </p:sp>
      <p:sp>
        <p:nvSpPr>
          <p:cNvPr id="4" name="object 4"/>
          <p:cNvSpPr txBox="1"/>
          <p:nvPr/>
        </p:nvSpPr>
        <p:spPr>
          <a:xfrm>
            <a:off x="600252" y="1588007"/>
            <a:ext cx="8559800" cy="3990836"/>
          </a:xfrm>
          <a:prstGeom prst="rect">
            <a:avLst/>
          </a:prstGeom>
        </p:spPr>
        <p:txBody>
          <a:bodyPr vert="horz" wrap="square" lIns="0" tIns="165100" rIns="0" bIns="0" rtlCol="0">
            <a:spAutoFit/>
          </a:bodyPr>
          <a:lstStyle/>
          <a:p>
            <a:pPr marL="354966" indent="-342900" algn="just">
              <a:lnSpc>
                <a:spcPct val="100000"/>
              </a:lnSpc>
              <a:spcBef>
                <a:spcPts val="1300"/>
              </a:spcBef>
              <a:buFont typeface="Arial" panose="020B0604020202020204" pitchFamily="34" charset="0"/>
              <a:buChar char="•"/>
              <a:tabLst>
                <a:tab pos="469900" algn="l"/>
                <a:tab pos="470534" algn="l"/>
              </a:tabLst>
            </a:pPr>
            <a:r>
              <a:rPr lang="en-US" sz="2400" b="0" i="0" dirty="0">
                <a:effectLst/>
                <a:latin typeface="Times New Roman" panose="02020603050405020304" pitchFamily="18" charset="0"/>
                <a:cs typeface="Times New Roman" panose="02020603050405020304" pitchFamily="18" charset="0"/>
              </a:rPr>
              <a:t>To </a:t>
            </a:r>
            <a:r>
              <a:rPr lang="en-US" sz="2400" dirty="0">
                <a:latin typeface="Times New Roman" panose="02020603050405020304" pitchFamily="18" charset="0"/>
                <a:cs typeface="Times New Roman" panose="02020603050405020304" pitchFamily="18" charset="0"/>
              </a:rPr>
              <a:t>develop a content-based recommendation model that matches user-entered skills with job descriptions using text similarity techniques</a:t>
            </a:r>
            <a:r>
              <a:rPr lang="en-US" sz="2400" b="0" i="0" dirty="0">
                <a:effectLst/>
                <a:latin typeface="Times New Roman" panose="02020603050405020304" pitchFamily="18" charset="0"/>
                <a:cs typeface="Times New Roman" panose="02020603050405020304" pitchFamily="18" charset="0"/>
              </a:rPr>
              <a:t>.</a:t>
            </a:r>
          </a:p>
          <a:p>
            <a:pPr marL="354966" indent="-342900" algn="just">
              <a:lnSpc>
                <a:spcPct val="100000"/>
              </a:lnSpc>
              <a:spcBef>
                <a:spcPts val="1300"/>
              </a:spcBef>
              <a:buFont typeface="Arial" panose="020B0604020202020204" pitchFamily="34" charset="0"/>
              <a:buChar char="•"/>
              <a:tabLst>
                <a:tab pos="469900" algn="l"/>
                <a:tab pos="470534" algn="l"/>
              </a:tabLst>
            </a:pPr>
            <a:r>
              <a:rPr lang="en-US" sz="2400" b="0" i="0" dirty="0">
                <a:effectLst/>
                <a:latin typeface="Times New Roman" panose="02020603050405020304" pitchFamily="18" charset="0"/>
                <a:cs typeface="Times New Roman" panose="02020603050405020304" pitchFamily="18" charset="0"/>
              </a:rPr>
              <a:t>To </a:t>
            </a:r>
            <a:r>
              <a:rPr lang="en-US" sz="2400" dirty="0">
                <a:latin typeface="Times New Roman" panose="02020603050405020304" pitchFamily="18" charset="0"/>
                <a:cs typeface="Times New Roman" panose="02020603050405020304" pitchFamily="18" charset="0"/>
              </a:rPr>
              <a:t>implement web scraping for extracting up-to-date job listings from online job portals</a:t>
            </a:r>
            <a:r>
              <a:rPr lang="en-US" sz="2400" b="0" i="0" dirty="0">
                <a:effectLst/>
                <a:latin typeface="Times New Roman" panose="02020603050405020304" pitchFamily="18" charset="0"/>
                <a:cs typeface="Times New Roman" panose="02020603050405020304" pitchFamily="18" charset="0"/>
              </a:rPr>
              <a:t>.</a:t>
            </a:r>
          </a:p>
          <a:p>
            <a:pPr marL="354966" indent="-342900" algn="just">
              <a:lnSpc>
                <a:spcPct val="100000"/>
              </a:lnSpc>
              <a:spcBef>
                <a:spcPts val="1300"/>
              </a:spcBef>
              <a:buFont typeface="Arial" panose="020B0604020202020204" pitchFamily="34" charset="0"/>
              <a:buChar char="•"/>
              <a:tabLst>
                <a:tab pos="469900" algn="l"/>
                <a:tab pos="470534" algn="l"/>
              </a:tabLst>
            </a:pPr>
            <a:r>
              <a:rPr lang="en-US" sz="2400" dirty="0">
                <a:latin typeface="Times New Roman" panose="02020603050405020304" pitchFamily="18" charset="0"/>
                <a:cs typeface="Times New Roman" panose="02020603050405020304" pitchFamily="18" charset="0"/>
              </a:rPr>
              <a:t>To apply NLP techniques like TF-IDF vectorization for feature extraction and comparison of job content with user profiles.</a:t>
            </a:r>
          </a:p>
          <a:p>
            <a:pPr marL="354966" indent="-342900" algn="just">
              <a:lnSpc>
                <a:spcPct val="100000"/>
              </a:lnSpc>
              <a:spcBef>
                <a:spcPts val="1300"/>
              </a:spcBef>
              <a:buFont typeface="Arial" panose="020B0604020202020204" pitchFamily="34" charset="0"/>
              <a:buChar char="•"/>
              <a:tabLst>
                <a:tab pos="469900" algn="l"/>
                <a:tab pos="470534" algn="l"/>
              </a:tabLst>
            </a:pPr>
            <a:r>
              <a:rPr lang="en-US" sz="2400" dirty="0">
                <a:latin typeface="Times New Roman" panose="02020603050405020304" pitchFamily="18" charset="0"/>
                <a:cs typeface="Times New Roman" panose="02020603050405020304" pitchFamily="18" charset="0"/>
              </a:rPr>
              <a:t>To create a user-friendly interface that allows users to input their preferences and receive personalized job recommendations.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07392" y="783129"/>
            <a:ext cx="1617927" cy="447718"/>
          </a:xfrm>
          <a:prstGeom prst="rect">
            <a:avLst/>
          </a:prstGeom>
        </p:spPr>
      </p:pic>
      <p:sp>
        <p:nvSpPr>
          <p:cNvPr id="3" name="object 3"/>
          <p:cNvSpPr txBox="1">
            <a:spLocks noGrp="1"/>
          </p:cNvSpPr>
          <p:nvPr>
            <p:ph type="title"/>
          </p:nvPr>
        </p:nvSpPr>
        <p:spPr>
          <a:xfrm>
            <a:off x="490524" y="627634"/>
            <a:ext cx="1625600" cy="574040"/>
          </a:xfrm>
          <a:prstGeom prst="rect">
            <a:avLst/>
          </a:prstGeom>
        </p:spPr>
        <p:txBody>
          <a:bodyPr vert="horz" wrap="square" lIns="0" tIns="12700" rIns="0" bIns="0" rtlCol="0">
            <a:spAutoFit/>
          </a:bodyPr>
          <a:lstStyle/>
          <a:p>
            <a:pPr marL="12700">
              <a:lnSpc>
                <a:spcPct val="100000"/>
              </a:lnSpc>
              <a:spcBef>
                <a:spcPts val="100"/>
              </a:spcBef>
            </a:pPr>
            <a:r>
              <a:rPr dirty="0"/>
              <a:t>3.</a:t>
            </a:r>
            <a:r>
              <a:rPr spc="-80" dirty="0"/>
              <a:t> </a:t>
            </a:r>
            <a:r>
              <a:rPr spc="-5" dirty="0"/>
              <a:t>Scope</a:t>
            </a:r>
          </a:p>
        </p:txBody>
      </p:sp>
      <p:sp>
        <p:nvSpPr>
          <p:cNvPr id="4" name="object 4"/>
          <p:cNvSpPr txBox="1"/>
          <p:nvPr/>
        </p:nvSpPr>
        <p:spPr>
          <a:xfrm>
            <a:off x="600252" y="1740789"/>
            <a:ext cx="8575675" cy="4406976"/>
          </a:xfrm>
          <a:prstGeom prst="rect">
            <a:avLst/>
          </a:prstGeom>
        </p:spPr>
        <p:txBody>
          <a:bodyPr vert="horz" wrap="square" lIns="0" tIns="43815" rIns="0" bIns="0" rtlCol="0">
            <a:spAutoFit/>
          </a:bodyPr>
          <a:lstStyle/>
          <a:p>
            <a:pPr marL="354966" marR="142240" indent="-342900" algn="just">
              <a:lnSpc>
                <a:spcPts val="2690"/>
              </a:lnSpc>
              <a:spcBef>
                <a:spcPts val="345"/>
              </a:spcBef>
              <a:buFont typeface="Arial" panose="020B0604020202020204" pitchFamily="34" charset="0"/>
              <a:buChar char="•"/>
              <a:tabLst>
                <a:tab pos="469900" algn="l"/>
                <a:tab pos="470534" algn="l"/>
              </a:tabLst>
            </a:pPr>
            <a:r>
              <a:rPr lang="en-US" sz="2400" dirty="0">
                <a:latin typeface="Times New Roman" panose="02020603050405020304" pitchFamily="18" charset="0"/>
                <a:cs typeface="Times New Roman" panose="02020603050405020304" pitchFamily="18" charset="0"/>
              </a:rPr>
              <a:t>Its content-based nature allows it to adapt to various fields by focusing on the textual relevance between job descriptions and user profiles.</a:t>
            </a:r>
          </a:p>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system can be seamlessly integrated into existing job portals or career websites to enhance their recommendation features. By doing so, it improves the user experience on such platforms by providing personalized and relevant job listings without the need for extensive manual filtering.</a:t>
            </a:r>
          </a:p>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Additionally, the architecture of the system is extensible, meaning it can evolve over time. Future enhancements may include incorporating user feedback, such as clicks or job applications, to further refine the recommendations. </a:t>
            </a:r>
            <a:endParaRPr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11858" y="783129"/>
            <a:ext cx="4847489" cy="447718"/>
          </a:xfrm>
          <a:prstGeom prst="rect">
            <a:avLst/>
          </a:prstGeom>
        </p:spPr>
      </p:pic>
      <p:sp>
        <p:nvSpPr>
          <p:cNvPr id="3" name="object 3"/>
          <p:cNvSpPr txBox="1">
            <a:spLocks noGrp="1"/>
          </p:cNvSpPr>
          <p:nvPr>
            <p:ph type="title"/>
          </p:nvPr>
        </p:nvSpPr>
        <p:spPr>
          <a:xfrm>
            <a:off x="490524" y="627634"/>
            <a:ext cx="4855845" cy="574040"/>
          </a:xfrm>
          <a:prstGeom prst="rect">
            <a:avLst/>
          </a:prstGeom>
        </p:spPr>
        <p:txBody>
          <a:bodyPr vert="horz" wrap="square" lIns="0" tIns="12700" rIns="0" bIns="0" rtlCol="0">
            <a:spAutoFit/>
          </a:bodyPr>
          <a:lstStyle/>
          <a:p>
            <a:pPr marL="12700">
              <a:lnSpc>
                <a:spcPct val="100000"/>
              </a:lnSpc>
              <a:spcBef>
                <a:spcPts val="100"/>
              </a:spcBef>
            </a:pPr>
            <a:r>
              <a:rPr dirty="0"/>
              <a:t>4.</a:t>
            </a:r>
            <a:r>
              <a:rPr spc="-50" dirty="0"/>
              <a:t> </a:t>
            </a:r>
            <a:r>
              <a:rPr spc="-10" dirty="0"/>
              <a:t>Feature</a:t>
            </a:r>
            <a:r>
              <a:rPr spc="-45" dirty="0"/>
              <a:t> </a:t>
            </a:r>
            <a:r>
              <a:rPr dirty="0"/>
              <a:t>/Functionality</a:t>
            </a:r>
          </a:p>
        </p:txBody>
      </p:sp>
      <p:sp>
        <p:nvSpPr>
          <p:cNvPr id="4" name="object 4"/>
          <p:cNvSpPr txBox="1"/>
          <p:nvPr/>
        </p:nvSpPr>
        <p:spPr>
          <a:xfrm>
            <a:off x="600252" y="1588007"/>
            <a:ext cx="9242248" cy="3017942"/>
          </a:xfrm>
          <a:prstGeom prst="rect">
            <a:avLst/>
          </a:prstGeom>
        </p:spPr>
        <p:txBody>
          <a:bodyPr vert="horz" wrap="square" lIns="0" tIns="165100" rIns="0" bIns="0" rtlCol="0">
            <a:spAutoFit/>
          </a:bodyPr>
          <a:lstStyle/>
          <a:p>
            <a:pPr>
              <a:lnSpc>
                <a:spcPct val="20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Data scraping from job sites (e.g., LinkedIn, Indeed).</a:t>
            </a:r>
          </a:p>
          <a:p>
            <a:pPr>
              <a:lnSpc>
                <a:spcPct val="20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Use of </a:t>
            </a:r>
            <a:r>
              <a:rPr lang="en-US" sz="2400" b="1" dirty="0">
                <a:latin typeface="Times New Roman" panose="02020603050405020304" pitchFamily="18" charset="0"/>
                <a:cs typeface="Times New Roman" panose="02020603050405020304" pitchFamily="18" charset="0"/>
              </a:rPr>
              <a:t>TF-IDF Vectorizer</a:t>
            </a:r>
            <a:r>
              <a:rPr lang="en-US" sz="2400" dirty="0">
                <a:latin typeface="Times New Roman" panose="02020603050405020304" pitchFamily="18" charset="0"/>
                <a:cs typeface="Times New Roman" panose="02020603050405020304" pitchFamily="18" charset="0"/>
              </a:rPr>
              <a:t> to extract job description features.</a:t>
            </a:r>
          </a:p>
          <a:p>
            <a:pPr>
              <a:lnSpc>
                <a:spcPct val="20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Cosine Similarity</a:t>
            </a:r>
            <a:r>
              <a:rPr lang="en-US" sz="2400" dirty="0">
                <a:latin typeface="Times New Roman" panose="02020603050405020304" pitchFamily="18" charset="0"/>
                <a:cs typeface="Times New Roman" panose="02020603050405020304" pitchFamily="18" charset="0"/>
              </a:rPr>
              <a:t> to measure relevance between jobs and user profile.</a:t>
            </a:r>
          </a:p>
          <a:p>
            <a:pPr>
              <a:lnSpc>
                <a:spcPct val="20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Interactive dashboard for entering skills and viewing recommendations.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16403" y="783129"/>
            <a:ext cx="4276037" cy="447718"/>
          </a:xfrm>
          <a:prstGeom prst="rect">
            <a:avLst/>
          </a:prstGeom>
        </p:spPr>
      </p:pic>
      <p:sp>
        <p:nvSpPr>
          <p:cNvPr id="3" name="object 3"/>
          <p:cNvSpPr txBox="1">
            <a:spLocks noGrp="1"/>
          </p:cNvSpPr>
          <p:nvPr>
            <p:ph type="title"/>
          </p:nvPr>
        </p:nvSpPr>
        <p:spPr>
          <a:xfrm>
            <a:off x="490524" y="627634"/>
            <a:ext cx="4284345" cy="574040"/>
          </a:xfrm>
          <a:prstGeom prst="rect">
            <a:avLst/>
          </a:prstGeom>
        </p:spPr>
        <p:txBody>
          <a:bodyPr vert="horz" wrap="square" lIns="0" tIns="12700" rIns="0" bIns="0" rtlCol="0">
            <a:spAutoFit/>
          </a:bodyPr>
          <a:lstStyle/>
          <a:p>
            <a:pPr marL="12700">
              <a:lnSpc>
                <a:spcPct val="100000"/>
              </a:lnSpc>
              <a:spcBef>
                <a:spcPts val="100"/>
              </a:spcBef>
            </a:pPr>
            <a:r>
              <a:rPr dirty="0"/>
              <a:t>5.</a:t>
            </a:r>
            <a:r>
              <a:rPr spc="-35" dirty="0"/>
              <a:t> </a:t>
            </a:r>
            <a:r>
              <a:rPr dirty="0"/>
              <a:t>Outcome</a:t>
            </a:r>
            <a:r>
              <a:rPr spc="-25" dirty="0"/>
              <a:t> </a:t>
            </a:r>
            <a:r>
              <a:rPr dirty="0"/>
              <a:t>of</a:t>
            </a:r>
            <a:r>
              <a:rPr spc="-30" dirty="0"/>
              <a:t> </a:t>
            </a:r>
            <a:r>
              <a:rPr spc="-10" dirty="0"/>
              <a:t>Project</a:t>
            </a:r>
          </a:p>
        </p:txBody>
      </p:sp>
      <p:sp>
        <p:nvSpPr>
          <p:cNvPr id="4" name="object 4"/>
          <p:cNvSpPr txBox="1"/>
          <p:nvPr/>
        </p:nvSpPr>
        <p:spPr>
          <a:xfrm>
            <a:off x="600252" y="1766697"/>
            <a:ext cx="8674735" cy="5565626"/>
          </a:xfrm>
          <a:prstGeom prst="rect">
            <a:avLst/>
          </a:prstGeom>
        </p:spPr>
        <p:txBody>
          <a:bodyPr vert="horz" wrap="square" lIns="0" tIns="12700" rIns="0" bIns="0" rtlCol="0">
            <a:spAutoFit/>
          </a:bodyPr>
          <a:lstStyle/>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project successfully resulted in the development of a fully functional job recommendation engine capable of delivering personalized job suggestions to users. </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Through the use of TF-IDF vectorization and cosine similarity, the system achieved high accuracy in identifying and ranking jobs that are most relevant to the user</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Users benefited from a more efficient and targeted job search experience, reducing the time and effort required to sift through unrelated job postings. </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With its modular and scalable design, the system can be extended with additional features such as feedback loops, user behavior tracking, and integration with advanced machine learning algorithms, paving the way for an intelligent and adaptive job matching platform.</a:t>
            </a:r>
          </a:p>
          <a:p>
            <a:pPr marL="469900" marR="13970" indent="-457834">
              <a:lnSpc>
                <a:spcPct val="100000"/>
              </a:lnSpc>
              <a:spcBef>
                <a:spcPts val="100"/>
              </a:spcBef>
              <a:buFont typeface="Arial" panose="020B0604020202020204" pitchFamily="34" charset="0"/>
              <a:buChar char="•"/>
              <a:tabLst>
                <a:tab pos="469900" algn="l"/>
                <a:tab pos="470534" algn="l"/>
              </a:tabLst>
            </a:pPr>
            <a:endParaRPr 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307049" y="443845"/>
            <a:ext cx="7334995" cy="566822"/>
          </a:xfrm>
          <a:prstGeom prst="rect">
            <a:avLst/>
          </a:prstGeom>
        </p:spPr>
        <p:txBody>
          <a:bodyPr vert="horz" wrap="square" lIns="0" tIns="12700" rIns="0" bIns="0" rtlCol="0">
            <a:spAutoFit/>
          </a:bodyPr>
          <a:lstStyle/>
          <a:p>
            <a:pPr marL="12700">
              <a:lnSpc>
                <a:spcPct val="100000"/>
              </a:lnSpc>
              <a:spcBef>
                <a:spcPts val="100"/>
              </a:spcBef>
            </a:pPr>
            <a:r>
              <a:rPr dirty="0">
                <a:latin typeface="Times New Roman" panose="02020603050405020304" pitchFamily="18" charset="0"/>
                <a:cs typeface="Times New Roman" panose="02020603050405020304" pitchFamily="18" charset="0"/>
              </a:rPr>
              <a:t>6.</a:t>
            </a:r>
            <a:r>
              <a:rPr spc="-110" dirty="0">
                <a:latin typeface="Times New Roman" panose="02020603050405020304" pitchFamily="18" charset="0"/>
                <a:cs typeface="Times New Roman" panose="02020603050405020304" pitchFamily="18" charset="0"/>
              </a:rPr>
              <a:t> </a:t>
            </a:r>
            <a:r>
              <a:rPr spc="-35" dirty="0">
                <a:latin typeface="Times New Roman" panose="02020603050405020304" pitchFamily="18" charset="0"/>
                <a:cs typeface="Times New Roman" panose="02020603050405020304" pitchFamily="18" charset="0"/>
              </a:rPr>
              <a:t>Technology</a:t>
            </a:r>
            <a:r>
              <a:rPr spc="-4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Stack</a:t>
            </a:r>
          </a:p>
        </p:txBody>
      </p:sp>
      <p:sp>
        <p:nvSpPr>
          <p:cNvPr id="5" name="object 5"/>
          <p:cNvSpPr txBox="1"/>
          <p:nvPr/>
        </p:nvSpPr>
        <p:spPr>
          <a:xfrm>
            <a:off x="307049" y="1280417"/>
            <a:ext cx="2280809" cy="382797"/>
          </a:xfrm>
          <a:prstGeom prst="rect">
            <a:avLst/>
          </a:prstGeom>
        </p:spPr>
        <p:txBody>
          <a:bodyPr vert="horz" wrap="square" lIns="0" tIns="13335" rIns="0" bIns="0" rtlCol="0">
            <a:spAutoFit/>
          </a:bodyPr>
          <a:lstStyle/>
          <a:p>
            <a:pPr marL="12700">
              <a:lnSpc>
                <a:spcPct val="100000"/>
              </a:lnSpc>
              <a:spcBef>
                <a:spcPts val="105"/>
              </a:spcBef>
            </a:pPr>
            <a:r>
              <a:rPr sz="2400" b="1" dirty="0">
                <a:latin typeface="Times New Roman" panose="02020603050405020304" pitchFamily="18" charset="0"/>
                <a:cs typeface="Times New Roman" panose="02020603050405020304" pitchFamily="18" charset="0"/>
              </a:rPr>
              <a:t>Algorithms</a:t>
            </a:r>
            <a:r>
              <a:rPr sz="2400" b="1" spc="-60" dirty="0">
                <a:latin typeface="Times New Roman" panose="02020603050405020304" pitchFamily="18" charset="0"/>
                <a:cs typeface="Times New Roman" panose="02020603050405020304" pitchFamily="18" charset="0"/>
              </a:rPr>
              <a:t> </a:t>
            </a:r>
            <a:r>
              <a:rPr sz="2400" b="1" dirty="0">
                <a:latin typeface="Times New Roman" panose="02020603050405020304" pitchFamily="18" charset="0"/>
                <a:cs typeface="Times New Roman" panose="02020603050405020304" pitchFamily="18" charset="0"/>
              </a:rPr>
              <a:t>Used</a:t>
            </a:r>
            <a:endParaRPr sz="2400" dirty="0">
              <a:latin typeface="Times New Roman" panose="02020603050405020304" pitchFamily="18" charset="0"/>
              <a:cs typeface="Times New Roman" panose="02020603050405020304" pitchFamily="18" charset="0"/>
            </a:endParaRPr>
          </a:p>
        </p:txBody>
      </p:sp>
      <p:sp>
        <p:nvSpPr>
          <p:cNvPr id="6" name="object 6"/>
          <p:cNvSpPr txBox="1"/>
          <p:nvPr/>
        </p:nvSpPr>
        <p:spPr>
          <a:xfrm>
            <a:off x="307049" y="1647825"/>
            <a:ext cx="9469702" cy="2293577"/>
          </a:xfrm>
          <a:prstGeom prst="rect">
            <a:avLst/>
          </a:prstGeom>
          <a:ln>
            <a:solidFill>
              <a:schemeClr val="tx1"/>
            </a:solidFill>
          </a:ln>
        </p:spPr>
        <p:txBody>
          <a:bodyPr vert="horz" wrap="square" lIns="0" tIns="13335" rIns="0" bIns="0" rtlCol="0">
            <a:spAutoFit/>
          </a:bodyPr>
          <a:lstStyle/>
          <a:p>
            <a:pPr marL="299085" marR="866775" indent="-287020">
              <a:lnSpc>
                <a:spcPct val="100000"/>
              </a:lnSpc>
              <a:spcBef>
                <a:spcPts val="105"/>
              </a:spcBef>
              <a:buFont typeface="Arial MT"/>
              <a:buChar char="•"/>
              <a:tabLst>
                <a:tab pos="299085" algn="l"/>
                <a:tab pos="299720" algn="l"/>
              </a:tabLst>
            </a:pPr>
            <a:r>
              <a:rPr lang="en-US" sz="2400" b="1" dirty="0">
                <a:latin typeface="Times New Roman" panose="02020603050405020304" pitchFamily="18" charset="0"/>
                <a:cs typeface="Times New Roman" panose="02020603050405020304" pitchFamily="18" charset="0"/>
              </a:rPr>
              <a:t>Language</a:t>
            </a:r>
            <a:r>
              <a:rPr lang="en-US" sz="2400" dirty="0">
                <a:latin typeface="Times New Roman" panose="02020603050405020304" pitchFamily="18" charset="0"/>
                <a:cs typeface="Times New Roman" panose="02020603050405020304" pitchFamily="18" charset="0"/>
              </a:rPr>
              <a:t>: Python</a:t>
            </a:r>
          </a:p>
          <a:p>
            <a:pPr marL="299085" marR="866775" indent="-287020">
              <a:spcBef>
                <a:spcPts val="105"/>
              </a:spcBef>
              <a:buFont typeface="Arial MT"/>
              <a:buChar char="•"/>
              <a:tabLst>
                <a:tab pos="299085" algn="l"/>
                <a:tab pos="299720" algn="l"/>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Libraries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scikit-learn, </a:t>
            </a:r>
            <a:r>
              <a:rPr kumimoji="0" lang="en-US" altLang="en-US"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BeautifulSoup</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Pandas, NumPy </a:t>
            </a:r>
          </a:p>
          <a:p>
            <a:pPr marL="299085" marR="866775" indent="-287020">
              <a:lnSpc>
                <a:spcPct val="100000"/>
              </a:lnSpc>
              <a:spcBef>
                <a:spcPts val="105"/>
              </a:spcBef>
              <a:buFont typeface="Arial MT"/>
              <a:buChar char="•"/>
              <a:tabLst>
                <a:tab pos="299085" algn="l"/>
                <a:tab pos="299720" algn="l"/>
              </a:tabLst>
            </a:pPr>
            <a:r>
              <a:rPr lang="en-US" sz="2400" b="1" dirty="0">
                <a:latin typeface="Times New Roman" panose="02020603050405020304" pitchFamily="18" charset="0"/>
                <a:cs typeface="Times New Roman" panose="02020603050405020304" pitchFamily="18" charset="0"/>
              </a:rPr>
              <a:t>NLP Tools</a:t>
            </a:r>
            <a:r>
              <a:rPr lang="en-US" sz="2400" dirty="0">
                <a:latin typeface="Times New Roman" panose="02020603050405020304" pitchFamily="18" charset="0"/>
                <a:cs typeface="Times New Roman" panose="02020603050405020304" pitchFamily="18" charset="0"/>
              </a:rPr>
              <a:t>: TF-IDF Vectorizer, Cosine Similarity</a:t>
            </a:r>
          </a:p>
          <a:p>
            <a:pPr marL="299085" marR="866775" indent="-287020">
              <a:lnSpc>
                <a:spcPct val="100000"/>
              </a:lnSpc>
              <a:spcBef>
                <a:spcPts val="105"/>
              </a:spcBef>
              <a:buFont typeface="Arial MT"/>
              <a:buChar char="•"/>
              <a:tabLst>
                <a:tab pos="299085" algn="l"/>
                <a:tab pos="299720" algn="l"/>
              </a:tabLst>
            </a:pPr>
            <a:r>
              <a:rPr lang="en-US" sz="2400" b="1" dirty="0">
                <a:latin typeface="Times New Roman" panose="02020603050405020304" pitchFamily="18" charset="0"/>
                <a:cs typeface="Times New Roman" panose="02020603050405020304" pitchFamily="18" charset="0"/>
              </a:rPr>
              <a:t>Web Scraping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BeautifulSoup</a:t>
            </a:r>
            <a:r>
              <a:rPr lang="en-US" sz="2400" dirty="0">
                <a:latin typeface="Times New Roman" panose="02020603050405020304" pitchFamily="18" charset="0"/>
                <a:cs typeface="Times New Roman" panose="02020603050405020304" pitchFamily="18" charset="0"/>
              </a:rPr>
              <a:t> / Scrapy</a:t>
            </a:r>
          </a:p>
          <a:p>
            <a:pPr marL="299085" marR="866775" indent="-287020">
              <a:lnSpc>
                <a:spcPct val="100000"/>
              </a:lnSpc>
              <a:spcBef>
                <a:spcPts val="105"/>
              </a:spcBef>
              <a:buFont typeface="Arial MT"/>
              <a:buChar char="•"/>
              <a:tabLst>
                <a:tab pos="299085" algn="l"/>
                <a:tab pos="299720" algn="l"/>
              </a:tabLst>
            </a:pPr>
            <a:r>
              <a:rPr lang="en-US" sz="2400" b="1" dirty="0">
                <a:latin typeface="Times New Roman" panose="02020603050405020304" pitchFamily="18" charset="0"/>
                <a:cs typeface="Times New Roman" panose="02020603050405020304" pitchFamily="18" charset="0"/>
              </a:rPr>
              <a:t>Frontend </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Streamlit</a:t>
            </a:r>
            <a:r>
              <a:rPr lang="en-US" sz="2400" dirty="0">
                <a:latin typeface="Times New Roman" panose="02020603050405020304" pitchFamily="18" charset="0"/>
                <a:cs typeface="Times New Roman" panose="02020603050405020304" pitchFamily="18" charset="0"/>
              </a:rPr>
              <a:t> / Flask / Web-based UI</a:t>
            </a:r>
          </a:p>
          <a:p>
            <a:pPr marL="299085" marR="866775" indent="-287020">
              <a:lnSpc>
                <a:spcPct val="100000"/>
              </a:lnSpc>
              <a:spcBef>
                <a:spcPts val="105"/>
              </a:spcBef>
              <a:buFont typeface="Arial MT"/>
              <a:buChar char="•"/>
              <a:tabLst>
                <a:tab pos="299085" algn="l"/>
                <a:tab pos="299720" algn="l"/>
              </a:tabLst>
            </a:pPr>
            <a:r>
              <a:rPr lang="fr-FR" sz="2400" b="1" dirty="0" err="1">
                <a:latin typeface="Times New Roman" panose="02020603050405020304" pitchFamily="18" charset="0"/>
                <a:cs typeface="Times New Roman" panose="02020603050405020304" pitchFamily="18" charset="0"/>
              </a:rPr>
              <a:t>Environment</a:t>
            </a:r>
            <a:r>
              <a:rPr lang="fr-FR" sz="2400" dirty="0">
                <a:latin typeface="Times New Roman" panose="02020603050405020304" pitchFamily="18" charset="0"/>
                <a:cs typeface="Times New Roman" panose="02020603050405020304" pitchFamily="18" charset="0"/>
              </a:rPr>
              <a:t>: </a:t>
            </a:r>
            <a:r>
              <a:rPr lang="fr-FR" sz="2400" dirty="0" err="1">
                <a:latin typeface="Times New Roman" panose="02020603050405020304" pitchFamily="18" charset="0"/>
                <a:cs typeface="Times New Roman" panose="02020603050405020304" pitchFamily="18" charset="0"/>
              </a:rPr>
              <a:t>Jupyter</a:t>
            </a:r>
            <a:r>
              <a:rPr lang="fr-FR" sz="2400" dirty="0">
                <a:latin typeface="Times New Roman" panose="02020603050405020304" pitchFamily="18" charset="0"/>
                <a:cs typeface="Times New Roman" panose="02020603050405020304" pitchFamily="18" charset="0"/>
              </a:rPr>
              <a:t> Notebook / VS Code</a:t>
            </a:r>
            <a:endParaRPr sz="24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F2D79914-4D4E-590F-027F-3D9087F835FE}"/>
              </a:ext>
            </a:extLst>
          </p:cNvPr>
          <p:cNvSpPr txBox="1"/>
          <p:nvPr/>
        </p:nvSpPr>
        <p:spPr>
          <a:xfrm>
            <a:off x="307049" y="4954447"/>
            <a:ext cx="2327977" cy="1200329"/>
          </a:xfrm>
          <a:prstGeom prst="rect">
            <a:avLst/>
          </a:prstGeom>
          <a:noFill/>
          <a:ln>
            <a:solidFill>
              <a:schemeClr val="tx1"/>
            </a:solidFill>
          </a:ln>
        </p:spPr>
        <p:txBody>
          <a:bodyPr wrap="square">
            <a:spAutoFit/>
          </a:bodyPr>
          <a:lstStyle/>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OpenCV</a:t>
            </a:r>
          </a:p>
          <a:p>
            <a:pPr marL="342900" indent="-342900">
              <a:buFont typeface="Arial" panose="020B0604020202020204" pitchFamily="34" charset="0"/>
              <a:buChar char="•"/>
            </a:pPr>
            <a:r>
              <a:rPr lang="en-IN" sz="2400" dirty="0" err="1">
                <a:latin typeface="Times New Roman" panose="02020603050405020304" pitchFamily="18" charset="0"/>
                <a:cs typeface="Times New Roman" panose="02020603050405020304" pitchFamily="18" charset="0"/>
              </a:rPr>
              <a:t>Servelit</a:t>
            </a:r>
            <a:endParaRPr lang="en-IN"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MySQL</a:t>
            </a:r>
          </a:p>
        </p:txBody>
      </p:sp>
      <p:sp>
        <p:nvSpPr>
          <p:cNvPr id="9" name="TextBox 8">
            <a:extLst>
              <a:ext uri="{FF2B5EF4-FFF2-40B4-BE49-F238E27FC236}">
                <a16:creationId xmlns:a16="http://schemas.microsoft.com/office/drawing/2014/main" id="{F5FC3892-78F6-920A-C62A-93188A483938}"/>
              </a:ext>
            </a:extLst>
          </p:cNvPr>
          <p:cNvSpPr txBox="1"/>
          <p:nvPr/>
        </p:nvSpPr>
        <p:spPr>
          <a:xfrm>
            <a:off x="670937" y="4412288"/>
            <a:ext cx="1600200" cy="461665"/>
          </a:xfrm>
          <a:prstGeom prst="rect">
            <a:avLst/>
          </a:prstGeom>
          <a:noFill/>
        </p:spPr>
        <p:txBody>
          <a:bodyPr wrap="square">
            <a:spAutoFit/>
          </a:bodyPr>
          <a:lstStyle/>
          <a:p>
            <a:r>
              <a:rPr lang="en-IN" sz="2400" b="1" dirty="0" err="1">
                <a:latin typeface="Times New Roman" panose="02020603050405020304" pitchFamily="18" charset="0"/>
                <a:cs typeface="Times New Roman" panose="02020603050405020304" pitchFamily="18" charset="0"/>
              </a:rPr>
              <a:t>BackEnd</a:t>
            </a:r>
            <a:r>
              <a:rPr lang="en-IN" sz="2400" b="1" dirty="0">
                <a:latin typeface="Times New Roman" panose="02020603050405020304" pitchFamily="18" charset="0"/>
                <a:cs typeface="Times New Roman" panose="02020603050405020304" pitchFamily="18" charset="0"/>
              </a:rPr>
              <a:t>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99815" y="432609"/>
            <a:ext cx="3423777" cy="447718"/>
          </a:xfrm>
          <a:prstGeom prst="rect">
            <a:avLst/>
          </a:prstGeom>
        </p:spPr>
      </p:pic>
      <p:sp>
        <p:nvSpPr>
          <p:cNvPr id="3" name="object 3"/>
          <p:cNvSpPr txBox="1">
            <a:spLocks noGrp="1"/>
          </p:cNvSpPr>
          <p:nvPr>
            <p:ph type="title"/>
          </p:nvPr>
        </p:nvSpPr>
        <p:spPr>
          <a:xfrm>
            <a:off x="474065" y="276859"/>
            <a:ext cx="3441700" cy="574040"/>
          </a:xfrm>
          <a:prstGeom prst="rect">
            <a:avLst/>
          </a:prstGeom>
        </p:spPr>
        <p:txBody>
          <a:bodyPr vert="horz" wrap="square" lIns="0" tIns="12700" rIns="0" bIns="0" rtlCol="0">
            <a:spAutoFit/>
          </a:bodyPr>
          <a:lstStyle/>
          <a:p>
            <a:pPr marL="12700">
              <a:lnSpc>
                <a:spcPct val="100000"/>
              </a:lnSpc>
              <a:spcBef>
                <a:spcPts val="100"/>
              </a:spcBef>
            </a:pPr>
            <a:r>
              <a:rPr dirty="0"/>
              <a:t>7.</a:t>
            </a:r>
            <a:r>
              <a:rPr spc="-50" dirty="0"/>
              <a:t> </a:t>
            </a:r>
            <a:r>
              <a:rPr dirty="0"/>
              <a:t>Block</a:t>
            </a:r>
            <a:r>
              <a:rPr spc="-50" dirty="0"/>
              <a:t> </a:t>
            </a:r>
            <a:r>
              <a:rPr dirty="0"/>
              <a:t>Diagram</a:t>
            </a:r>
          </a:p>
        </p:txBody>
      </p:sp>
      <p:pic>
        <p:nvPicPr>
          <p:cNvPr id="5" name="Picture 4">
            <a:extLst>
              <a:ext uri="{FF2B5EF4-FFF2-40B4-BE49-F238E27FC236}">
                <a16:creationId xmlns:a16="http://schemas.microsoft.com/office/drawing/2014/main" id="{442BDF58-8EDE-4FC2-A9EF-17E6D19D4B7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93900" y="1114425"/>
            <a:ext cx="6096000" cy="579334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42130" y="3384042"/>
            <a:ext cx="2681605" cy="574040"/>
          </a:xfrm>
          <a:prstGeom prst="rect">
            <a:avLst/>
          </a:prstGeom>
        </p:spPr>
        <p:txBody>
          <a:bodyPr vert="horz" wrap="square" lIns="0" tIns="12700" rIns="0" bIns="0" rtlCol="0">
            <a:spAutoFit/>
          </a:bodyPr>
          <a:lstStyle/>
          <a:p>
            <a:pPr marL="12700">
              <a:lnSpc>
                <a:spcPct val="100000"/>
              </a:lnSpc>
              <a:spcBef>
                <a:spcPts val="100"/>
              </a:spcBef>
            </a:pPr>
            <a:r>
              <a:rPr b="0" dirty="0">
                <a:latin typeface="Times New Roman"/>
                <a:cs typeface="Times New Roman"/>
              </a:rPr>
              <a:t>Thank</a:t>
            </a:r>
            <a:r>
              <a:rPr b="0" spc="-195" dirty="0">
                <a:latin typeface="Times New Roman"/>
                <a:cs typeface="Times New Roman"/>
              </a:rPr>
              <a:t> </a:t>
            </a:r>
            <a:r>
              <a:rPr b="0" spc="-50" dirty="0">
                <a:latin typeface="Times New Roman"/>
                <a:cs typeface="Times New Roman"/>
              </a:rPr>
              <a:t>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241</TotalTime>
  <Words>523</Words>
  <Application>Microsoft Office PowerPoint</Application>
  <PresentationFormat>Custom</PresentationFormat>
  <Paragraphs>47</Paragraphs>
  <Slides>9</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Arial MT</vt:lpstr>
      <vt:lpstr>Calibri</vt:lpstr>
      <vt:lpstr>Times New Roman</vt:lpstr>
      <vt:lpstr>Office Theme</vt:lpstr>
      <vt:lpstr>Job Recommendation System </vt:lpstr>
      <vt:lpstr>1. Introduction</vt:lpstr>
      <vt:lpstr>2. Objectives</vt:lpstr>
      <vt:lpstr>3. Scope</vt:lpstr>
      <vt:lpstr>4. Feature /Functionality</vt:lpstr>
      <vt:lpstr>5. Outcome of Project</vt:lpstr>
      <vt:lpstr>6. Technology Stack</vt:lpstr>
      <vt:lpstr>7. Block Diagram</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v b</dc:creator>
  <cp:lastModifiedBy>shivraj mulik</cp:lastModifiedBy>
  <cp:revision>12</cp:revision>
  <dcterms:created xsi:type="dcterms:W3CDTF">2023-10-25T06:45:06Z</dcterms:created>
  <dcterms:modified xsi:type="dcterms:W3CDTF">2025-04-08T19:53:20Z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2023-09-13T00:00:00Z</vt:filetime>
  </property>
  <property fmtid="{D5CDD505-2E9C-101B-9397-08002B2CF9AE}" pid="3" name="Creator">
    <vt:lpwstr>Microsoft® PowerPoint® LTSC</vt:lpwstr>
  </property>
  <property fmtid="{D5CDD505-2E9C-101B-9397-08002B2CF9AE}" pid="4" name="LastSaved">
    <vt:filetime>2023-10-25T00:00:00Z</vt:filetime>
  </property>
</Properties>
</file>